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0:00–0:20</a:t>
            </a:r>
          </a:p>
          <a:p>
            <a:r>
              <a:t>Thao tác: Hiện sẵn, không bấm.</a:t>
            </a:r>
          </a:p>
          <a:p>
            <a:r>
              <a:t>(Trang này: không có hiệu ứng)</a:t>
            </a:r>
          </a:p>
          <a:p/>
          <a:p>
            <a:r>
              <a:t>Em chào thầy/cô và các bạn. Nhóm em là nhóm 2. Hôm nay nhóm em trình bày mục III của chương 4: Dân chủ xã hội chủ nghĩa và Nhà nước pháp quyền xã hội chủ nghĩa ở Việt Nam.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0:20–1:10</a:t>
            </a:r>
          </a:p>
          <a:p>
            <a:r>
              <a:t>Thao tác: Hiện sẵn, không bấm.</a:t>
            </a:r>
          </a:p>
          <a:p>
            <a:r>
              <a:t>(Trang này: không có hiệu ứng)</a:t>
            </a:r>
          </a:p>
          <a:p/>
          <a:p>
            <a:r>
              <a:t>Bài của nhóm em có ba phần. Phần một là dân chủ xã hội chủ nghĩa ở Việt Nam: nó hình thành, phát triển ra sao và bản chất của nó là gì.</a:t>
            </a:r>
          </a:p>
          <a:p>
            <a:r>
              <a:t>Phần hai nói về Nhà nước pháp quyền xã hội chủ nghĩa: hiểu nó thế nào và nó có những đặc điểm gì. Phần ba là những việc cần làm hiện nay để phát huy dân chủ và hoàn thiện Nhà nước pháp quyền.</a:t>
            </a:r>
          </a:p>
          <a:p>
            <a:r>
              <a:t>Cuối cùng nhóm em tóm lại cả bài trên một slide, rồi mời thầy/cô và các bạn đặt câu hỏi. Giữa chừng nhóm em có vài chỗ hỏi nhanh, các bạn cứ trả lời thoải mái nhé.</a:t>
            </a:r>
          </a:p>
          <a:p/>
          <a:p>
            <a:r>
              <a:t>Chuyển ý: Em bắt đầu bằng một chi tiết nhỏ mà nhóm em thấy khá thú vị.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1:10–2:00</a:t>
            </a:r>
          </a:p>
          <a:p>
            <a:r>
              <a:t>Thao tác: 4 lần bấm: 1945 → 1976 → văn kiện chưa dùng cụm từ → câu hỏi hiện ra ở ô giữa.</a:t>
            </a:r>
          </a:p>
          <a:p>
            <a:r>
              <a:t>(Trang này: 4 lần bấm)</a:t>
            </a:r>
          </a:p>
          <a:p/>
          <a:p>
            <a:r>
              <a:t>(bấm) Sau Cách mạng Tháng Tám năm 1945, nước ta xác lập chế độ dân chủ nhân dân. (bấm) Năm 1976, tên nước đổi thành Cộng hòa xã hội chủ nghĩa Việt Nam. (bấm) Vậy mà trong các văn kiện của Đảng thời đó, cụm từ “dân chủ xã hội chủ nghĩa” gần như chưa xuất hiện.</a:t>
            </a:r>
          </a:p>
          <a:p>
            <a:r>
              <a:t>Nghe hơi lạ đúng không ạ? Tên nước đã có chữ “xã hội chủ nghĩa” rồi, nhưng dân chủ thì chưa được gọi là “dân chủ xã hội chủ nghĩa”.</a:t>
            </a:r>
          </a:p>
          <a:p>
            <a:r>
              <a:t>(bấm) Vậy cụm từ này được xác định ra sao, và từ lúc nào? Các bạn giữ câu hỏi này giúp nhóm em, cuối bài mình sẽ quay lại.</a:t>
            </a:r>
          </a:p>
          <a:p/>
          <a:p>
            <a:r>
              <a:t>Chuyển ý: Muốn trả lời thì phải lùi về giai đoạn trước Đổi mới.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2:00–3:15</a:t>
            </a:r>
          </a:p>
          <a:p>
            <a:r>
              <a:t>Thao tác: 6 lần bấm: cách gọi cũ → ba ô “chưa” lần lượt → câu hỏi “Ba ý có chung chữ nào?” → kết luận ở giữa.</a:t>
            </a:r>
          </a:p>
          <a:p>
            <a:r>
              <a:t>(Trang này: 6 lần bấm)</a:t>
            </a:r>
          </a:p>
          <a:p/>
          <a:p>
            <a:r>
              <a:t>(bấm) Thời đó, thay vì nói “dân chủ xã hội chủ nghĩa”, văn kiện dùng cách nói “xây dựng chế độ làm chủ tập thể xã hội chủ nghĩa”, đi kèm với “nắm vững chuyên chính vô sản”.</a:t>
            </a:r>
          </a:p>
          <a:p>
            <a:r>
              <a:t>Nhưng có mấy chuyện lúc đó vẫn còn bỏ ngỏ. (bấm) Bản chất của dân chủ xã hội chủ nghĩa là gì, nó liên quan thế nào tới nhà nước pháp quyền — chưa được xác định rõ. (bấm) Làm dân chủ sao cho hợp với điều kiện kinh tế, văn hóa, đạo đức của Việt Nam, gắn với pháp luật, kỷ cương — cũng chưa được đặt ra cụ thể. (bấm) Còn những thứ rất gần với dân chủ như dân sinh, dân trí, dân quyền thì chưa được đặt đúng chỗ.</a:t>
            </a:r>
          </a:p>
          <a:p>
            <a:r>
              <a:t>(bấm) Các bạn thấy ba ý này có chữ nào lặp lại không? … Đúng rồi, chữ “chưa”.</a:t>
            </a:r>
          </a:p>
          <a:p>
            <a:r>
              <a:t>(bấm) Tức là dân chủ thì đã có từ năm 1945, nhưng hiểu dân chủ xã hội chủ nghĩa là gì thì lúc đó chưa rõ. Riêng chữ “dân trí”, các bạn nhớ giúp em, sang phần ba nó sẽ quay lại.</a:t>
            </a:r>
          </a:p>
          <a:p/>
          <a:p>
            <a:r>
              <a:t>Chuyển ý: Bước ngoặt đến vào năm 1986.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3:15–4:30</a:t>
            </a:r>
          </a:p>
          <a:p>
            <a:r>
              <a:t>Thao tác: 6 lần bấm: đường lối đổi mới → phát huy dân chủ → câu “lấy dân làm gốc” → bài học và câu trích → ô so với trước Đổi mới + câu hỏi → kết luận ở giữa.</a:t>
            </a:r>
          </a:p>
          <a:p>
            <a:r>
              <a:t>(Trang này: 6 lần bấm)</a:t>
            </a:r>
          </a:p>
          <a:p/>
          <a:p>
            <a:r>
              <a:t>(bấm) Đại hội VI năm 1986 đề ra đường lối đổi mới toàn diện. (bấm) Trong đó có một ý rất quan trọng: phát huy dân chủ để tạo ra động lực mạnh mẽ cho đất nước phát triển.</a:t>
            </a:r>
          </a:p>
          <a:p>
            <a:r>
              <a:t>(bấm) Đại hội nói rõ: trong toàn bộ hoạt động của mình, Đảng phải quán triệt tư tưởng “lấy dân làm gốc”, xây dựng và phát huy quyền làm chủ của nhân dân lao động.</a:t>
            </a:r>
          </a:p>
          <a:p>
            <a:r>
              <a:t>(bấm) Đại hội cũng nhắc lại một bài học không bao giờ cũ: cách mạng là sự nghiệp của quần chúng. Thực tiễn cho thấy: “ở đâu, nhân dân lao động có ý thức làm chủ và được làm chủ thật sự, thì ở đấy xuất hiện phong trào cách mạng”.</a:t>
            </a:r>
          </a:p>
          <a:p>
            <a:r>
              <a:t>(bấm) Ở slide trước, vị trí của dân chủ còn chưa rõ. Đến đây thì dân chủ đã được gọi bằng một cái tên cụ thể. Các bạn thấy là gì không ạ?</a:t>
            </a:r>
          </a:p>
          <a:p>
            <a:r>
              <a:t>(bấm) Là động lực. Và đi cùng với nó là bốn chữ “lấy dân làm gốc” — bốn chữ này cuối bài nhóm em sẽ nhắc lại.</a:t>
            </a:r>
          </a:p>
          <a:p/>
          <a:p>
            <a:r>
              <a:t>Chuyển ý: Từ Đại hội VI, qua mỗi kỳ đại hội sau, cách hiểu về dân chủ càng rõ hơn.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4:30–5:45</a:t>
            </a:r>
          </a:p>
          <a:p>
            <a:r>
              <a:t>Thao tác: 7 lần bấm: năm ô từ trái sang phải → ô “Trước Đổi mới” → kết luận bên dưới.</a:t>
            </a:r>
          </a:p>
          <a:p>
            <a:r>
              <a:t>(Trang này: 7 lần bấm)</a:t>
            </a:r>
          </a:p>
          <a:p/>
          <a:p>
            <a:r>
              <a:t>Giáo trình viết năm 2021 nên tính là ba mươi lăm năm đổi mới; tính đến nay là bốn mươi năm. Trong khoảng thời gian đó, Đảng khẳng định mấy điều.</a:t>
            </a:r>
          </a:p>
          <a:p>
            <a:r>
              <a:t>(bấm) Thứ nhất, một trong những đặc trưng của chủ nghĩa xã hội Việt Nam là do nhân dân làm chủ. (bấm) Thứ hai, dân chủ được đưa vào mục tiêu chung: dân giàu, nước mạnh, dân chủ, công bằng, văn minh — câu này chắc các bạn nghe từ hồi cấp một. (bấm) Thứ ba, và đây là ý nặng ký nhất: “Dân chủ xã hội chủ nghĩa là bản chất của chế độ ta, vừa là mục tiêu, vừa là động lực của sự phát triển đất nước”.</a:t>
            </a:r>
          </a:p>
          <a:p>
            <a:r>
              <a:t>(bấm) Dân chủ đó phải được làm thật trong cuộc sống, ở mỗi cấp, trên tất cả các lĩnh vực, (bấm) và phải gắn với kỷ luật, kỷ cương, được thể chế hóa bằng pháp luật, được pháp luật bảo đảm.</a:t>
            </a:r>
          </a:p>
          <a:p>
            <a:r>
              <a:t>(bấm) Đặt cạnh giai đoạn trước Đổi mới thì thấy rõ: trước kia bản chất “chưa xác định”, nay đã gọi tên là bản chất của chế độ. Trước kia “chưa gắn với pháp luật”, nay bắt buộc phải gắn.</a:t>
            </a:r>
          </a:p>
          <a:p>
            <a:r>
              <a:t>(bấm) Nói gọn lại, qua mỗi kỳ đại hội, dân chủ được hiểu đúng hơn, đầy đủ hơn và hợp với điều kiện nước mình hơn.</a:t>
            </a:r>
          </a:p>
          <a:p/>
          <a:p>
            <a:r>
              <a:t>Chuyển ý: Vậy cụ thể bản chất ấy là gì?</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5:45–7:30</a:t>
            </a:r>
          </a:p>
          <a:p>
            <a:r>
              <a:t>Thao tác: Trang 1: bảy câu có chỗ trống và câu hỏi “Chữ còn thiếu là gì?” hiện sẵn; dừng cho lớp trả lời. Trang 2 (2 lần bấm): sang trang là chữ “dân” đã điền sẵn → kết luận ở giữa → hai ô bổ sung.</a:t>
            </a:r>
          </a:p>
          <a:p>
            <a:r>
              <a:t>(Trang này: không có hiệu ứng)</a:t>
            </a:r>
          </a:p>
          <a:p/>
          <a:p>
            <a:r>
              <a:t>Để hiểu bản chất của nền dân chủ này, nhóm em mượn một đoạn rất ngắn của Bác Hồ. Em đã che chữ cuối của mỗi câu. Em đọc, các bạn đoán giúp em chữ còn thiếu nhé.</a:t>
            </a:r>
          </a:p>
          <a:p>
            <a:r>
              <a:t>“Bao nhiêu lợi ích đều vì…?” (để lớp trả lời) “Bao nhiêu quyền hạn đều của…?” (đọc tiếp đến hết bảy câu, mỗi câu dừng một nhịp cho lớp nói)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5:45–7:30</a:t>
            </a:r>
          </a:p>
          <a:p>
            <a:r>
              <a:t>Thao tác: Trang 1: bảy câu có chỗ trống và câu hỏi “Chữ còn thiếu là gì?” hiện sẵn; dừng cho lớp trả lời. Trang 2 (2 lần bấm): sang trang là chữ “dân” đã điền sẵn → kết luận ở giữa → hai ô bổ sung.</a:t>
            </a:r>
          </a:p>
          <a:p>
            <a:r>
              <a:t>(Trang này: 2 lần bấm)</a:t>
            </a:r>
          </a:p>
          <a:p/>
          <a:p>
            <a:r>
              <a:t>(sang trang) Bảy câu, bảy chữ “dân”. Lợi ích, quyền hạn, trách nhiệm, chính quyền, đoàn thể… cuối cùng đều quy về dân. Bác tóm lại bằng một câu: “quyền hành và lực lượng đều ở nơi dân”.</a:t>
            </a:r>
          </a:p>
          <a:p>
            <a:r>
              <a:t>(bấm) Đó chính là bản chất của dân chủ xã hội chủ nghĩa ở Việt Nam: tất cả quyền lực đều thuộc về nhân dân — dân là gốc, là chủ, dân làm chủ.</a:t>
            </a:r>
          </a:p>
          <a:p>
            <a:r>
              <a:t>(bấm) Thêm hai ý. Nền dân chủ này dựa vào Nhà nước xã hội chủ nghĩa và sự ủng hộ, giúp đỡ của nhân dân. Và mỗi người tham gia vào đó với tư cách công dân, tức là với tư cách người làm chủ, chứ không phải người đứng ngoài.</a:t>
            </a:r>
          </a:p>
          <a:p/>
          <a:p>
            <a:r>
              <a:t>Chuyển ý: Từ tư tưởng của Bác, Đảng khái quát dân chủ thành bốn nội dung.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7:30–8:30</a:t>
            </a:r>
          </a:p>
          <a:p>
            <a:r>
              <a:t>Thao tác: 6 lần bấm: mục tiêu → bản chất → động lực → gắn với pháp luật → ô tổng hợp → kết luận ở giữa.</a:t>
            </a:r>
          </a:p>
          <a:p>
            <a:r>
              <a:t>(Trang này: 6 lần bấm)</a:t>
            </a:r>
          </a:p>
          <a:p/>
          <a:p>
            <a:r>
              <a:t>Mấy ý này lúc nãy mình đã nghe qua, ở đây nhóm em tách riêng ra cho dễ nhớ.</a:t>
            </a:r>
          </a:p>
          <a:p>
            <a:r>
              <a:t>(bấm) Dân chủ là mục tiêu — cái đích mình hướng tới: dân giàu, nước mạnh, dân chủ, công bằng, văn minh. (bấm) Dân chủ là bản chất — nhân dân làm chủ, quyền lực thuộc về nhân dân. (bấm) Dân chủ là động lực — vì khi người dân được làm chủ thật thì sức mạnh của cả dân tộc mới được phát huy. (bấm) Và dân chủ phải gắn với pháp luật, đi đôi với kỷ luật, kỷ cương. Dân chủ không có nghĩa là muốn làm gì thì làm.</a:t>
            </a:r>
          </a:p>
          <a:p>
            <a:r>
              <a:t>(bấm) Bốn ý này chính là những gì Đảng rút ra sau mấy chục năm đổi mới.</a:t>
            </a:r>
          </a:p>
          <a:p>
            <a:r>
              <a:t>(bấm) Từ đó có một yêu cầu: dân chủ phải được làm thật trong đời sống, ở tất cả các cấp và mọi lĩnh vực — kinh tế, chính trị, văn hóa, xã hội.</a:t>
            </a:r>
          </a:p>
          <a:p/>
          <a:p>
            <a:r>
              <a:t>Chuyển ý: Vậy trong thực tế, người dân làm chủ bằng cách nào? Mình chơi một chút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8:30–10:15</a:t>
            </a:r>
          </a:p>
          <a:p>
            <a:r>
              <a:t>Thao tác: Trang 1: sáu thẻ xáo trộn hiện sẵn; dừng 30–45 giây cho lớp chia nhóm. Trang 2 (4 lần bấm): thẻ tách về hai nhóm → ô quyền lực thống nhất → ô “bảy chữ dân” → kết luận ở giữa.</a:t>
            </a:r>
          </a:p>
          <a:p>
            <a:r>
              <a:t>(Trang này: không có hiệu ứng)</a:t>
            </a:r>
          </a:p>
          <a:p/>
          <a:p>
            <a:r>
              <a:t>Trên màn hình là sáu việc, em cố tình xáo lộn. Các bạn chia giúp em thành hai nhóm: việc người dân tự mình làm, và việc người dân giao cho người khác làm thay. (chờ khoảng 30 giây, mời 2–3 bạn trả lời)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8:30–10:15</a:t>
            </a:r>
          </a:p>
          <a:p>
            <a:r>
              <a:t>Thao tác: Trang 1: sáu thẻ xáo trộn hiện sẵn; dừng 30–45 giây cho lớp chia nhóm. Trang 2 (4 lần bấm): thẻ tách về hai nhóm → ô quyền lực thống nhất → ô “bảy chữ dân” → kết luận ở giữa.</a:t>
            </a:r>
          </a:p>
          <a:p>
            <a:r>
              <a:t>(Trang này: 4 lần bấm)</a:t>
            </a:r>
          </a:p>
          <a:p/>
          <a:p>
            <a:r>
              <a:t>(bấm) Đáp án đây. Bên trái là những việc dân giao quyền: mình đi bầu ra Quốc hội — cơ quan quyền lực nhà nước cao nhất, nhiệm kỳ 5 năm; mình “ủy quyền” cho người và tổ chức do mình bầu ra, để họ thay mặt mình thực hiện quyền làm chủ. Đó là dân chủ gián tiếp, hay dân chủ đại diện.</a:t>
            </a:r>
          </a:p>
          <a:p>
            <a:r>
              <a:t>Bên phải là những việc dân tự làm: được thông tin về hoạt động của nhà nước; được bàn bạc chuyện chung của nhà nước và của khu dân cư; được kiểm tra, giám sát cơ quan nhà nước từ trung ương xuống cơ sở. Ví dụ gần gũi nhất là những buổi họp tổ dân phố bàn chuyện làm đường, hay việc người dân góp ý vào dự thảo luật. Đó là dân chủ trực tiếp.</a:t>
            </a:r>
          </a:p>
          <a:p>
            <a:r>
              <a:t>(bấm) Ở hình thức gián tiếp có một ý các bạn lưu ý: quyền lực nhà nước là thống nhất, nhưng có phân công, phối hợp và kiểm soát giữa lập pháp, hành pháp, tư pháp. Sang phần hai ý này sẽ được nói kỹ hơn.</a:t>
            </a:r>
          </a:p>
          <a:p>
            <a:r>
              <a:t>(bấm) Dù theo hình thức nào thì cũng quay về bảy chữ “dân” lúc nãy: quyền lực thuộc về nhân dân.</a:t>
            </a:r>
          </a:p>
          <a:p>
            <a:r>
              <a:t>(bấm) Như vậy, bản chất dân chủ được thực hiện qua hai con đường này, và dân chủ dần trở thành quy chế, thành cách làm việc của mọi tổ chức trong xã hội.</a:t>
            </a:r>
          </a:p>
          <a:p/>
          <a:p>
            <a:r>
              <a:t>Chuyển ý: Còn nhìn vào thực tế xây dựng đất nước thì sao?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10:15–11:30</a:t>
            </a:r>
          </a:p>
          <a:p>
            <a:r>
              <a:t>Thao tác: 8 lần bấm: sáu ô lần lượt → câu hỏi “Chữ ‘quyền’ luôn đi cùng chữ gì?” → câu trích ở giữa.</a:t>
            </a:r>
          </a:p>
          <a:p>
            <a:r>
              <a:t>(Trang này: 8 lần bấm)</a:t>
            </a:r>
          </a:p>
          <a:p/>
          <a:p>
            <a:r>
              <a:t>(bấm) Trước hết có một yêu cầu tất yếu: phải liên tục củng cố những điều kiện để người dân thực sự làm chủ, và chăm lo cả đời sống vật chất lẫn tinh thần cho người dân. Nói đơn giản, người dân có cuộc sống ổn định, có hiểu biết thì mới làm chủ được.</a:t>
            </a:r>
          </a:p>
          <a:p>
            <a:r>
              <a:t>(bấm) Thực tế thì quyền làm chủ ngày càng được mở rộng và hoạt động có hiệu quả hơn. (bấm) Ý thức làm chủ, trách nhiệm công dân ngày càng được đề cao. (bấm) Mọi công dân đều có quyền tham gia quản lý xã hội, bằng nhiều cách khác nhau, tùy trách nhiệm và nghĩa vụ của mình. (bấm) Dân chủ của công dân gắn với kỷ cương, được thể chế hóa bằng luật.</a:t>
            </a:r>
          </a:p>
          <a:p>
            <a:r>
              <a:t>(bấm) Và phương châm quen thuộc: dân biết, dân bàn, dân làm, dân kiểm tra. Năm 2022, Quốc hội còn ban hành Luật Thực hiện dân chủ ở cơ sở để cụ thể hóa tinh thần này.</a:t>
            </a:r>
          </a:p>
          <a:p>
            <a:r>
              <a:t>(bấm) Các bạn để ý, chữ “quyền” ở đây hay đi với chữ gì? … Đi với “trách nhiệm”, “nghĩa vụ”, “kỷ cương”. Có quyền thì cũng có trách nhiệm.</a:t>
            </a:r>
          </a:p>
          <a:p>
            <a:r>
              <a:t>(bấm) Đảng tổng kết bằng một câu: “Mọi đường lối, chính sách của Đảng và pháp luật của Nhà nước đều vì lợi ích của nhân dân, có sự tham gia ý kiến của nhân dân”.</a:t>
            </a:r>
          </a:p>
          <a:p/>
          <a:p>
            <a:r>
              <a:t>Chuyển ý: Tuy vậy, con đường này không hề bằng phẳng.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11:30–12:30</a:t>
            </a:r>
          </a:p>
          <a:p>
            <a:r>
              <a:t>Thao tác: 7 lần bấm: ba ô bên trái → nhãn “Mặt khác” → hai ô bên phải → kết luận bên dưới.</a:t>
            </a:r>
          </a:p>
          <a:p>
            <a:r>
              <a:t>(Trang này: 7 lần bấm)</a:t>
            </a:r>
          </a:p>
          <a:p/>
          <a:p>
            <a:r>
              <a:t>Có hai nhóm khó khăn. Nhóm thứ nhất đến từ điều kiện của chính mình. (bấm) Mình xây dựng dân chủ khi xuất phát điểm là một nền kinh tế kém phát triển, (bấm) lại phải gánh hậu quả rất nặng nề của chiến tranh. (bấm) Thêm vào đó, những tiêu cực trong xã hội chưa được khắc phục triệt để, làm ảnh hưởng đến bản chất tốt đẹp của chế độ và làm suy giảm động lực phát triển.</a:t>
            </a:r>
          </a:p>
          <a:p>
            <a:r>
              <a:t>(bấm) Mặt khác, (bấm) có âm mưu “diễn biến hòa bình”, gây bạo loạn, lật đổ, lợi dụng chiêu bài “dân chủ”, “nhân quyền” của các thế lực thù địch; (bấm) và cả nguy cơ “tự diễn biến”, “tự chuyển hóa”, diễn biến hết sức phức tạp.</a:t>
            </a:r>
          </a:p>
          <a:p>
            <a:r>
              <a:t>(bấm) Tất cả những điều này đang là trở ngại cho việc thực hiện dân chủ ở nước ta hiện nay. Riêng khó khăn về kinh tế, các bạn nhớ giúp em — sang phần ba sẽ có giải pháp cho nó.</a:t>
            </a:r>
          </a:p>
          <a:p/>
          <a:p>
            <a:r>
              <a:t>Chuyển ý: Em tóm lại phần một.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12:30–13:30</a:t>
            </a:r>
          </a:p>
          <a:p>
            <a:r>
              <a:t>Thao tác: 8 lần bấm: năm ô nhắc lại → ô “Đại hội VI: lấy dân làm gốc” → kết luận ở giữa → ô bổ sung bên phải.</a:t>
            </a:r>
          </a:p>
          <a:p>
            <a:r>
              <a:t>(Trang này: 8 lần bấm)</a:t>
            </a:r>
          </a:p>
          <a:p/>
          <a:p>
            <a:r>
              <a:t>(bấm) Từ chỗ còn nhiều chữ “chưa”, dân chủ đã được xác định là bản chất, là mục tiêu, là động lực. (bấm) Bản chất ấy là tất cả quyền lực thuộc về nhân dân, (bấm) gồm bốn nội dung và phải được làm ở mọi cấp, mọi lĩnh vực. (bấm) Nó được thực hiện qua hai hình thức, gián tiếp và trực tiếp, theo tinh thần dân biết, dân bàn, dân làm, dân kiểm tra. (bấm) Và trên đường đi vẫn còn những trở ngại.</a:t>
            </a:r>
          </a:p>
          <a:p>
            <a:r>
              <a:t>(bấm) Các bạn còn nhớ bốn chữ của Đại hội VI không ạ? “Lấy dân làm gốc”.</a:t>
            </a:r>
          </a:p>
          <a:p>
            <a:r>
              <a:t>(bấm) Đó cũng là kết luận của phần một: bản chất tốt đẹp và tính ưu việt của nền dân chủ xã hội chủ nghĩa ở Việt Nam ngày càng thể hiện giá trị lấy dân làm gốc. Từ khi có nước Việt Nam Dân chủ Cộng hòa đến nay, nhân dân thực sự trở thành người làm chủ, tự xây dựng và tổ chức quản lý xã hội.</a:t>
            </a:r>
          </a:p>
          <a:p>
            <a:r>
              <a:t>(bấm) Chế độ này bảo đảm quyền làm chủ của người dân từ chính trị, kinh tế đến văn hóa, xã hội, và phát huy tính tích cực, sáng tạo của nhân dân trong xây dựng và bảo vệ Tổ quốc.</a:t>
            </a:r>
          </a:p>
          <a:p/>
          <a:p>
            <a:r>
              <a:t>Chuyển ý: Lúc nãy mình nói, ở dân chủ gián tiếp, người dân giao quyền cho Nhà nước. Vậy Nhà nước đó phải là nhà nước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13:30–14:45</a:t>
            </a:r>
          </a:p>
          <a:p>
            <a:r>
              <a:t>Thao tác: 7 lần bấm: ba ô bên trái → nhãn “Còn nhiều cách hiểu…” → hai ô đầu bên phải → hai ô sau → kết luận ở giữa.</a:t>
            </a:r>
          </a:p>
          <a:p>
            <a:r>
              <a:t>(Trang này: 7 lần bấm)</a:t>
            </a:r>
          </a:p>
          <a:p/>
          <a:p>
            <a:r>
              <a:t>Trước khi nói về Nhà nước pháp quyền của Việt Nam, mình thống nhất với nhau một chút: nhà nước pháp quyền nói chung là gì đã.</a:t>
            </a:r>
          </a:p>
          <a:p>
            <a:r>
              <a:t>(bấm) Theo quan niệm chung, đó là nhà nước thượng tôn pháp luật — pháp luật đứng trên hết. (bấm) Nhà nước hướng tới phúc lợi cho mọi người, tạo điều kiện để mỗi cá nhân được tự do, bình đẳng, phát huy hết năng lực của mình. (bấm) Các cơ quan nhà nước được phân quyền rõ ràng, và được mọi người chấp nhận trên nguyên tắc bình đẳng giữa các thế lực, giai cấp, tầng lớp trong xã hội.</a:t>
            </a:r>
          </a:p>
          <a:p>
            <a:r>
              <a:t>(bấm) Thật ra đến giờ vẫn có nhiều cách hiểu khác nhau về nhà nước pháp quyền. Nhưng có thể hiểu gọn thế này: (bấm) mọi công dân đều được giáo dục pháp luật, phải hiểu và tuân thủ pháp luật; pháp luật phải nghiêm minh; (bấm) các cơ quan nhà nước có phân công, phối hợp, kiểm soát lẫn nhau; và tất cả là để phục vụ nhân dân.</a:t>
            </a:r>
          </a:p>
          <a:p>
            <a:r>
              <a:t>(bấm) Nếu chỉ nhớ một câu thì các bạn nhớ: nhà nước pháp quyền là nhà nước thượng tôn pháp luật, và mọi việc đều vì mục tiêu phục vụ nhân dân. Lát nữa mình sẽ đem bảy ý này ra so với Nhà nước của mình.</a:t>
            </a:r>
          </a:p>
          <a:p/>
          <a:p>
            <a:r>
              <a:t>Chuyển ý: Giờ mình xem Đảng ta đặt vấn đề nhà nước pháp quyền thế nào, bắt đầu từ Cương lĩnh.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14:45–16:00</a:t>
            </a:r>
          </a:p>
          <a:p>
            <a:r>
              <a:t>Thao tác: 8 lần bấm: sáu ô lần lượt → câu hỏi “cùng hướng về đâu?” → câu trả lời ở giữa.</a:t>
            </a:r>
          </a:p>
          <a:p>
            <a:r>
              <a:t>(Trang này: 8 lần bấm)</a:t>
            </a:r>
          </a:p>
          <a:p/>
          <a:p>
            <a:r>
              <a:t>Cương lĩnh xây dựng đất nước trong thời kỳ quá độ lên chủ nghĩa xã hội nêu ra sáu nội dung về xây dựng nhà nước pháp quyền.</a:t>
            </a:r>
          </a:p>
          <a:p>
            <a:r>
              <a:t>(bấm) Một, đề cao vai trò tối thượng của Hiến pháp và pháp luật. (bấm) Hai, đề cao quyền lợi và nghĩa vụ của công dân, bảo đảm quyền con người. (bấm) Ba, bộ máy vừa tập trung, thống nhất, vừa có phân công giữa các nhánh quyền lực, phân cấp giữa các cấp chính quyền, để tránh lạm quyền. (bấm) Bốn, Nhà nước gắn bó chặt chẽ với nhân dân, lắng nghe nhân dân và chịu sự giám sát của nhân dân. (bấm) Năm, có cơ chế kiểm soát, ngăn ngừa và trừng trị quan liêu, tham nhũng, lộng quyền, vô trách nhiệm. (bấm) Sáu, bộ máy hoạt động theo nguyên tắc tập trung dân chủ, có sự chỉ đạo thống nhất của Trung ương.</a:t>
            </a:r>
          </a:p>
          <a:p>
            <a:r>
              <a:t>(bấm) Sáu ý khá dài, nhưng các bạn nhìn ba cụm em in đậm: tránh lạm quyền, chịu sự giám sát, kiểm soát. Ba cụm này cùng nói về một chuyện. Các bạn nghĩ là chuyện gì?</a:t>
            </a:r>
          </a:p>
          <a:p>
            <a:r>
              <a:t>(bấm) Đó là: quyền lực nhà nước phải được kiểm soát. Ý này còn được nhấn mạnh hơn nữa ở các kỳ Đại hội gần đây.</a:t>
            </a:r>
          </a:p>
          <a:p/>
          <a:p>
            <a:r>
              <a:t>Chuyển ý: Mình xem các kỳ Đại hội nói gì.</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16:00–17:15</a:t>
            </a:r>
          </a:p>
          <a:p>
            <a:r>
              <a:t>Thao tác: 6 lần bấm: chủ trương → Đại hội XII → Đại hội XIII (ba cụm từ mới đã tô đỏ sẵn) → câu hỏi so sánh, hỏi lớp → hai ô nhắc lại → kết luận.</a:t>
            </a:r>
          </a:p>
          <a:p>
            <a:r>
              <a:t>(Trang này: 6 lần bấm)</a:t>
            </a:r>
          </a:p>
          <a:p/>
          <a:p>
            <a:r>
              <a:t>(bấm) Trong quá trình đổi mới, Đảng đưa ra chủ trương xây dựng Nhà nước pháp quyền Việt Nam của dân, do dân, vì dân. Nhà nước quản lý xã hội bằng pháp luật, và từ cơ quan, cán bộ cho tới mọi công dân đều có nghĩa vụ chấp hành Hiến pháp, pháp luật.</a:t>
            </a:r>
          </a:p>
          <a:p>
            <a:r>
              <a:t>(bấm) Đến Đại hội XII, Đảng nói rõ hơn: “Quyền lực nhà nước là thống nhất, có sự phân công, phối hợp, kiểm soát giữa các cơ quan nhà nước…”. (bấm) Đại hội XIII viết: “Quyền lực nhà nước là thống nhất, có sự phân công rành mạch, phối hợp chặt chẽ và tăng cường kiểm soát quyền lực nhà nước”.</a:t>
            </a:r>
          </a:p>
          <a:p>
            <a:r>
              <a:t>(bấm) Các bạn so giúp em hai câu này: Đại hội XIII thêm vào những chữ nào? … Đúng rồi, chính là ba cụm em tô đỏ: “rành mạch”, “chặt chẽ”, và “tăng cường” kiểm soát.</a:t>
            </a:r>
          </a:p>
          <a:p>
            <a:r>
              <a:t>(bấm) Ghép lại với những gì mình đã nghe: Cương lĩnh nói tránh lạm quyền, chịu sự giám sát; dân chủ gián tiếp nói phân công, phối hợp, kiểm soát. (bấm) Tất cả gặp nhau ở chữ “kiểm soát quyền lực”. Và qua từng kỳ đại hội, nhận thức về Nhà nước pháp quyền ngày càng rõ ràng hơn.</a:t>
            </a:r>
          </a:p>
          <a:p/>
          <a:p>
            <a:r>
              <a:t>Chuyển ý: Từ những nhận thức đó, có thể rút ra sáu đặc điểm cơ bản. Em chia làm hai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17:15–18:30</a:t>
            </a:r>
          </a:p>
          <a:p>
            <a:r>
              <a:t>Thao tác: 4 lần bấm: cặp ô nguồn → đặc điểm 1 → cặp đặc điểm 2 → cặp đặc điểm 3 → ô bên phải.</a:t>
            </a:r>
          </a:p>
          <a:p>
            <a:r>
              <a:t>(Trang này: 4 lần bấm)</a:t>
            </a:r>
          </a:p>
          <a:p/>
          <a:p>
            <a:r>
              <a:t>Mỗi đặc điểm em đặt cạnh nguồn gốc của nó, để các bạn thấy nó không tự nhiên mà có.</a:t>
            </a:r>
          </a:p>
          <a:p>
            <a:r>
              <a:t>(bấm) Thứ nhất, đây là nhà nước do nhân dân lao động làm chủ — Nhà nước của dân, do dân, vì dân. Nó đi ra từ chính chủ trương mình vừa nghe.</a:t>
            </a:r>
          </a:p>
          <a:p>
            <a:r>
              <a:t>(bấm) Thứ hai, Nhà nước được tổ chức và hoạt động dựa trên Hiến pháp và pháp luật; trong mọi hoạt động của xã hội, pháp luật được đặt ở vị trí tối thượng. Ý này lấy từ Cương lĩnh.</a:t>
            </a:r>
          </a:p>
          <a:p>
            <a:r>
              <a:t>(bấm) Thứ ba, quyền lực nhà nước thống nhất, có phân công rõ ràng, phối hợp nhịp nhàng và kiểm soát giữa lập pháp, hành pháp, tư pháp — đúng điều Đại hội XII, XIII nhấn mạnh.</a:t>
            </a:r>
          </a:p>
          <a:p>
            <a:r>
              <a:t>(bấm) Vậy là mình có ba đặc điểm đầu.</a:t>
            </a:r>
          </a:p>
          <a:p/>
          <a:p>
            <a:r>
              <a:t>Chuyển ý: Ba đặc điểm còn lại.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18:30–19:45</a:t>
            </a:r>
          </a:p>
          <a:p>
            <a:r>
              <a:t>Thao tác: 4 lần bấm: cặp đặc điểm 4 → cặp đặc điểm 5 → cặp đặc điểm 6 → ô bên phải.</a:t>
            </a:r>
          </a:p>
          <a:p>
            <a:r>
              <a:t>(Trang này: 4 lần bấm)</a:t>
            </a:r>
          </a:p>
          <a:p/>
          <a:p>
            <a:r>
              <a:t>(bấm) Thứ tư, Nhà nước pháp quyền xã hội chủ nghĩa ở Việt Nam do Đảng Cộng sản Việt Nam lãnh đạo, phù hợp với Điều 4 Hiến pháp năm 2013. Đồng thời, hoạt động của Nhà nước chịu sự giám sát của nhân dân, theo phương châm dân biết, dân bàn, dân làm, dân kiểm tra.</a:t>
            </a:r>
          </a:p>
          <a:p>
            <a:r>
              <a:t>(bấm) Thứ năm, Nhà nước tôn trọng quyền con người, coi con người là chủ thể, là trung tâm của sự phát triển. Quyền dân chủ được thực hành rộng rãi — “nhân dân có quyền bầu và bãi miễn những đại biểu không xứng đáng” — và pháp luật phải nghiêm minh.</a:t>
            </a:r>
          </a:p>
          <a:p>
            <a:r>
              <a:t>(bấm) Thứ sáu, bộ máy tổ chức theo nguyên tắc tập trung dân chủ: có phân công, phân cấp, phối hợp, kiểm soát lẫn nhau, nhưng quyền lực vẫn thống nhất và có sự chỉ đạo thống nhất của Trung ương.</a:t>
            </a:r>
          </a:p>
          <a:p>
            <a:r>
              <a:t>(bấm) Như vậy là đủ sáu đặc điểm, và đặc điểm nào cũng có gốc từ những điều mình đã nói trước đó.</a:t>
            </a:r>
          </a:p>
          <a:p/>
          <a:p>
            <a:r>
              <a:t>Chuyển ý: Giờ mình đem sáu đặc điểm này so với quan niệm chung ở đầu phần hai.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19:45–20:45</a:t>
            </a:r>
          </a:p>
          <a:p>
            <a:r>
              <a:t>Thao tác: 3 lần bấm: hai cột → các đường nối → tô đỏ đặc điểm 4 và câu kết luận bên dưới.</a:t>
            </a:r>
          </a:p>
          <a:p>
            <a:r>
              <a:t>(Trang này: 3 lần bấm)</a:t>
            </a:r>
          </a:p>
          <a:p/>
          <a:p>
            <a:r>
              <a:t>(bấm) Bên trái là sáu đặc điểm của mình, bên phải là bảy ý của quan niệm chung lúc nãy.</a:t>
            </a:r>
          </a:p>
          <a:p>
            <a:r>
              <a:t>(bấm) Nối thử thì thấy: “vì nhân dân” khớp với đặc điểm một; “thượng tôn pháp luật” khớp với đặc điểm hai; “kiểm soát lẫn nhau” khớp với đặc điểm ba và sáu; “pháp luật nghiêm minh” khớp với đặc điểm năm.</a:t>
            </a:r>
          </a:p>
          <a:p>
            <a:r>
              <a:t>(bấm) Chỉ còn đặc điểm bốn — Đảng Cộng sản Việt Nam lãnh đạo — là không có cặp nào bên phải. Đây chính là điểm riêng của Nhà nước pháp quyền xã hội chủ nghĩa Việt Nam.</a:t>
            </a:r>
          </a:p>
          <a:p/>
          <a:p>
            <a:r>
              <a:t>Chuyển ý: Vậy giống ở đâu, khác ở đâu? Em tóm lại ở slide cuối phần hai.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20:45–21:45</a:t>
            </a:r>
          </a:p>
          <a:p>
            <a:r>
              <a:t>Thao tác: 5 lần bấm: điểm chung → ô nhắc đặc điểm 4 → điểm khác thứ nhất → điểm khác thứ hai → kết luận bên dưới.</a:t>
            </a:r>
          </a:p>
          <a:p>
            <a:r>
              <a:t>(Trang này: 5 lần bấm)</a:t>
            </a:r>
          </a:p>
          <a:p/>
          <a:p>
            <a:r>
              <a:t>(bấm) Điểm giống: những đặc điểm của Nhà nước pháp quyền mà Việt Nam đang xây dựng đã thể hiện được tinh thần cơ bản của một nhà nước pháp quyền nói chung — thượng tôn pháp luật, pháp luật nghiêm minh, kiểm soát quyền lực, và tất cả vì nhân dân.</a:t>
            </a:r>
          </a:p>
          <a:p>
            <a:r>
              <a:t>(bấm) Còn điểm khác thì bắt đầu từ đặc điểm bốn không có cặp lúc nãy. (bấm) Khác thứ nhất: Nhà nước mang bản chất giai cấp công nhân, phục vụ lợi ích của nhân dân. (bấm) Khác thứ hai: Nhà nước là công cụ chủ yếu để Đảng Cộng sản Việt Nam định hướng đi lên chủ nghĩa xã hội.</a:t>
            </a:r>
          </a:p>
          <a:p>
            <a:r>
              <a:t>(bấm) Gói phần hai trong một câu: Nhà nước pháp quyền xã hội chủ nghĩa Việt Nam vừa mang tinh thần chung của nhà nước pháp quyền, vừa có những điểm khác biệt của riêng mình.</a:t>
            </a:r>
          </a:p>
          <a:p/>
          <a:p>
            <a:r>
              <a:t>Chuyển ý: Hai phần đầu trả lời câu hỏi “là gì”. Phần ba trả lời câu hỏi “phải làm gì”.</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21:45–23:00</a:t>
            </a:r>
          </a:p>
          <a:p>
            <a:r>
              <a:t>Thao tác: 7 lần bấm: năm ô lần lượt → ô nhắc trở ngại kinh tế → kết luận ở giữa.</a:t>
            </a:r>
          </a:p>
          <a:p>
            <a:r>
              <a:t>(Trang này: 7 lần bấm)</a:t>
            </a:r>
          </a:p>
          <a:p/>
          <a:p>
            <a:r>
              <a:t>Phần ba có hai nhóm việc: nhóm a là phát huy dân chủ, có năm giải pháp; nhóm b là hoàn thiện Nhà nước pháp quyền, có bốn giải pháp. Em đi lần lượt.</a:t>
            </a:r>
          </a:p>
          <a:p>
            <a:r>
              <a:t>Giải pháp thứ nhất là về kinh tế. (bấm) Cần thể chế hóa việc phát triển nhiều hình thức sở hữu, nhiều thành phần kinh tế, loại hình doanh nghiệp, và bảo vệ quyền lợi hợp pháp của chủ sở hữu. (bấm) Luật cũng phải theo kịp những loại tài sản mới như sở hữu trí tuệ, cổ phiếu, trái phiếu. (bấm) Làm thể chế thì phải làm đủ ba khâu: ban hành quy định, đưa vào vận hành thực tế, và có bộ máy giám sát, xử lý vi phạm. Ban hành xong mà không ai thực thi thì cũng như không. (bấm) Song song là cải cách hành chính, từ bộ máy đến thủ tục — thủ tục gọn thì môi trường kinh doanh mới tốt lên được. (bấm) Và phát triển đồng bộ các loại thị trường, rà soát lại pháp luật kinh doanh cho phù hợp với Việt Nam.</a:t>
            </a:r>
          </a:p>
          <a:p>
            <a:r>
              <a:t>(bấm) Các bạn còn nhớ trở ngại đầu tiên ở phần một không? Nền kinh tế kém phát triển. (bấm) Giải pháp này chính là để trả lời trở ngại đó: hoàn thiện thể chế kinh tế thị trường định hướng xã hội chủ nghĩa, tạo cơ sở kinh tế vững chắc cho dân chủ.</a:t>
            </a:r>
          </a:p>
          <a:p/>
          <a:p>
            <a:r>
              <a:t>Chuyển ý: Giải pháp hai và ba là về Đảng và Nhà nước.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23:00–24:15</a:t>
            </a:r>
          </a:p>
          <a:p>
            <a:r>
              <a:t>Thao tác: 8 lần bấm: ba ô về Đảng → “Hai là” → ba ô về Nhà nước → “Ba là”.</a:t>
            </a:r>
          </a:p>
          <a:p>
            <a:r>
              <a:t>(Trang này: 8 lần bấm)</a:t>
            </a:r>
          </a:p>
          <a:p/>
          <a:p>
            <a:r>
              <a:t>(bấm) Muốn giữ được vai trò lãnh đạo, Đảng phải vững mạnh về chính trị, tư tưởng và tổ chức, thường xuyên tự đổi mới, tự chỉnh đốn. (bấm) Phải nâng cao trí tuệ, bản lĩnh chính trị, phẩm chất đạo đức và năng lực lãnh đạo. (bấm) Và ngay trong Đảng cũng phải dân chủ: thực hiện tập trung dân chủ, tự phê bình và phê bình.</a:t>
            </a:r>
          </a:p>
          <a:p>
            <a:r>
              <a:t>(bấm) Đây là giải pháp thứ hai: xây dựng Đảng trong sạch, vững mạnh — điều kiện tiên quyết để xây dựng nền dân chủ.</a:t>
            </a:r>
          </a:p>
          <a:p>
            <a:r>
              <a:t>(bấm) Về phía Nhà nước: Nhà nước phải thực thi quyền dân chủ của nhân dân trên mọi lĩnh vực, bằng Hiến pháp và pháp luật. (bấm) Quyền con người phải được coi là giá trị cao nhất. (bấm) Vì vậy chính sách, pháp luật phải dựa trên ý chí, nguyện vọng của nhân dân; danh dự, nhân phẩm, quyền lợi hợp pháp của công dân phải được bảo đảm, cả bằng pháp luật lẫn trong đời sống thực tế.</a:t>
            </a:r>
          </a:p>
          <a:p>
            <a:r>
              <a:t>(bấm) Đó là giải pháp thứ ba: xây dựng Nhà nước pháp quyền vững mạnh — điều kiện để thực thi dân chủ. Các bạn để ý: Đảng là điều kiện “tiên quyết”, còn Nhà nước là điều kiện “để thực thi”.</a:t>
            </a:r>
          </a:p>
          <a:p/>
          <a:p>
            <a:r>
              <a:t>Chuyển ý: Hai giải pháp còn lại của nhóm a thì gần với người dân hơn.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24:15–25:30</a:t>
            </a:r>
          </a:p>
          <a:p>
            <a:r>
              <a:t>Thao tác: 9 lần bấm: bốn ô → “Bốn là” → ba ô về giám sát, phản biện → ô dân trí + ô “Trước Đổi mới” → ô phương châm → “Năm là”.</a:t>
            </a:r>
          </a:p>
          <a:p>
            <a:r>
              <a:t>(Trang này: 9 lần bấm)</a:t>
            </a:r>
          </a:p>
          <a:p/>
          <a:p>
            <a:r>
              <a:t>(bấm) Các tổ chức chính trị – xã hội, như Đoàn Thanh niên, Công đoàn, Hội Phụ nữ, cần đổi mới mạnh mẽ cách hoạt động, (bấm) để tham gia giám sát và phản biện đường lối, chính sách, pháp luật; (bấm) tạo khối đoàn kết toàn dân, chăm lo đời sống nhân dân; (bấm) đồng thời tham gia bảo vệ chính quyền, xây dựng Đảng, và bảo vệ quyền lợi chính đáng của người dân.</a:t>
            </a:r>
          </a:p>
          <a:p>
            <a:r>
              <a:t>(bấm) Đó là giải pháp thứ tư: nâng cao vai trò của các tổ chức chính trị – xã hội.</a:t>
            </a:r>
          </a:p>
          <a:p>
            <a:r>
              <a:t>(bấm) Giải pháp thứ năm là về giám sát và phản biện xã hội. Việc này ảnh hưởng tới cách người dân nhìn nhận, đánh giá chủ trương, chính sách. Vì vậy cần công khai, minh bạch thông tin, nhất là những vấn đề đụng tới quyền lợi chính đáng của người dân, và cụ thể hóa các quy chế để lắng nghe ý kiến nhân dân.</a:t>
            </a:r>
          </a:p>
          <a:p>
            <a:r>
              <a:t>(bấm) Ngoài ra cần nâng cao dân trí, văn hóa pháp luật cho cả xã hội. Chữ “dân trí” này, trước Đổi mới còn chưa được đặt đúng chỗ, giờ đã thành một giải pháp.</a:t>
            </a:r>
          </a:p>
          <a:p>
            <a:r>
              <a:t>(bấm) Và giám sát, phản biện cũng chính là chữ “dân kiểm tra” trong phương châm quen thuộc.</a:t>
            </a:r>
          </a:p>
          <a:p>
            <a:r>
              <a:t>(bấm) Vậy giải pháp thứ năm là: xây dựng và từng bước hoàn thiện hệ thống giám sát, phản biện xã hội để phát huy quyền làm chủ của nhân dân.</a:t>
            </a:r>
          </a:p>
          <a:p/>
          <a:p>
            <a:r>
              <a:t>Chuyển ý: Năm giải pháp nghe hơi nhiều, nên mình làm nhanh một bài nối.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25:30–26:15</a:t>
            </a:r>
          </a:p>
          <a:p>
            <a:r>
              <a:t>Thao tác: 3 lần bấm: năm giải pháp và năm vai trò (xáo trộn) → dừng 30 giây cho lớp nối → các đường nối → kết luận bên dưới.</a:t>
            </a:r>
          </a:p>
          <a:p>
            <a:r>
              <a:t>(Trang này: 3 lần bấm)</a:t>
            </a:r>
          </a:p>
          <a:p/>
          <a:p>
            <a:r>
              <a:t>(bấm) Bên trái là năm giải pháp, bên phải là vai trò của từng giải pháp, em đã xáo thứ tự. Các bạn nối giúp em nhé. (chờ khoảng 30 giây)</a:t>
            </a:r>
          </a:p>
          <a:p>
            <a:r>
              <a:t>(bấm) Kinh tế là cơ sở vững chắc; Đảng là điều kiện tiên quyết; Nhà nước là điều kiện để thực thi; tổ chức chính trị – xã hội thì cần nâng cao vai trò; còn giám sát, phản biện là để phát huy quyền làm chủ.</a:t>
            </a:r>
          </a:p>
          <a:p>
            <a:r>
              <a:t>(bấm) Mỗi giải pháp một vai trò, nhưng đều hướng về một mục tiêu: phát huy dân chủ xã hội chủ nghĩa ở Việt Nam hiện nay.</a:t>
            </a:r>
          </a:p>
          <a:p/>
          <a:p>
            <a:r>
              <a:t>Chuyển ý: Sang nhóm b: tiếp tục xây dựng và hoàn thiện Nhà nước pháp quyền, gồm bốn giải pháp.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26:15–27:30</a:t>
            </a:r>
          </a:p>
          <a:p>
            <a:r>
              <a:t>Thao tác: 8 lần bấm: ô bản chất giai cấp công nhân → ô quyền lực thống nhất → “Một là” → Quốc hội → hành chính → thủ tục → dịch vụ công → “Hai là”.</a:t>
            </a:r>
          </a:p>
          <a:p>
            <a:r>
              <a:t>(Trang này: 8 lần bấm)</a:t>
            </a:r>
          </a:p>
          <a:p/>
          <a:p>
            <a:r>
              <a:t>(bấm) Nhà nước pháp quyền ở Việt Nam mang bản chất giai cấp công nhân, đồng thời gắn bó chặt chẽ với dân tộc, với nhân dân. (bấm) Quyền lực nhà nước là thống nhất, có phân công và phối hợp giữa lập pháp, hành pháp, tư pháp.</a:t>
            </a:r>
          </a:p>
          <a:p>
            <a:r>
              <a:t>(bấm) Vì vậy giải pháp đầu tiên là: xây dựng Nhà nước pháp quyền dưới sự lãnh đạo của Đảng.</a:t>
            </a:r>
          </a:p>
          <a:p>
            <a:r>
              <a:t>Giải pháp thứ hai là cải cách thể chế và cách thức hoạt động của Nhà nước. (bấm) Bắt đầu từ Quốc hội — cơ quan quyền lực nhà nước cao nhất, có quyền lập hiến, lập pháp và giám sát tối cao — phải được kiện toàn, hoạt động hiệu quả hơn. (bấm) Nền hành chính phải dân chủ, trong sạch, vững mạnh, từng bước hiện đại hóa. (bấm) Giảm mạnh, bãi bỏ những thủ tục gây phiền hà cho người dân và doanh nghiệp — như bây giờ nhiều thủ tục đã nộp được trực tuyến qua Cổng Dịch vụ công quốc gia. (bấm) Và đẩy mạnh xã hội hóa các dịch vụ công.</a:t>
            </a:r>
          </a:p>
          <a:p>
            <a:r>
              <a:t>(bấm) Đó là giải pháp thứ hai: cải cách thể chế và phương thức hoạt động của Nhà nước.</a:t>
            </a:r>
          </a:p>
          <a:p/>
          <a:p>
            <a:r>
              <a:t>Chuyển ý: Hai giải pháp cuối nói về con người trong bộ máy.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27:30–28:45</a:t>
            </a:r>
          </a:p>
          <a:p>
            <a:r>
              <a:t>Thao tác: 10 lần bấm: ba ô về cán bộ → “Ba là” → bốn ô chống tham nhũng → ô nhắc Cương lĩnh → “Bốn là”.</a:t>
            </a:r>
          </a:p>
          <a:p>
            <a:r>
              <a:t>(Trang này: 10 lần bấm)</a:t>
            </a:r>
          </a:p>
          <a:p/>
          <a:p>
            <a:r>
              <a:t>(bấm) Đội ngũ cán bộ, công chức phải vững về bản lĩnh chính trị, đạo đức, năng lực lãnh đạo, điều hành. Và phải làm theo cả hai chiều: (bấm) người làm tốt thì được đãi ngộ, động viên; (bấm) người không hoàn thành nhiệm vụ, vi phạm kỷ luật, đạo đức công vụ thì phải bị loại ra, miễn nhiệm.</a:t>
            </a:r>
          </a:p>
          <a:p>
            <a:r>
              <a:t>(bấm) Đó là giải pháp thứ ba: xây dựng đội ngũ cán bộ, công chức trong sạch, có năng lực.</a:t>
            </a:r>
          </a:p>
          <a:p>
            <a:r>
              <a:t>Giải pháp thứ tư là phòng, chống tham nhũng, lãng phí. Cụ thể: (bấm) hoàn thiện thể chế và đẩy mạnh cải cách hành chính để phục vụ việc phòng, chống tham nhũng; (bấm) có cơ chế khuyến khích và bảo vệ người đấu tranh chống tham nhũng; (bấm) có chế tài để xử lý cá nhân, tổ chức vi phạm; (bấm) và toàn Đảng, toàn dân cùng thực hành tiết kiệm.</a:t>
            </a:r>
          </a:p>
          <a:p>
            <a:r>
              <a:t>(bấm) Ý này thật ra đã có từ Cương lĩnh ở phần hai: ngăn ngừa và trừng trị tham nhũng.</a:t>
            </a:r>
          </a:p>
          <a:p>
            <a:r>
              <a:t>(bấm) Phòng, chống tham nhũng, lãng phí là nhiệm vụ vừa cấp bách, vừa lâu dài — không thể làm một lần là xong.</a:t>
            </a:r>
          </a:p>
          <a:p/>
          <a:p>
            <a:r>
              <a:t>Chuyển ý: Em tóm lại phần ba.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28:45–29:30</a:t>
            </a:r>
          </a:p>
          <a:p>
            <a:r>
              <a:t>Thao tác: 7 lần bấm: sáu cặp từ trên xuống → hai ô bên phải.</a:t>
            </a:r>
          </a:p>
          <a:p>
            <a:r>
              <a:t>(Trang này: 7 lần bấm)</a:t>
            </a:r>
          </a:p>
          <a:p/>
          <a:p>
            <a:r>
              <a:t>Các giải pháp ở phần ba không tự nhiên mà có, mỗi giải pháp đều trả lời cho một vấn đề đã nêu trước đó. (bấm) Kinh tế kém phát triển — thì tạo cơ sở kinh tế vững chắc. (bấm) Dân trí từng chưa được đặt đúng chỗ — thì nâng cao dân trí. (bấm) Dân biết, dân bàn, dân làm, dân kiểm tra — thì giám sát, phản biện. (bấm) Nhà nước mang bản chất giai cấp công nhân — thì xây dựng dưới sự lãnh đạo của Đảng. (bấm) Quốc hội là cơ quan quyền lực cao nhất — thì cải cách Quốc hội. (bấm) Cương lĩnh nói trừng trị tham nhũng — thì phòng, chống tham nhũng.</a:t>
            </a:r>
          </a:p>
          <a:p>
            <a:r>
              <a:t>(bấm) Tổng cộng là năm giải pháp phát huy dân chủ và bốn giải pháp hoàn thiện Nhà nước pháp quyền.</a:t>
            </a:r>
          </a:p>
          <a:p/>
          <a:p>
            <a:r>
              <a:t>Chuyển ý: Giờ mình nhìn lại cả bài.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29:30–32:00</a:t>
            </a:r>
          </a:p>
          <a:p>
            <a:r>
              <a:t>Thao tác: 17 lần bấm: ba cột → mười ô ở giữa (bấm liền tay) → bốn ô kết luận → câu hỏi mở đầu → “Lấy dân làm gốc”.</a:t>
            </a:r>
          </a:p>
          <a:p>
            <a:r>
              <a:t>(Trang này: 17 lần bấm)</a:t>
            </a:r>
          </a:p>
          <a:p/>
          <a:p>
            <a:r>
              <a:t>Slide này gom cả bài lại. (bấm) Ba cột trên là ba phần mình vừa đi qua.</a:t>
            </a:r>
          </a:p>
          <a:p>
            <a:r>
              <a:t>(bấm liền tay đến hết mười ô ở giữa) Mười ô ở giữa là những ý xuất hiện ở nhiều phần. Ví dụ “quyền lực thuộc về nhân dân” đi từ đoạn văn của Bác sang hai hình thức dân chủ, rồi sang đặc điểm của Nhà nước; hay “kiểm soát quyền lực” đi từ dân chủ gián tiếp sang Cương lĩnh, các kỳ Đại hội, rồi tới giải pháp. Ba phần của bài nối với nhau chứ không tách rời.</a:t>
            </a:r>
          </a:p>
          <a:p>
            <a:r>
              <a:t>Nếu phải nhớ ba điều thì nhóm em mong các bạn nhớ: (bấm) bản chất của dân chủ xã hội chủ nghĩa là tất cả quyền lực thuộc về nhân dân; (bấm) Nhà nước pháp quyền xã hội chủ nghĩa Việt Nam có sáu đặc điểm, vừa có tinh thần chung, vừa có điểm riêng; (bấm) và để đi tiếp, có năm giải pháp phát huy dân chủ, bốn giải pháp hoàn thiện Nhà nước.</a:t>
            </a:r>
          </a:p>
          <a:p>
            <a:r>
              <a:t>(bấm) Còn mình — là sinh viên, là công dân — thì làm được gì? Không có gì to tát: hiểu luật và làm đúng luật; tham gia vào việc chung theo đúng trách nhiệm, nghĩa vụ của mình, từ góp ý ở lớp, ở trường cho tới đi bầu cử khi đủ tuổi; thực hiện tinh thần dân biết, dân bàn, dân làm, dân kiểm tra; và tự nâng cao hiểu biết pháp luật. Ví dụ đơn giản thôi: trước khi chia sẻ một tin về chính sách trên mạng, mình kiểm tra xem nguồn có chính thống không.</a:t>
            </a:r>
          </a:p>
          <a:p>
            <a:r>
              <a:t>(bấm) Giờ quay lại câu hỏi đầu bài: vì sao năm 1976, khi tên nước đã có chữ “xã hội chủ nghĩa”, cụm từ “dân chủ xã hội chủ nghĩa” vẫn gần như chưa được dùng? Vì lúc đó bản chất của nó chưa được xác định rõ. Phải qua thời kỳ đổi mới, từ Đại hội VI trở đi, nó mới dần được làm rõ: là bản chất, là mục tiêu, là động lực.</a:t>
            </a:r>
          </a:p>
          <a:p>
            <a:r>
              <a:t>(bấm) Và nếu gói cả bài vào bốn chữ, thì đó là: lấy dân làm gốc.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gợi ý: 32:00–32:30</a:t>
            </a:r>
          </a:p>
          <a:p>
            <a:r>
              <a:t>Thao tác: Hiện sẵn. Dòng tài liệu tham khảo chỉ để trên slide, không đọc.</a:t>
            </a:r>
          </a:p>
          <a:p>
            <a:r>
              <a:t>(Trang này: không có hiệu ứng)</a:t>
            </a:r>
          </a:p>
          <a:p/>
          <a:p>
            <a:r>
              <a:t>Phần trình bày của nhóm em đến đây là hết. Cảm ơn thầy/cô và các bạn đã lắng nghe. Nhóm em rất mong nhận được câu hỏi và góp ý 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14500" y="2857500"/>
            <a:ext cx="14859000" cy="3619500"/>
          </a:xfrm>
          <a:prstGeom prst="rect">
            <a:avLst/>
          </a:prstGeom>
          <a:noFill/>
        </p:spPr>
        <p:txBody>
          <a:bodyPr wrap="square" lIns="0" rIns="0" tIns="0" bIns="0" anchor="ctr">
            <a:spAutoFit/>
          </a:bodyPr>
          <a:lstStyle/>
          <a:p>
            <a:pPr algn="ctr"/>
            <a:r>
              <a:rPr sz="5700" b="1" i="0">
                <a:solidFill>
                  <a:srgbClr val="8C2F2B"/>
                </a:solidFill>
                <a:latin typeface="Georgia"/>
              </a:rPr>
              <a:t>Dân chủ xã hội chủ nghĩa và Nhà nước pháp quyền xã hội chủ nghĩa ở Việt Nam</a:t>
            </a:r>
          </a:p>
        </p:txBody>
      </p:sp>
      <p:sp>
        <p:nvSpPr>
          <p:cNvPr id="4" name="Rectangle 3"/>
          <p:cNvSpPr/>
          <p:nvPr/>
        </p:nvSpPr>
        <p:spPr>
          <a:xfrm>
            <a:off x="7429500" y="6667500"/>
            <a:ext cx="3429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1 · Dân chủ XHCN ở Việt Nam</a:t>
            </a:r>
          </a:p>
        </p:txBody>
      </p:sp>
      <p:sp>
        <p:nvSpPr>
          <p:cNvPr id="6" name="Rounded Rectangle 5"/>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7" name="Rounded Rectangle 6"/>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sp>
        <p:nvSpPr>
          <p:cNvPr id="8" name="Rectangle 7"/>
          <p:cNvSpPr/>
          <p:nvPr/>
        </p:nvSpPr>
        <p:spPr>
          <a:xfrm>
            <a:off x="2476500" y="5991225"/>
            <a:ext cx="13335000" cy="6477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9550" rIns="209550" tIns="133350" bIns="133350"/>
          <a:lstStyle/>
          <a:p>
            <a:pPr algn="ctr"/>
            <a:r>
              <a:rPr sz="2137" b="0" i="0">
                <a:solidFill>
                  <a:srgbClr val="6B6B6B"/>
                </a:solidFill>
                <a:latin typeface="Arial"/>
              </a:rPr>
              <a:t>MLN131 · Chương 4 · Mục III · </a:t>
            </a:r>
            <a:r>
              <a:rPr sz="2137" b="1" i="0">
                <a:solidFill>
                  <a:srgbClr val="8C2F2B"/>
                </a:solidFill>
                <a:latin typeface="Arial"/>
              </a:rPr>
              <a:t>Nhóm 2</a:t>
            </a:r>
          </a:p>
        </p:txBody>
      </p:sp>
      <p:sp>
        <p:nvSpPr>
          <p:cNvPr id="9" name="Rectangle 8"/>
          <p:cNvSpPr/>
          <p:nvPr/>
        </p:nvSpPr>
        <p:spPr>
          <a:xfrm>
            <a:off x="2476500" y="6810375"/>
            <a:ext cx="13335000" cy="21812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9550" rIns="209550" tIns="133350" bIns="133350"/>
          <a:lstStyle/>
          <a:p>
            <a:pPr algn="ctr"/>
            <a:r>
              <a:rPr sz="2137" b="0" i="0">
                <a:solidFill>
                  <a:srgbClr val="6B6B6B"/>
                </a:solidFill>
                <a:latin typeface="Arial"/>
              </a:rPr>
              <a:t>Phan Thanh Đức – SE181719</a:t>
            </a:r>
          </a:p>
          <a:p>
            <a:pPr algn="ctr"/>
            <a:r>
              <a:rPr sz="2137" b="0" i="0">
                <a:solidFill>
                  <a:srgbClr val="6B6B6B"/>
                </a:solidFill>
                <a:latin typeface="Arial"/>
              </a:rPr>
              <a:t>Hồ Trần Quân – SE180175</a:t>
            </a:r>
          </a:p>
          <a:p>
            <a:pPr algn="ctr"/>
            <a:r>
              <a:rPr sz="2137" b="0" i="0">
                <a:solidFill>
                  <a:srgbClr val="6B6B6B"/>
                </a:solidFill>
                <a:latin typeface="Arial"/>
              </a:rPr>
              <a:t>Phan Văn Huy – SE184969</a:t>
            </a:r>
          </a:p>
          <a:p>
            <a:pPr algn="ctr"/>
            <a:r>
              <a:rPr sz="2137" b="0" i="0">
                <a:solidFill>
                  <a:srgbClr val="6B6B6B"/>
                </a:solidFill>
                <a:latin typeface="Arial"/>
              </a:rPr>
              <a:t>Hồ Quốc Đạt – SE193114</a:t>
            </a:r>
          </a:p>
          <a:p>
            <a:pPr algn="ctr"/>
            <a:r>
              <a:rPr sz="2137" b="0" i="0">
                <a:solidFill>
                  <a:srgbClr val="6B6B6B"/>
                </a:solidFill>
                <a:latin typeface="Arial"/>
              </a:rPr>
              <a:t>Nguyễn Thị Mai Vỹ – SE193020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Nội dung trình bày</a:t>
            </a:r>
          </a:p>
        </p:txBody>
      </p:sp>
      <p:sp>
        <p:nvSpPr>
          <p:cNvPr id="6" name="Rounded Rectangle 5"/>
          <p:cNvSpPr/>
          <p:nvPr/>
        </p:nvSpPr>
        <p:spPr>
          <a:xfrm>
            <a:off x="6667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sp>
        <p:nvSpPr>
          <p:cNvPr id="9" name="Rounded Rectangle 8"/>
          <p:cNvSpPr/>
          <p:nvPr/>
        </p:nvSpPr>
        <p:spPr>
          <a:xfrm>
            <a:off x="666750" y="3228975"/>
            <a:ext cx="169545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1 · Dân chủ xã hội chủ nghĩa ở Việt Nam</a:t>
            </a:r>
          </a:p>
          <a:p>
            <a:pPr algn="l"/>
            <a:r>
              <a:rPr sz="2137" b="0" i="0">
                <a:solidFill>
                  <a:srgbClr val="2B2622"/>
                </a:solidFill>
                <a:latin typeface="Arial"/>
              </a:rPr>
              <a:t>a) Sự ra đời, phát triển · b) Bản chất</a:t>
            </a:r>
          </a:p>
        </p:txBody>
      </p:sp>
      <p:sp>
        <p:nvSpPr>
          <p:cNvPr id="10" name="Rounded Rectangle 9"/>
          <p:cNvSpPr/>
          <p:nvPr/>
        </p:nvSpPr>
        <p:spPr>
          <a:xfrm>
            <a:off x="666750" y="4457700"/>
            <a:ext cx="169545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2 · Nhà nước pháp quyền xã hội chủ nghĩa ở Việt Nam</a:t>
            </a:r>
          </a:p>
          <a:p>
            <a:pPr algn="l"/>
            <a:r>
              <a:rPr sz="2137" b="0" i="0">
                <a:solidFill>
                  <a:srgbClr val="2B2622"/>
                </a:solidFill>
                <a:latin typeface="Arial"/>
              </a:rPr>
              <a:t>a) Quan niệm · b) Sáu đặc điểm</a:t>
            </a:r>
          </a:p>
        </p:txBody>
      </p:sp>
      <p:sp>
        <p:nvSpPr>
          <p:cNvPr id="11" name="Rounded Rectangle 10"/>
          <p:cNvSpPr/>
          <p:nvPr/>
        </p:nvSpPr>
        <p:spPr>
          <a:xfrm>
            <a:off x="666750" y="5676900"/>
            <a:ext cx="169545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3 · Phát huy dân chủ, xây dựng Nhà nước pháp quyền hiện nay</a:t>
            </a:r>
          </a:p>
          <a:p>
            <a:pPr algn="l"/>
            <a:r>
              <a:rPr sz="2137" b="0" i="0">
                <a:solidFill>
                  <a:srgbClr val="2B2622"/>
                </a:solidFill>
                <a:latin typeface="Arial"/>
              </a:rPr>
              <a:t>a) Năm giải pháp phát huy dân chủ · b) Bốn giải pháp hoàn thiện Nhà nước</a:t>
            </a:r>
          </a:p>
        </p:txBody>
      </p:sp>
      <p:sp>
        <p:nvSpPr>
          <p:cNvPr id="12" name="Rounded Rectangle 11"/>
          <p:cNvSpPr/>
          <p:nvPr/>
        </p:nvSpPr>
        <p:spPr>
          <a:xfrm>
            <a:off x="666750" y="6896100"/>
            <a:ext cx="1695450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Tổng kết cả bài · Hỏi đáp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Một chi tiết đáng chú ý</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86450" y="4562475"/>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772900" y="4562475"/>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030450" y="5124450"/>
            <a:ext cx="0" cy="619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030450" y="5186362"/>
            <a:ext cx="0" cy="619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224962" y="5248275"/>
            <a:ext cx="58054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144000" y="52482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144000" y="52482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66750" y="40386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1945 — Chế độ dân chủ nhân dân được xác lập</a:t>
            </a:r>
          </a:p>
        </p:txBody>
      </p:sp>
      <p:sp>
        <p:nvSpPr>
          <p:cNvPr id="17" name="Rounded Rectangle 16"/>
          <p:cNvSpPr/>
          <p:nvPr/>
        </p:nvSpPr>
        <p:spPr>
          <a:xfrm>
            <a:off x="6553200" y="40386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1976 — Tên nước: Cộng hòa xã hội chủ nghĩa Việt Nam</a:t>
            </a:r>
          </a:p>
        </p:txBody>
      </p:sp>
      <p:sp>
        <p:nvSpPr>
          <p:cNvPr id="18" name="Rounded Rectangle 17"/>
          <p:cNvSpPr/>
          <p:nvPr/>
        </p:nvSpPr>
        <p:spPr>
          <a:xfrm>
            <a:off x="12439650" y="40386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Văn kiện hầu như chưa dùng cụm từ “dân chủ xã hội chủ nghĩa”</a:t>
            </a:r>
          </a:p>
        </p:txBody>
      </p:sp>
      <p:sp>
        <p:nvSpPr>
          <p:cNvPr id="19" name="Rounded Rectangle 18"/>
          <p:cNvSpPr/>
          <p:nvPr/>
        </p:nvSpPr>
        <p:spPr>
          <a:xfrm>
            <a:off x="666750" y="5476875"/>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Cụm từ ấy được xác định thế nào, từ khi nào?</a:t>
            </a:r>
          </a:p>
        </p:txBody>
      </p:sp>
      <p:sp>
        <p:nvSpPr>
          <p:cNvPr id="20" name="Rounded Rectangle 19"/>
          <p:cNvSpPr/>
          <p:nvPr/>
        </p:nvSpPr>
        <p:spPr>
          <a:xfrm>
            <a:off x="666750" y="5476875"/>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300"/>
                                        <p:tgtEl>
                                          <p:spTgt spid="16"/>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300"/>
                                        <p:tgtEl>
                                          <p:spTgt spid="17"/>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00"/>
                                        <p:tgtEl>
                                          <p:spTgt spid="18"/>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300"/>
                                        <p:tgtEl>
                                          <p:spTgt spid="10"/>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3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0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300"/>
                                        <p:tgtEl>
                                          <p:spTgt spid="13"/>
                                        </p:tgtEl>
                                      </p:cBhvr>
                                    </p:animEffect>
                                  </p:childTnLst>
                                </p:cTn>
                              </p:par>
                              <p:par>
                                <p:cTn id="41" presetID="10"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00"/>
                                        <p:tgtEl>
                                          <p:spTgt spid="1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5" presetID="1" presetClass="exit" presetSubtype="0" fill="hold" nodeType="withEffect">
                                  <p:stCondLst>
                                    <p:cond delay="0"/>
                                  </p:stCondLst>
                                  <p:childTnLst>
                                    <p:set>
                                      <p:cBhvr>
                                        <p:cTn id="5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Trước Đổi mới</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348038" y="53530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67425" y="62055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57925" y="62055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391275" y="5862638"/>
            <a:ext cx="0" cy="3429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39127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9127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2030075" y="47863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1896725" y="47863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896725" y="4786312"/>
            <a:ext cx="0" cy="809626"/>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8967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62050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2030075" y="63912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1896725" y="63912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1896725" y="5862638"/>
            <a:ext cx="0" cy="5286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189672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162050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6750" y="3876675"/>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Văn kiện dùng: “làm chủ tập thể XHCN” + “nắm vững chuyên chính vô sản”</a:t>
            </a:r>
          </a:p>
        </p:txBody>
      </p:sp>
      <p:sp>
        <p:nvSpPr>
          <p:cNvPr id="26" name="Rounded Rectangle 25"/>
          <p:cNvSpPr/>
          <p:nvPr/>
        </p:nvSpPr>
        <p:spPr>
          <a:xfrm>
            <a:off x="666750" y="5486400"/>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Bản chất dân chủ XHCN, quan hệ với nhà nước pháp quyền XHCN — </a:t>
            </a:r>
            <a:r>
              <a:rPr sz="2137" b="1" i="0">
                <a:solidFill>
                  <a:srgbClr val="8C2F2B"/>
                </a:solidFill>
                <a:latin typeface="Arial"/>
              </a:rPr>
              <a:t>CHƯA</a:t>
            </a:r>
            <a:r>
              <a:rPr sz="2137" b="0" i="0">
                <a:solidFill>
                  <a:srgbClr val="2B2622"/>
                </a:solidFill>
                <a:latin typeface="Arial"/>
              </a:rPr>
              <a:t> xác định rõ</a:t>
            </a:r>
          </a:p>
        </p:txBody>
      </p:sp>
      <p:sp>
        <p:nvSpPr>
          <p:cNvPr id="27" name="Rounded Rectangle 26"/>
          <p:cNvSpPr/>
          <p:nvPr/>
        </p:nvSpPr>
        <p:spPr>
          <a:xfrm>
            <a:off x="7629525" y="4210050"/>
            <a:ext cx="3019425"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Ba ý có chung chữ nào?</a:t>
            </a:r>
          </a:p>
        </p:txBody>
      </p:sp>
      <p:sp>
        <p:nvSpPr>
          <p:cNvPr id="28" name="Rounded Rectangle 27"/>
          <p:cNvSpPr/>
          <p:nvPr/>
        </p:nvSpPr>
        <p:spPr>
          <a:xfrm>
            <a:off x="6734175" y="4867275"/>
            <a:ext cx="48196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đã có, nhưng NHẬN THỨC về dân chủ XHCN chưa được xác định</a:t>
            </a:r>
          </a:p>
        </p:txBody>
      </p:sp>
      <p:sp>
        <p:nvSpPr>
          <p:cNvPr id="29" name="Rounded Rectangle 28"/>
          <p:cNvSpPr/>
          <p:nvPr/>
        </p:nvSpPr>
        <p:spPr>
          <a:xfrm>
            <a:off x="6734175" y="4867275"/>
            <a:ext cx="48196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0" name="Rounded Rectangle 29"/>
          <p:cNvSpPr/>
          <p:nvPr/>
        </p:nvSpPr>
        <p:spPr>
          <a:xfrm>
            <a:off x="12258675" y="3876675"/>
            <a:ext cx="536257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Thực hiện dân chủ phù hợp kinh tế, xã hội, văn hóa, đạo đức VN; gắn pháp luật, kỷ cương — </a:t>
            </a:r>
            <a:r>
              <a:rPr sz="2137" b="1" i="0">
                <a:solidFill>
                  <a:srgbClr val="8C2F2B"/>
                </a:solidFill>
                <a:latin typeface="Arial"/>
              </a:rPr>
              <a:t>CHƯA</a:t>
            </a:r>
            <a:r>
              <a:rPr sz="2137" b="0" i="0">
                <a:solidFill>
                  <a:srgbClr val="2B2622"/>
                </a:solidFill>
                <a:latin typeface="Arial"/>
              </a:rPr>
              <a:t> đặt ra cụ thể</a:t>
            </a:r>
          </a:p>
        </p:txBody>
      </p:sp>
      <p:sp>
        <p:nvSpPr>
          <p:cNvPr id="31" name="Rounded Rectangle 30"/>
          <p:cNvSpPr/>
          <p:nvPr/>
        </p:nvSpPr>
        <p:spPr>
          <a:xfrm>
            <a:off x="12258675" y="58674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Dân sinh · dân trí · dân quyền — </a:t>
            </a:r>
            <a:r>
              <a:rPr sz="2137" b="1" i="0">
                <a:solidFill>
                  <a:srgbClr val="8C2F2B"/>
                </a:solidFill>
                <a:latin typeface="Arial"/>
              </a:rPr>
              <a:t>CHƯA</a:t>
            </a:r>
            <a:r>
              <a:rPr sz="2137" b="0" i="0">
                <a:solidFill>
                  <a:srgbClr val="2B2622"/>
                </a:solidFill>
                <a:latin typeface="Arial"/>
              </a:rPr>
              <a:t> đặt đúng vị trí</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300"/>
                                        <p:tgtEl>
                                          <p:spTgt spid="25"/>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300"/>
                                        <p:tgtEl>
                                          <p:spTgt spid="26"/>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par>
                                <p:cTn id="19" presetID="10"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3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3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30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3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3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0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300"/>
                                        <p:tgtEl>
                                          <p:spTgt spid="16"/>
                                        </p:tgtEl>
                                      </p:cBhvr>
                                    </p:animEffect>
                                  </p:childTnLst>
                                </p:cTn>
                              </p:par>
                              <p:par>
                                <p:cTn id="53" presetID="10" presetClass="entr" presetSubtype="0" fill="hold"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300"/>
                                        <p:tgtEl>
                                          <p:spTgt spid="17"/>
                                        </p:tgtEl>
                                      </p:cBhvr>
                                    </p:animEffect>
                                  </p:childTnLst>
                                </p:cTn>
                              </p:par>
                              <p:par>
                                <p:cTn id="57" presetID="10" presetClass="entr" presetSubtype="0" fill="hold"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3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300"/>
                                        <p:tgtEl>
                                          <p:spTgt spid="31"/>
                                        </p:tgtEl>
                                      </p:cBhvr>
                                    </p:animEffect>
                                  </p:childTnLst>
                                </p:cTn>
                              </p:par>
                              <p:par>
                                <p:cTn id="71" presetID="10"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00"/>
                                        <p:tgtEl>
                                          <p:spTgt spid="20"/>
                                        </p:tgtEl>
                                      </p:cBhvr>
                                    </p:animEffect>
                                  </p:childTnLst>
                                </p:cTn>
                              </p:par>
                              <p:par>
                                <p:cTn id="75" presetID="10" presetClass="entr" presetSubtype="0" fill="hold"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300"/>
                                        <p:tgtEl>
                                          <p:spTgt spid="21"/>
                                        </p:tgtEl>
                                      </p:cBhvr>
                                    </p:animEffect>
                                  </p:childTnLst>
                                </p:cTn>
                              </p:par>
                              <p:par>
                                <p:cTn id="79" presetID="10" presetClass="entr" presetSubtype="0"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300"/>
                                        <p:tgtEl>
                                          <p:spTgt spid="22"/>
                                        </p:tgtEl>
                                      </p:cBhvr>
                                    </p:animEffect>
                                  </p:childTnLst>
                                </p:cTn>
                              </p:par>
                              <p:par>
                                <p:cTn id="83" presetID="10"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300"/>
                                        <p:tgtEl>
                                          <p:spTgt spid="23"/>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300"/>
                                        <p:tgtEl>
                                          <p:spTgt spid="2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300"/>
                                        <p:tgtEl>
                                          <p:spTgt spid="28"/>
                                        </p:tgtEl>
                                      </p:cBhvr>
                                    </p:animEffect>
                                  </p:childTnLst>
                                </p:cTn>
                              </p:par>
                              <p:par>
                                <p:cTn id="103" presetID="1" presetClass="exit" presetSubtype="0" fill="hold" nodeType="withEffect">
                                  <p:stCondLst>
                                    <p:cond delay="0"/>
                                  </p:stCondLst>
                                  <p:childTnLst>
                                    <p:set>
                                      <p:cBhvr>
                                        <p:cTn id="104" dur="1" fill="hold">
                                          <p:stCondLst>
                                            <p:cond delay="0"/>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Đại hội VI (1986)</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214688" y="4543425"/>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00725" y="52006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91225" y="52006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24575" y="5200650"/>
            <a:ext cx="0" cy="5429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24575" y="57435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124575" y="58769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1534775" y="378618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1401425" y="378618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401425" y="3786188"/>
            <a:ext cx="0" cy="195738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401425" y="57435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125200" y="58769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692312" y="59626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1534775" y="68818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1401425" y="68818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1401425" y="6010275"/>
            <a:ext cx="0" cy="8715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1401425" y="58769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125200" y="58769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214688" y="5791200"/>
            <a:ext cx="0" cy="66675"/>
          </a:xfrm>
          <a:prstGeom prst="line">
            <a:avLst/>
          </a:prstGeom>
          <a:ln w="28575">
            <a:solidFill>
              <a:srgbClr val="6B6B6B"/>
            </a:solidFill>
            <a:prstDash val="sysDot"/>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66750" y="3838575"/>
            <a:ext cx="509587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Đường lối đổi mới toàn diện</a:t>
            </a:r>
          </a:p>
        </p:txBody>
      </p:sp>
      <p:sp>
        <p:nvSpPr>
          <p:cNvPr id="28" name="Rounded Rectangle 27"/>
          <p:cNvSpPr/>
          <p:nvPr/>
        </p:nvSpPr>
        <p:spPr>
          <a:xfrm>
            <a:off x="666750" y="4676775"/>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Phát huy dân chủ → tạo động lực mạnh mẽ cho phát triển</a:t>
            </a:r>
          </a:p>
        </p:txBody>
      </p:sp>
      <p:sp>
        <p:nvSpPr>
          <p:cNvPr id="29" name="Rounded Rectangle 28"/>
          <p:cNvSpPr/>
          <p:nvPr/>
        </p:nvSpPr>
        <p:spPr>
          <a:xfrm>
            <a:off x="666750" y="5895975"/>
            <a:ext cx="509587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vị trí của dân chủ </a:t>
            </a:r>
            <a:r>
              <a:rPr sz="2137" b="1" i="0">
                <a:solidFill>
                  <a:srgbClr val="1F3A5F"/>
                </a:solidFill>
                <a:latin typeface="Arial"/>
              </a:rPr>
              <a:t>CHƯA</a:t>
            </a:r>
            <a:r>
              <a:rPr sz="2137" b="0" i="0">
                <a:solidFill>
                  <a:srgbClr val="1F3A5F"/>
                </a:solidFill>
                <a:latin typeface="Arial"/>
              </a:rPr>
              <a:t> được xác định</a:t>
            </a:r>
          </a:p>
        </p:txBody>
      </p:sp>
      <p:sp>
        <p:nvSpPr>
          <p:cNvPr id="30" name="Rounded Rectangle 29"/>
          <p:cNvSpPr/>
          <p:nvPr/>
        </p:nvSpPr>
        <p:spPr>
          <a:xfrm>
            <a:off x="6467475" y="4267200"/>
            <a:ext cx="4591050" cy="7905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So với trước: dân chủ được gọi tên là gì?</a:t>
            </a:r>
          </a:p>
        </p:txBody>
      </p:sp>
      <p:sp>
        <p:nvSpPr>
          <p:cNvPr id="31" name="Rounded Rectangle 30"/>
          <p:cNvSpPr/>
          <p:nvPr/>
        </p:nvSpPr>
        <p:spPr>
          <a:xfrm>
            <a:off x="6467475" y="5219700"/>
            <a:ext cx="4591050" cy="1314450"/>
          </a:xfrm>
          <a:prstGeom prst="roundRect">
            <a:avLst>
              <a:gd name="adj" fmla="val 17391"/>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 ĐỘNG LỰC · Lấy dân làm gốc</a:t>
            </a:r>
          </a:p>
        </p:txBody>
      </p:sp>
      <p:sp>
        <p:nvSpPr>
          <p:cNvPr id="32" name="Rounded Rectangle 31"/>
          <p:cNvSpPr/>
          <p:nvPr/>
        </p:nvSpPr>
        <p:spPr>
          <a:xfrm>
            <a:off x="6467475" y="5219700"/>
            <a:ext cx="4591050" cy="1314450"/>
          </a:xfrm>
          <a:prstGeom prst="roundRect">
            <a:avLst>
              <a:gd name="adj" fmla="val 17391"/>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3" name="Rounded Rectangular Callout 32"/>
          <p:cNvSpPr/>
          <p:nvPr/>
        </p:nvSpPr>
        <p:spPr>
          <a:xfrm>
            <a:off x="11763375" y="3000375"/>
            <a:ext cx="5857875" cy="1571625"/>
          </a:xfrm>
          <a:prstGeom prst="wedgeRoundRectCallout">
            <a:avLst>
              <a:gd name="adj1" fmla="val -41544"/>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“…quán triệt tư tưởng ‘lấy dân làm gốc’, xây dựng và phát huy quyền làm chủ của nhân dân lao động”</a:t>
            </a:r>
          </a:p>
        </p:txBody>
      </p:sp>
      <p:sp>
        <p:nvSpPr>
          <p:cNvPr id="34" name="Rounded Rectangle 33"/>
          <p:cNvSpPr/>
          <p:nvPr/>
        </p:nvSpPr>
        <p:spPr>
          <a:xfrm>
            <a:off x="11991975" y="2857500"/>
            <a:ext cx="1190625"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VI</a:t>
            </a:r>
          </a:p>
        </p:txBody>
      </p:sp>
      <p:sp>
        <p:nvSpPr>
          <p:cNvPr id="35" name="Rounded Rectangle 34"/>
          <p:cNvSpPr/>
          <p:nvPr/>
        </p:nvSpPr>
        <p:spPr>
          <a:xfrm>
            <a:off x="11763375" y="4876800"/>
            <a:ext cx="5857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Bài học: “cách mạng là sự nghiệp của quần chúng”</a:t>
            </a:r>
          </a:p>
        </p:txBody>
      </p:sp>
      <p:sp>
        <p:nvSpPr>
          <p:cNvPr id="36" name="Rounded Rectangular Callout 35"/>
          <p:cNvSpPr/>
          <p:nvPr/>
        </p:nvSpPr>
        <p:spPr>
          <a:xfrm>
            <a:off x="11763375" y="6096000"/>
            <a:ext cx="5857875" cy="1571625"/>
          </a:xfrm>
          <a:prstGeom prst="wedgeRoundRectCallout">
            <a:avLst>
              <a:gd name="adj1" fmla="val -41544"/>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“ở đâu, nhân dân lao động có ý thức làm chủ và được làm chủ thật sự, thì ở đấy xuất hiện phong trào cách mạng”</a:t>
            </a:r>
          </a:p>
        </p:txBody>
      </p:sp>
      <p:sp>
        <p:nvSpPr>
          <p:cNvPr id="37" name="Rounded Rectangle 36"/>
          <p:cNvSpPr/>
          <p:nvPr/>
        </p:nvSpPr>
        <p:spPr>
          <a:xfrm>
            <a:off x="11991975" y="5953125"/>
            <a:ext cx="1190625"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VI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300"/>
                                        <p:tgtEl>
                                          <p:spTgt spid="27"/>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300"/>
                                        <p:tgtEl>
                                          <p:spTgt spid="28"/>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par>
                                <p:cTn id="19" presetID="10"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3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3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30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3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00"/>
                                        <p:tgtEl>
                                          <p:spTgt spid="33"/>
                                        </p:tgtEl>
                                      </p:cBhvr>
                                    </p:animEffect>
                                  </p:childTnLst>
                                </p:cTn>
                              </p:par>
                              <p:par>
                                <p:cTn id="45" presetID="10" presetClass="entr" presetSubtype="0" fill="hold"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30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300"/>
                                        <p:tgtEl>
                                          <p:spTgt spid="15"/>
                                        </p:tgtEl>
                                      </p:cBhvr>
                                    </p:animEffect>
                                  </p:childTnLst>
                                </p:cTn>
                              </p:par>
                              <p:par>
                                <p:cTn id="53" presetID="10"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300"/>
                                        <p:tgtEl>
                                          <p:spTgt spid="16"/>
                                        </p:tgtEl>
                                      </p:cBhvr>
                                    </p:animEffect>
                                  </p:childTnLst>
                                </p:cTn>
                              </p:par>
                              <p:par>
                                <p:cTn id="57" presetID="10" presetClass="entr" presetSubtype="0"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300"/>
                                        <p:tgtEl>
                                          <p:spTgt spid="17"/>
                                        </p:tgtEl>
                                      </p:cBhvr>
                                    </p:animEffect>
                                  </p:childTnLst>
                                </p:cTn>
                              </p:par>
                              <p:par>
                                <p:cTn id="61" presetID="10" presetClass="entr" presetSubtype="0" fill="hold"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300"/>
                                        <p:tgtEl>
                                          <p:spTgt spid="18"/>
                                        </p:tgtEl>
                                      </p:cBhvr>
                                    </p:animEffect>
                                  </p:childTnLst>
                                </p:cTn>
                              </p:par>
                              <p:par>
                                <p:cTn id="65" presetID="10" presetClass="entr" presetSubtype="0" fill="hold"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300"/>
                                        <p:tgtEl>
                                          <p:spTgt spid="19"/>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300"/>
                                        <p:tgtEl>
                                          <p:spTgt spid="35"/>
                                        </p:tgtEl>
                                      </p:cBhvr>
                                    </p:animEffect>
                                  </p:childTnLst>
                                </p:cTn>
                              </p:par>
                              <p:par>
                                <p:cTn id="75" presetID="10" presetClass="entr" presetSubtype="0" fill="hold" nodeType="with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300"/>
                                        <p:tgtEl>
                                          <p:spTgt spid="36"/>
                                        </p:tgtEl>
                                      </p:cBhvr>
                                    </p:animEffect>
                                  </p:childTnLst>
                                </p:cTn>
                              </p:par>
                              <p:par>
                                <p:cTn id="79" presetID="10" presetClass="entr" presetSubtype="0" fill="hold" nodeType="with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300"/>
                                        <p:tgtEl>
                                          <p:spTgt spid="37"/>
                                        </p:tgtEl>
                                      </p:cBhvr>
                                    </p:animEffect>
                                  </p:childTnLst>
                                </p:cTn>
                              </p:par>
                              <p:par>
                                <p:cTn id="83" presetID="10" presetClass="entr" presetSubtype="0" fill="hold" nodeType="withEffect">
                                  <p:stCondLst>
                                    <p:cond delay="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300"/>
                                        <p:tgtEl>
                                          <p:spTgt spid="20"/>
                                        </p:tgtEl>
                                      </p:cBhvr>
                                    </p:animEffect>
                                  </p:childTnLst>
                                </p:cTn>
                              </p:par>
                              <p:par>
                                <p:cTn id="87" presetID="10" presetClass="entr" presetSubtype="0" fill="hold" nodeType="withEffect">
                                  <p:stCondLst>
                                    <p:cond delay="0"/>
                                  </p:stCondLst>
                                  <p:childTnLst>
                                    <p:set>
                                      <p:cBhvr>
                                        <p:cTn id="88" dur="1" fill="hold">
                                          <p:stCondLst>
                                            <p:cond delay="0"/>
                                          </p:stCondLst>
                                        </p:cTn>
                                        <p:tgtEl>
                                          <p:spTgt spid="21"/>
                                        </p:tgtEl>
                                        <p:attrNameLst>
                                          <p:attrName>style.visibility</p:attrName>
                                        </p:attrNameLst>
                                      </p:cBhvr>
                                      <p:to>
                                        <p:strVal val="visible"/>
                                      </p:to>
                                    </p:set>
                                    <p:animEffect transition="in" filter="fade">
                                      <p:cBhvr>
                                        <p:cTn id="89" dur="300"/>
                                        <p:tgtEl>
                                          <p:spTgt spid="21"/>
                                        </p:tgtEl>
                                      </p:cBhvr>
                                    </p:animEffect>
                                  </p:childTnLst>
                                </p:cTn>
                              </p:par>
                              <p:par>
                                <p:cTn id="91" presetID="10" presetClass="entr" presetSubtype="0" fill="hold" nodeType="withEffect">
                                  <p:stCondLst>
                                    <p:cond delay="0"/>
                                  </p:stCondLst>
                                  <p:childTnLst>
                                    <p:set>
                                      <p:cBhvr>
                                        <p:cTn id="92" dur="1" fill="hold">
                                          <p:stCondLst>
                                            <p:cond delay="0"/>
                                          </p:stCondLst>
                                        </p:cTn>
                                        <p:tgtEl>
                                          <p:spTgt spid="22"/>
                                        </p:tgtEl>
                                        <p:attrNameLst>
                                          <p:attrName>style.visibility</p:attrName>
                                        </p:attrNameLst>
                                      </p:cBhvr>
                                      <p:to>
                                        <p:strVal val="visible"/>
                                      </p:to>
                                    </p:set>
                                    <p:animEffect transition="in" filter="fade">
                                      <p:cBhvr>
                                        <p:cTn id="93" dur="300"/>
                                        <p:tgtEl>
                                          <p:spTgt spid="22"/>
                                        </p:tgtEl>
                                      </p:cBhvr>
                                    </p:animEffect>
                                  </p:childTnLst>
                                </p:cTn>
                              </p:par>
                              <p:par>
                                <p:cTn id="95" presetID="10" presetClass="entr" presetSubtype="0" fill="hold" nodeType="withEffect">
                                  <p:stCondLst>
                                    <p:cond delay="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300"/>
                                        <p:tgtEl>
                                          <p:spTgt spid="23"/>
                                        </p:tgtEl>
                                      </p:cBhvr>
                                    </p:animEffect>
                                  </p:childTnLst>
                                </p:cTn>
                              </p:par>
                              <p:par>
                                <p:cTn id="99" presetID="10" presetClass="entr" presetSubtype="0" fill="hold" nodeType="withEffect">
                                  <p:stCondLst>
                                    <p:cond delay="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300"/>
                                        <p:tgtEl>
                                          <p:spTgt spid="24"/>
                                        </p:tgtEl>
                                      </p:cBhvr>
                                    </p:animEffect>
                                  </p:childTnLst>
                                </p:cTn>
                              </p:par>
                              <p:par>
                                <p:cTn id="103" presetID="10"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300"/>
                                        <p:tgtEl>
                                          <p:spTgt spid="25"/>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29"/>
                                        </p:tgtEl>
                                        <p:attrNameLst>
                                          <p:attrName>style.visibility</p:attrName>
                                        </p:attrNameLst>
                                      </p:cBhvr>
                                      <p:to>
                                        <p:strVal val="visible"/>
                                      </p:to>
                                    </p:set>
                                    <p:animEffect transition="in" filter="fade">
                                      <p:cBhvr>
                                        <p:cTn id="111" dur="300"/>
                                        <p:tgtEl>
                                          <p:spTgt spid="29"/>
                                        </p:tgtEl>
                                      </p:cBhvr>
                                    </p:animEffect>
                                  </p:childTnLst>
                                </p:cTn>
                              </p:par>
                              <p:par>
                                <p:cTn id="113" presetID="10" presetClass="entr" presetSubtype="0" fill="hold" nodeType="withEffect">
                                  <p:stCondLst>
                                    <p:cond delay="0"/>
                                  </p:stCondLst>
                                  <p:childTnLst>
                                    <p:set>
                                      <p:cBhvr>
                                        <p:cTn id="114" dur="1" fill="hold">
                                          <p:stCondLst>
                                            <p:cond delay="0"/>
                                          </p:stCondLst>
                                        </p:cTn>
                                        <p:tgtEl>
                                          <p:spTgt spid="30"/>
                                        </p:tgtEl>
                                        <p:attrNameLst>
                                          <p:attrName>style.visibility</p:attrName>
                                        </p:attrNameLst>
                                      </p:cBhvr>
                                      <p:to>
                                        <p:strVal val="visible"/>
                                      </p:to>
                                    </p:set>
                                    <p:animEffect transition="in" filter="fade">
                                      <p:cBhvr>
                                        <p:cTn id="115" dur="300"/>
                                        <p:tgtEl>
                                          <p:spTgt spid="30"/>
                                        </p:tgtEl>
                                      </p:cBhvr>
                                    </p:animEffect>
                                  </p:childTnLst>
                                </p:cTn>
                              </p:par>
                              <p:par>
                                <p:cTn id="117" presetID="10" presetClass="entr" presetSubtype="0" fill="hold" nodeType="withEffect">
                                  <p:stCondLst>
                                    <p:cond delay="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300"/>
                                        <p:tgtEl>
                                          <p:spTgt spid="26"/>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fade">
                                      <p:cBhvr>
                                        <p:cTn id="125" dur="300"/>
                                        <p:tgtEl>
                                          <p:spTgt spid="31"/>
                                        </p:tgtEl>
                                      </p:cBhvr>
                                    </p:animEffect>
                                  </p:childTnLst>
                                </p:cTn>
                              </p:par>
                              <p:par>
                                <p:cTn id="127" presetID="1" presetClass="exit" presetSubtype="0" fill="hold" nodeType="withEffect">
                                  <p:stCondLst>
                                    <p:cond delay="0"/>
                                  </p:stCondLst>
                                  <p:childTnLst>
                                    <p:set>
                                      <p:cBhvr>
                                        <p:cTn id="128" dur="1" fill="hold">
                                          <p:stCondLst>
                                            <p:cond delay="0"/>
                                          </p:stCondLst>
                                        </p:cTn>
                                        <p:tgtEl>
                                          <p:spTgt spid="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Qua mỗi kỳ đại hội thời kỳ đổi mới</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533775" y="4033838"/>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067550" y="4033838"/>
            <a:ext cx="166688"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34238" y="4033838"/>
            <a:ext cx="33337"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7267575" y="4000500"/>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267575" y="3967162"/>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267575" y="3967162"/>
            <a:ext cx="400050"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601325" y="3967162"/>
            <a:ext cx="2762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877550" y="3967162"/>
            <a:ext cx="33338"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910888" y="3967162"/>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910888" y="4000500"/>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910888" y="4033838"/>
            <a:ext cx="280987"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25575" y="4033838"/>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6206788" y="5362575"/>
            <a:ext cx="0" cy="10477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6206788" y="64103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9224962" y="6543675"/>
            <a:ext cx="6981826"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144000" y="65436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144000" y="65436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800850" y="5543550"/>
            <a:ext cx="0" cy="123825"/>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800850" y="5419725"/>
            <a:ext cx="0" cy="123825"/>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800850" y="5419725"/>
            <a:ext cx="2238375"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39225" y="5419725"/>
            <a:ext cx="109537"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9148762" y="5200650"/>
            <a:ext cx="0" cy="219075"/>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973050" y="6048375"/>
            <a:ext cx="528638"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501688" y="6048375"/>
            <a:ext cx="133350"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3635038" y="4167188"/>
            <a:ext cx="0" cy="1881187"/>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3635038" y="4033838"/>
            <a:ext cx="0" cy="13335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3635038" y="4033838"/>
            <a:ext cx="1090612"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6750" y="3124200"/>
            <a:ext cx="282892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Đặc trưng của CNXH Việt Nam: do nhân dân làm chủ</a:t>
            </a:r>
          </a:p>
        </p:txBody>
      </p:sp>
      <p:sp>
        <p:nvSpPr>
          <p:cNvPr id="37" name="Rounded Rectangle 36"/>
          <p:cNvSpPr/>
          <p:nvPr/>
        </p:nvSpPr>
        <p:spPr>
          <a:xfrm>
            <a:off x="4200525" y="2933700"/>
            <a:ext cx="28289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Mục tiêu tổng quát: Dân giàu, nước mạnh, </a:t>
            </a:r>
            <a:r>
              <a:rPr sz="2137" b="1" i="0">
                <a:solidFill>
                  <a:srgbClr val="8C2F2B"/>
                </a:solidFill>
                <a:latin typeface="Arial"/>
              </a:rPr>
              <a:t>DÂN CHỦ</a:t>
            </a:r>
            <a:r>
              <a:rPr sz="2137" b="0" i="0">
                <a:solidFill>
                  <a:srgbClr val="2B2622"/>
                </a:solidFill>
                <a:latin typeface="Arial"/>
              </a:rPr>
              <a:t>, công bằng, văn minh</a:t>
            </a:r>
          </a:p>
        </p:txBody>
      </p:sp>
      <p:sp>
        <p:nvSpPr>
          <p:cNvPr id="38" name="Rounded Rectangular Callout 37"/>
          <p:cNvSpPr/>
          <p:nvPr/>
        </p:nvSpPr>
        <p:spPr>
          <a:xfrm>
            <a:off x="7734300" y="2800350"/>
            <a:ext cx="2828925" cy="2333625"/>
          </a:xfrm>
          <a:prstGeom prst="wedgeRoundRectCallout">
            <a:avLst>
              <a:gd name="adj1" fmla="val -32491"/>
              <a:gd name="adj2" fmla="val 56530"/>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“Dân chủ XHCN là bản chất của chế độ ta, vừa là mục tiêu, vừa là động lực…”</a:t>
            </a:r>
          </a:p>
        </p:txBody>
      </p:sp>
      <p:sp>
        <p:nvSpPr>
          <p:cNvPr id="39" name="Rounded Rectangle 38"/>
          <p:cNvSpPr/>
          <p:nvPr/>
        </p:nvSpPr>
        <p:spPr>
          <a:xfrm>
            <a:off x="7962900" y="2657475"/>
            <a:ext cx="64770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Đảng</a:t>
            </a:r>
          </a:p>
        </p:txBody>
      </p:sp>
      <p:sp>
        <p:nvSpPr>
          <p:cNvPr id="40" name="Rounded Rectangle 39"/>
          <p:cNvSpPr/>
          <p:nvPr/>
        </p:nvSpPr>
        <p:spPr>
          <a:xfrm>
            <a:off x="11258550" y="3314700"/>
            <a:ext cx="282892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Thực hiện ở mỗi cấp, trên tất cả các lĩnh vực</a:t>
            </a:r>
          </a:p>
        </p:txBody>
      </p:sp>
      <p:sp>
        <p:nvSpPr>
          <p:cNvPr id="41" name="Rounded Rectangle 40"/>
          <p:cNvSpPr/>
          <p:nvPr/>
        </p:nvSpPr>
        <p:spPr>
          <a:xfrm>
            <a:off x="14792325" y="2743200"/>
            <a:ext cx="2828925"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Gắn liền với kỷ luật, kỷ cương; thể chế hóa bằng pháp luật, được pháp luật bảo đảm</a:t>
            </a:r>
          </a:p>
        </p:txBody>
      </p:sp>
      <p:sp>
        <p:nvSpPr>
          <p:cNvPr id="42" name="Rounded Rectangle 41"/>
          <p:cNvSpPr/>
          <p:nvPr/>
        </p:nvSpPr>
        <p:spPr>
          <a:xfrm>
            <a:off x="666750" y="5705475"/>
            <a:ext cx="12268200"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bản chất dân chủ </a:t>
            </a:r>
            <a:r>
              <a:rPr sz="2137" b="1" i="0">
                <a:solidFill>
                  <a:srgbClr val="1F3A5F"/>
                </a:solidFill>
                <a:latin typeface="Arial"/>
              </a:rPr>
              <a:t>CHƯA</a:t>
            </a:r>
            <a:r>
              <a:rPr sz="2137" b="0" i="0">
                <a:solidFill>
                  <a:srgbClr val="1F3A5F"/>
                </a:solidFill>
                <a:latin typeface="Arial"/>
              </a:rPr>
              <a:t> xác định · </a:t>
            </a:r>
            <a:r>
              <a:rPr sz="2137" b="1" i="0">
                <a:solidFill>
                  <a:srgbClr val="1F3A5F"/>
                </a:solidFill>
                <a:latin typeface="Arial"/>
              </a:rPr>
              <a:t>CHƯA</a:t>
            </a:r>
            <a:r>
              <a:rPr sz="2137" b="0" i="0">
                <a:solidFill>
                  <a:srgbClr val="1F3A5F"/>
                </a:solidFill>
                <a:latin typeface="Arial"/>
              </a:rPr>
              <a:t> gắn với pháp luật</a:t>
            </a:r>
          </a:p>
        </p:txBody>
      </p:sp>
      <p:sp>
        <p:nvSpPr>
          <p:cNvPr id="43" name="Rounded Rectangle 42"/>
          <p:cNvSpPr/>
          <p:nvPr/>
        </p:nvSpPr>
        <p:spPr>
          <a:xfrm>
            <a:off x="666750" y="6772275"/>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ngày càng được nhận thức, phát triển, hoàn thiện đúng đắn, phù hợp hơn</a:t>
            </a:r>
          </a:p>
        </p:txBody>
      </p:sp>
      <p:sp>
        <p:nvSpPr>
          <p:cNvPr id="44" name="Rounded Rectangle 43"/>
          <p:cNvSpPr/>
          <p:nvPr/>
        </p:nvSpPr>
        <p:spPr>
          <a:xfrm>
            <a:off x="666750" y="6772275"/>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300"/>
                                        <p:tgtEl>
                                          <p:spTgt spid="36"/>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7"/>
                                        </p:tgtEl>
                                        <p:attrNameLst>
                                          <p:attrName>style.visibility</p:attrName>
                                        </p:attrNameLst>
                                      </p:cBhvr>
                                      <p:to>
                                        <p:strVal val="visible"/>
                                      </p:to>
                                    </p:set>
                                    <p:animEffect transition="in" filter="fade">
                                      <p:cBhvr>
                                        <p:cTn id="13" dur="300"/>
                                        <p:tgtEl>
                                          <p:spTgt spid="37"/>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00"/>
                                        <p:tgtEl>
                                          <p:spTgt spid="38"/>
                                        </p:tgtEl>
                                      </p:cBhvr>
                                    </p:animEffect>
                                  </p:childTnLst>
                                </p:cTn>
                              </p:par>
                              <p:par>
                                <p:cTn id="25" presetID="10" presetClass="entr" presetSubtype="0" fill="hold" nodeType="with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3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00"/>
                                        <p:tgtEl>
                                          <p:spTgt spid="10"/>
                                        </p:tgtEl>
                                      </p:cBhvr>
                                    </p:animEffect>
                                  </p:childTnLst>
                                </p:cTn>
                              </p:par>
                              <p:par>
                                <p:cTn id="33" presetID="10"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00"/>
                                        <p:tgtEl>
                                          <p:spTgt spid="11"/>
                                        </p:tgtEl>
                                      </p:cBhvr>
                                    </p:animEffect>
                                  </p:childTnLst>
                                </p:cTn>
                              </p:par>
                              <p:par>
                                <p:cTn id="37" presetID="10" presetClass="entr" presetSubtype="0"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3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3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300"/>
                                        <p:tgtEl>
                                          <p:spTgt spid="1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300"/>
                                        <p:tgtEl>
                                          <p:spTgt spid="40"/>
                                        </p:tgtEl>
                                      </p:cBhvr>
                                    </p:animEffect>
                                  </p:childTnLst>
                                </p:cTn>
                              </p:par>
                              <p:par>
                                <p:cTn id="55" presetID="10" presetClass="entr" presetSubtype="0"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300"/>
                                        <p:tgtEl>
                                          <p:spTgt spid="15"/>
                                        </p:tgtEl>
                                      </p:cBhvr>
                                    </p:animEffect>
                                  </p:childTnLst>
                                </p:cTn>
                              </p:par>
                              <p:par>
                                <p:cTn id="59" presetID="10"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300"/>
                                        <p:tgtEl>
                                          <p:spTgt spid="16"/>
                                        </p:tgtEl>
                                      </p:cBhvr>
                                    </p:animEffect>
                                  </p:childTnLst>
                                </p:cTn>
                              </p:par>
                              <p:par>
                                <p:cTn id="63" presetID="10"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300"/>
                                        <p:tgtEl>
                                          <p:spTgt spid="17"/>
                                        </p:tgtEl>
                                      </p:cBhvr>
                                    </p:animEffect>
                                  </p:childTnLst>
                                </p:cTn>
                              </p:par>
                              <p:par>
                                <p:cTn id="67" presetID="10"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300"/>
                                        <p:tgtEl>
                                          <p:spTgt spid="18"/>
                                        </p:tgtEl>
                                      </p:cBhvr>
                                    </p:animEffect>
                                  </p:childTnLst>
                                </p:cTn>
                              </p:par>
                              <p:par>
                                <p:cTn id="71" presetID="10" presetClass="entr" presetSubtype="0" fill="hold" nodeType="with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300"/>
                                        <p:tgtEl>
                                          <p:spTgt spid="1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300"/>
                                        <p:tgtEl>
                                          <p:spTgt spid="41"/>
                                        </p:tgtEl>
                                      </p:cBhvr>
                                    </p:animEffect>
                                  </p:childTnLst>
                                </p:cTn>
                              </p:par>
                              <p:par>
                                <p:cTn id="81" presetID="10" presetClass="entr" presetSubtype="0" fill="hold" nodeType="withEffect">
                                  <p:stCondLst>
                                    <p:cond delay="0"/>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00"/>
                                        <p:tgtEl>
                                          <p:spTgt spid="20"/>
                                        </p:tgtEl>
                                      </p:cBhvr>
                                    </p:animEffect>
                                  </p:childTnLst>
                                </p:cTn>
                              </p:par>
                              <p:par>
                                <p:cTn id="85" presetID="10" presetClass="entr" presetSubtype="0" fill="hold" nodeType="withEffect">
                                  <p:stCondLst>
                                    <p:cond delay="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00"/>
                                        <p:tgtEl>
                                          <p:spTgt spid="21"/>
                                        </p:tgtEl>
                                      </p:cBhvr>
                                    </p:animEffect>
                                  </p:childTnLst>
                                </p:cTn>
                              </p:par>
                              <p:par>
                                <p:cTn id="89" presetID="10" presetClass="entr" presetSubtype="0" fill="hold" nodeType="withEffect">
                                  <p:stCondLst>
                                    <p:cond delay="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00"/>
                                        <p:tgtEl>
                                          <p:spTgt spid="22"/>
                                        </p:tgtEl>
                                      </p:cBhvr>
                                    </p:animEffect>
                                  </p:childTnLst>
                                </p:cTn>
                              </p:par>
                              <p:par>
                                <p:cTn id="93" presetID="10"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00"/>
                                        <p:tgtEl>
                                          <p:spTgt spid="23"/>
                                        </p:tgtEl>
                                      </p:cBhvr>
                                    </p:animEffect>
                                  </p:childTnLst>
                                </p:cTn>
                              </p:par>
                              <p:par>
                                <p:cTn id="97" presetID="10" presetClass="entr" presetSubtype="0"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00"/>
                                        <p:tgtEl>
                                          <p:spTgt spid="24"/>
                                        </p:tgtEl>
                                      </p:cBhvr>
                                    </p:animEffect>
                                  </p:childTnLst>
                                </p:cTn>
                              </p:par>
                              <p:par>
                                <p:cTn id="101" presetID="10" presetClass="entr" presetSubtype="0"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00"/>
                                        <p:tgtEl>
                                          <p:spTgt spid="25"/>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42"/>
                                        </p:tgtEl>
                                        <p:attrNameLst>
                                          <p:attrName>style.visibility</p:attrName>
                                        </p:attrNameLst>
                                      </p:cBhvr>
                                      <p:to>
                                        <p:strVal val="visible"/>
                                      </p:to>
                                    </p:set>
                                    <p:animEffect transition="in" filter="fade">
                                      <p:cBhvr>
                                        <p:cTn id="109" dur="300"/>
                                        <p:tgtEl>
                                          <p:spTgt spid="42"/>
                                        </p:tgtEl>
                                      </p:cBhvr>
                                    </p:animEffect>
                                  </p:childTnLst>
                                </p:cTn>
                              </p:par>
                              <p:par>
                                <p:cTn id="111" presetID="10" presetClass="entr" presetSubtype="0" fill="hold" nodeType="withEffect">
                                  <p:stCondLst>
                                    <p:cond delay="0"/>
                                  </p:stCondLst>
                                  <p:childTnLst>
                                    <p:set>
                                      <p:cBhvr>
                                        <p:cTn id="112" dur="1" fill="hold">
                                          <p:stCondLst>
                                            <p:cond delay="0"/>
                                          </p:stCondLst>
                                        </p:cTn>
                                        <p:tgtEl>
                                          <p:spTgt spid="26"/>
                                        </p:tgtEl>
                                        <p:attrNameLst>
                                          <p:attrName>style.visibility</p:attrName>
                                        </p:attrNameLst>
                                      </p:cBhvr>
                                      <p:to>
                                        <p:strVal val="visible"/>
                                      </p:to>
                                    </p:set>
                                    <p:animEffect transition="in" filter="fade">
                                      <p:cBhvr>
                                        <p:cTn id="113" dur="300"/>
                                        <p:tgtEl>
                                          <p:spTgt spid="26"/>
                                        </p:tgtEl>
                                      </p:cBhvr>
                                    </p:animEffect>
                                  </p:childTnLst>
                                </p:cTn>
                              </p:par>
                              <p:par>
                                <p:cTn id="115" presetID="10" presetClass="entr" presetSubtype="0" fill="hold" nodeType="withEffect">
                                  <p:stCondLst>
                                    <p:cond delay="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300"/>
                                        <p:tgtEl>
                                          <p:spTgt spid="27"/>
                                        </p:tgtEl>
                                      </p:cBhvr>
                                    </p:animEffect>
                                  </p:childTnLst>
                                </p:cTn>
                              </p:par>
                              <p:par>
                                <p:cTn id="119" presetID="10" presetClass="entr" presetSubtype="0" fill="hold" nodeType="with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fade">
                                      <p:cBhvr>
                                        <p:cTn id="121" dur="300"/>
                                        <p:tgtEl>
                                          <p:spTgt spid="28"/>
                                        </p:tgtEl>
                                      </p:cBhvr>
                                    </p:animEffect>
                                  </p:childTnLst>
                                </p:cTn>
                              </p:par>
                              <p:par>
                                <p:cTn id="123" presetID="10"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300"/>
                                        <p:tgtEl>
                                          <p:spTgt spid="29"/>
                                        </p:tgtEl>
                                      </p:cBhvr>
                                    </p:animEffect>
                                  </p:childTnLst>
                                </p:cTn>
                              </p:par>
                              <p:par>
                                <p:cTn id="127" presetID="10" presetClass="entr" presetSubtype="0" fill="hold" nodeType="withEffect">
                                  <p:stCondLst>
                                    <p:cond delay="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300"/>
                                        <p:tgtEl>
                                          <p:spTgt spid="30"/>
                                        </p:tgtEl>
                                      </p:cBhvr>
                                    </p:animEffect>
                                  </p:childTnLst>
                                </p:cTn>
                              </p:par>
                              <p:par>
                                <p:cTn id="131" presetID="10" presetClass="entr" presetSubtype="0" fill="hold" nodeType="with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fade">
                                      <p:cBhvr>
                                        <p:cTn id="133" dur="300"/>
                                        <p:tgtEl>
                                          <p:spTgt spid="31"/>
                                        </p:tgtEl>
                                      </p:cBhvr>
                                    </p:animEffect>
                                  </p:childTnLst>
                                </p:cTn>
                              </p:par>
                              <p:par>
                                <p:cTn id="135" presetID="10" presetClass="entr" presetSubtype="0" fill="hold" nodeType="withEffect">
                                  <p:stCondLst>
                                    <p:cond delay="0"/>
                                  </p:stCondLst>
                                  <p:childTnLst>
                                    <p:set>
                                      <p:cBhvr>
                                        <p:cTn id="136" dur="1" fill="hold">
                                          <p:stCondLst>
                                            <p:cond delay="0"/>
                                          </p:stCondLst>
                                        </p:cTn>
                                        <p:tgtEl>
                                          <p:spTgt spid="32"/>
                                        </p:tgtEl>
                                        <p:attrNameLst>
                                          <p:attrName>style.visibility</p:attrName>
                                        </p:attrNameLst>
                                      </p:cBhvr>
                                      <p:to>
                                        <p:strVal val="visible"/>
                                      </p:to>
                                    </p:set>
                                    <p:animEffect transition="in" filter="fade">
                                      <p:cBhvr>
                                        <p:cTn id="137" dur="300"/>
                                        <p:tgtEl>
                                          <p:spTgt spid="32"/>
                                        </p:tgtEl>
                                      </p:cBhvr>
                                    </p:animEffect>
                                  </p:childTnLst>
                                </p:cTn>
                              </p:par>
                              <p:par>
                                <p:cTn id="139" presetID="10" presetClass="entr" presetSubtype="0" fill="hold" nodeType="withEffect">
                                  <p:stCondLst>
                                    <p:cond delay="0"/>
                                  </p:stCondLst>
                                  <p:childTnLst>
                                    <p:set>
                                      <p:cBhvr>
                                        <p:cTn id="140" dur="1" fill="hold">
                                          <p:stCondLst>
                                            <p:cond delay="0"/>
                                          </p:stCondLst>
                                        </p:cTn>
                                        <p:tgtEl>
                                          <p:spTgt spid="33"/>
                                        </p:tgtEl>
                                        <p:attrNameLst>
                                          <p:attrName>style.visibility</p:attrName>
                                        </p:attrNameLst>
                                      </p:cBhvr>
                                      <p:to>
                                        <p:strVal val="visible"/>
                                      </p:to>
                                    </p:set>
                                    <p:animEffect transition="in" filter="fade">
                                      <p:cBhvr>
                                        <p:cTn id="141" dur="300"/>
                                        <p:tgtEl>
                                          <p:spTgt spid="33"/>
                                        </p:tgtEl>
                                      </p:cBhvr>
                                    </p:animEffect>
                                  </p:childTnLst>
                                </p:cTn>
                              </p:par>
                              <p:par>
                                <p:cTn id="143" presetID="10" presetClass="entr" presetSubtype="0" fill="hold" nodeType="withEffect">
                                  <p:stCondLst>
                                    <p:cond delay="0"/>
                                  </p:stCondLst>
                                  <p:childTnLst>
                                    <p:set>
                                      <p:cBhvr>
                                        <p:cTn id="144" dur="1" fill="hold">
                                          <p:stCondLst>
                                            <p:cond delay="0"/>
                                          </p:stCondLst>
                                        </p:cTn>
                                        <p:tgtEl>
                                          <p:spTgt spid="34"/>
                                        </p:tgtEl>
                                        <p:attrNameLst>
                                          <p:attrName>style.visibility</p:attrName>
                                        </p:attrNameLst>
                                      </p:cBhvr>
                                      <p:to>
                                        <p:strVal val="visible"/>
                                      </p:to>
                                    </p:set>
                                    <p:animEffect transition="in" filter="fade">
                                      <p:cBhvr>
                                        <p:cTn id="145" dur="300"/>
                                        <p:tgtEl>
                                          <p:spTgt spid="34"/>
                                        </p:tgtEl>
                                      </p:cBhvr>
                                    </p:animEffect>
                                  </p:childTnLst>
                                </p:cTn>
                              </p:par>
                              <p:par>
                                <p:cTn id="147" presetID="10" presetClass="entr" presetSubtype="0" fill="hold" nodeType="withEffect">
                                  <p:stCondLst>
                                    <p:cond delay="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300"/>
                                        <p:tgtEl>
                                          <p:spTgt spid="35"/>
                                        </p:tgtEl>
                                      </p:cBhvr>
                                    </p:animEffect>
                                  </p:childTnLst>
                                </p:cTn>
                              </p:par>
                            </p:childTnLst>
                          </p:cTn>
                        </p:par>
                      </p:childTnLst>
                    </p:cTn>
                  </p:par>
                  <p:par>
                    <p:cTn id="151" fill="hold">
                      <p:stCondLst>
                        <p:cond delay="indefinite"/>
                      </p:stCondLst>
                      <p:childTnLst>
                        <p:par>
                          <p:cTn id="152" fill="hold">
                            <p:stCondLst>
                              <p:cond delay="0"/>
                            </p:stCondLst>
                            <p:childTnLst>
                              <p:par>
                                <p:cTn id="153" presetID="10" presetClass="entr" presetSubtype="0" fill="hold" nodeType="clickEffect">
                                  <p:stCondLst>
                                    <p:cond delay="0"/>
                                  </p:stCondLst>
                                  <p:childTnLst>
                                    <p:set>
                                      <p:cBhvr>
                                        <p:cTn id="154" dur="1" fill="hold">
                                          <p:stCondLst>
                                            <p:cond delay="0"/>
                                          </p:stCondLst>
                                        </p:cTn>
                                        <p:tgtEl>
                                          <p:spTgt spid="43"/>
                                        </p:tgtEl>
                                        <p:attrNameLst>
                                          <p:attrName>style.visibility</p:attrName>
                                        </p:attrNameLst>
                                      </p:cBhvr>
                                      <p:to>
                                        <p:strVal val="visible"/>
                                      </p:to>
                                    </p:set>
                                    <p:animEffect transition="in" filter="fade">
                                      <p:cBhvr>
                                        <p:cTn id="155" dur="300"/>
                                        <p:tgtEl>
                                          <p:spTgt spid="43"/>
                                        </p:tgtEl>
                                      </p:cBhvr>
                                    </p:animEffect>
                                  </p:childTnLst>
                                </p:cTn>
                              </p:par>
                              <p:par>
                                <p:cTn id="157" presetID="1" presetClass="exit" presetSubtype="0" fill="hold" nodeType="withEffect">
                                  <p:stCondLst>
                                    <p:cond delay="0"/>
                                  </p:stCondLst>
                                  <p:childTnLst>
                                    <p:set>
                                      <p:cBhvr>
                                        <p:cTn id="158"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“Nước ta là nước dân chủ” — Hồ Chí Minh</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972175" y="26765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62675" y="26765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96025" y="2676525"/>
            <a:ext cx="0" cy="29194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72175" y="37814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162675" y="37814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96025" y="3781425"/>
            <a:ext cx="0" cy="18145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72175" y="50863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62675" y="50863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296025" y="5086350"/>
            <a:ext cx="0" cy="5095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72175" y="65722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62675" y="65722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296025" y="5862638"/>
            <a:ext cx="0" cy="7096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29602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125325" y="32289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991975" y="32289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991975" y="3228975"/>
            <a:ext cx="0" cy="2366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125325" y="47244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991975" y="47244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991975" y="4724400"/>
            <a:ext cx="0" cy="8715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2125325" y="62103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991975" y="62103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91975" y="5862638"/>
            <a:ext cx="0" cy="3476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99197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ular Callout 43"/>
          <p:cNvSpPr/>
          <p:nvPr/>
        </p:nvSpPr>
        <p:spPr>
          <a:xfrm>
            <a:off x="666750" y="2085975"/>
            <a:ext cx="5267325" cy="800100"/>
          </a:xfrm>
          <a:prstGeom prst="wedgeRoundRectCallout">
            <a:avLst>
              <a:gd name="adj1" fmla="val -40596"/>
              <a:gd name="adj2" fmla="val 69047"/>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lợi ích đều vì </a:t>
            </a:r>
            <a:r>
              <a:rPr sz="2137" b="1" i="1">
                <a:solidFill>
                  <a:srgbClr val="8C2F2B"/>
                </a:solidFill>
                <a:latin typeface="Georgia"/>
              </a:rPr>
              <a:t>……………</a:t>
            </a:r>
          </a:p>
        </p:txBody>
      </p:sp>
      <p:sp>
        <p:nvSpPr>
          <p:cNvPr id="45" name="Rounded Rectangle 44"/>
          <p:cNvSpPr/>
          <p:nvPr/>
        </p:nvSpPr>
        <p:spPr>
          <a:xfrm>
            <a:off x="895350" y="19431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46" name="Rounded Rectangular Callout 45"/>
          <p:cNvSpPr/>
          <p:nvPr/>
        </p:nvSpPr>
        <p:spPr>
          <a:xfrm>
            <a:off x="666750" y="319087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quyền hạn đều của </a:t>
            </a:r>
            <a:r>
              <a:rPr sz="2137" b="1" i="1">
                <a:solidFill>
                  <a:srgbClr val="8C2F2B"/>
                </a:solidFill>
                <a:latin typeface="Georgia"/>
              </a:rPr>
              <a:t>……………</a:t>
            </a:r>
          </a:p>
        </p:txBody>
      </p:sp>
      <p:sp>
        <p:nvSpPr>
          <p:cNvPr id="47" name="Rounded Rectangle 46"/>
          <p:cNvSpPr/>
          <p:nvPr/>
        </p:nvSpPr>
        <p:spPr>
          <a:xfrm>
            <a:off x="895350" y="30480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48" name="Rounded Rectangular Callout 47"/>
          <p:cNvSpPr/>
          <p:nvPr/>
        </p:nvSpPr>
        <p:spPr>
          <a:xfrm>
            <a:off x="666750" y="46863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Công cuộc đổi mới, xây dựng là trách nhiệm của </a:t>
            </a:r>
            <a:r>
              <a:rPr sz="2137" b="1" i="1">
                <a:solidFill>
                  <a:srgbClr val="8C2F2B"/>
                </a:solidFill>
                <a:latin typeface="Georgia"/>
              </a:rPr>
              <a:t>……………</a:t>
            </a:r>
          </a:p>
        </p:txBody>
      </p:sp>
      <p:sp>
        <p:nvSpPr>
          <p:cNvPr id="49" name="Rounded Rectangle 48"/>
          <p:cNvSpPr/>
          <p:nvPr/>
        </p:nvSpPr>
        <p:spPr>
          <a:xfrm>
            <a:off x="895350" y="45434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0" name="Rounded Rectangular Callout 49"/>
          <p:cNvSpPr/>
          <p:nvPr/>
        </p:nvSpPr>
        <p:spPr>
          <a:xfrm>
            <a:off x="666750" y="61722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Sự nghiệp kháng chiến, kiến quốc là công việc của </a:t>
            </a:r>
            <a:r>
              <a:rPr sz="2137" b="1" i="1">
                <a:solidFill>
                  <a:srgbClr val="8C2F2B"/>
                </a:solidFill>
                <a:latin typeface="Georgia"/>
              </a:rPr>
              <a:t>……………</a:t>
            </a:r>
          </a:p>
        </p:txBody>
      </p:sp>
      <p:sp>
        <p:nvSpPr>
          <p:cNvPr id="51" name="Rounded Rectangle 50"/>
          <p:cNvSpPr/>
          <p:nvPr/>
        </p:nvSpPr>
        <p:spPr>
          <a:xfrm>
            <a:off x="895350" y="60293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2" name="Rounded Rectangle 51"/>
          <p:cNvSpPr/>
          <p:nvPr/>
        </p:nvSpPr>
        <p:spPr>
          <a:xfrm>
            <a:off x="7848600" y="4010025"/>
            <a:ext cx="259080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Chữ còn thiếu là gì?</a:t>
            </a:r>
          </a:p>
        </p:txBody>
      </p:sp>
      <p:sp>
        <p:nvSpPr>
          <p:cNvPr id="53" name="Rounded Rectangle 52"/>
          <p:cNvSpPr/>
          <p:nvPr/>
        </p:nvSpPr>
        <p:spPr>
          <a:xfrm>
            <a:off x="6638925" y="4667250"/>
            <a:ext cx="5010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54" name="Rounded Rectangular Callout 53"/>
          <p:cNvSpPr/>
          <p:nvPr/>
        </p:nvSpPr>
        <p:spPr>
          <a:xfrm>
            <a:off x="12353925" y="263842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Chính quyền từ xã đến Chính phủ trung ương do </a:t>
            </a:r>
            <a:r>
              <a:rPr sz="2137" b="1" i="1">
                <a:solidFill>
                  <a:srgbClr val="8C2F2B"/>
                </a:solidFill>
                <a:latin typeface="Georgia"/>
              </a:rPr>
              <a:t>……………</a:t>
            </a:r>
            <a:r>
              <a:rPr sz="2137" b="0" i="1">
                <a:solidFill>
                  <a:srgbClr val="2B2622"/>
                </a:solidFill>
                <a:latin typeface="Georgia"/>
              </a:rPr>
              <a:t> cử ra</a:t>
            </a:r>
          </a:p>
        </p:txBody>
      </p:sp>
      <p:sp>
        <p:nvSpPr>
          <p:cNvPr id="55" name="Rounded Rectangle 54"/>
          <p:cNvSpPr/>
          <p:nvPr/>
        </p:nvSpPr>
        <p:spPr>
          <a:xfrm>
            <a:off x="12582525" y="249555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6" name="Rounded Rectangular Callout 55"/>
          <p:cNvSpPr/>
          <p:nvPr/>
        </p:nvSpPr>
        <p:spPr>
          <a:xfrm>
            <a:off x="12353925" y="41338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Đoàn thể từ Trung ương đến xã do </a:t>
            </a:r>
            <a:r>
              <a:rPr sz="2137" b="1" i="1">
                <a:solidFill>
                  <a:srgbClr val="8C2F2B"/>
                </a:solidFill>
                <a:latin typeface="Georgia"/>
              </a:rPr>
              <a:t>……………</a:t>
            </a:r>
            <a:r>
              <a:rPr sz="2137" b="0" i="1">
                <a:solidFill>
                  <a:srgbClr val="2B2622"/>
                </a:solidFill>
                <a:latin typeface="Georgia"/>
              </a:rPr>
              <a:t> tổ chức nên</a:t>
            </a:r>
          </a:p>
        </p:txBody>
      </p:sp>
      <p:sp>
        <p:nvSpPr>
          <p:cNvPr id="57" name="Rounded Rectangle 56"/>
          <p:cNvSpPr/>
          <p:nvPr/>
        </p:nvSpPr>
        <p:spPr>
          <a:xfrm>
            <a:off x="12582525" y="39909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8" name="Rounded Rectangular Callout 57"/>
          <p:cNvSpPr/>
          <p:nvPr/>
        </p:nvSpPr>
        <p:spPr>
          <a:xfrm>
            <a:off x="12353925" y="56197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Nói tóm lại, quyền hành và lực lượng đều ở nơi </a:t>
            </a:r>
            <a:r>
              <a:rPr sz="2137" b="1" i="1">
                <a:solidFill>
                  <a:srgbClr val="8C2F2B"/>
                </a:solidFill>
                <a:latin typeface="Georgia"/>
              </a:rPr>
              <a:t>……………</a:t>
            </a:r>
          </a:p>
        </p:txBody>
      </p:sp>
      <p:sp>
        <p:nvSpPr>
          <p:cNvPr id="59" name="Rounded Rectangle 58"/>
          <p:cNvSpPr/>
          <p:nvPr/>
        </p:nvSpPr>
        <p:spPr>
          <a:xfrm>
            <a:off x="12582525" y="54768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“Nước ta là nước dân chủ” — Hồ Chí Minh</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972175" y="26765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62675" y="26765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96025" y="2676525"/>
            <a:ext cx="0" cy="29194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72175" y="37814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162675" y="37814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96025" y="3781425"/>
            <a:ext cx="0" cy="18145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72175" y="50863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62675" y="50863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296025" y="5086350"/>
            <a:ext cx="0" cy="5095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72175" y="65722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62675" y="65722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296025" y="5862638"/>
            <a:ext cx="0" cy="7096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29602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125325" y="32289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991975" y="32289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991975" y="3228975"/>
            <a:ext cx="0" cy="2366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125325" y="47244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991975" y="47244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991975" y="4724400"/>
            <a:ext cx="0" cy="8715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2125325" y="62103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991975" y="62103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91975" y="5862638"/>
            <a:ext cx="0" cy="3476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99197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72175" y="7991475"/>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62675" y="79914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296025" y="5862638"/>
            <a:ext cx="0" cy="2128837"/>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296025" y="5729288"/>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296025" y="5729288"/>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12125325" y="7629525"/>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11991975" y="76295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1991975" y="5862638"/>
            <a:ext cx="0" cy="1766887"/>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1991975" y="5729288"/>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1715750" y="5729288"/>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ular Callout 53"/>
          <p:cNvSpPr/>
          <p:nvPr/>
        </p:nvSpPr>
        <p:spPr>
          <a:xfrm>
            <a:off x="666750" y="2085975"/>
            <a:ext cx="5267325" cy="800100"/>
          </a:xfrm>
          <a:prstGeom prst="wedgeRoundRectCallout">
            <a:avLst>
              <a:gd name="adj1" fmla="val -40596"/>
              <a:gd name="adj2" fmla="val 69047"/>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lợi ích đều vì </a:t>
            </a:r>
            <a:r>
              <a:rPr sz="2137" b="1" i="1">
                <a:solidFill>
                  <a:srgbClr val="8C2F2B"/>
                </a:solidFill>
                <a:latin typeface="Georgia"/>
              </a:rPr>
              <a:t>dân</a:t>
            </a:r>
          </a:p>
        </p:txBody>
      </p:sp>
      <p:sp>
        <p:nvSpPr>
          <p:cNvPr id="55" name="Rounded Rectangle 54"/>
          <p:cNvSpPr/>
          <p:nvPr/>
        </p:nvSpPr>
        <p:spPr>
          <a:xfrm>
            <a:off x="895350" y="19431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6" name="Rounded Rectangular Callout 55"/>
          <p:cNvSpPr/>
          <p:nvPr/>
        </p:nvSpPr>
        <p:spPr>
          <a:xfrm>
            <a:off x="666750" y="319087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quyền hạn đều của </a:t>
            </a:r>
            <a:r>
              <a:rPr sz="2137" b="1" i="1">
                <a:solidFill>
                  <a:srgbClr val="8C2F2B"/>
                </a:solidFill>
                <a:latin typeface="Georgia"/>
              </a:rPr>
              <a:t>dân</a:t>
            </a:r>
          </a:p>
        </p:txBody>
      </p:sp>
      <p:sp>
        <p:nvSpPr>
          <p:cNvPr id="57" name="Rounded Rectangle 56"/>
          <p:cNvSpPr/>
          <p:nvPr/>
        </p:nvSpPr>
        <p:spPr>
          <a:xfrm>
            <a:off x="895350" y="30480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8" name="Rounded Rectangular Callout 57"/>
          <p:cNvSpPr/>
          <p:nvPr/>
        </p:nvSpPr>
        <p:spPr>
          <a:xfrm>
            <a:off x="666750" y="46863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Công cuộc đổi mới, xây dựng là trách nhiệm của </a:t>
            </a:r>
            <a:r>
              <a:rPr sz="2137" b="1" i="1">
                <a:solidFill>
                  <a:srgbClr val="8C2F2B"/>
                </a:solidFill>
                <a:latin typeface="Georgia"/>
              </a:rPr>
              <a:t>dân</a:t>
            </a:r>
          </a:p>
        </p:txBody>
      </p:sp>
      <p:sp>
        <p:nvSpPr>
          <p:cNvPr id="59" name="Rounded Rectangle 58"/>
          <p:cNvSpPr/>
          <p:nvPr/>
        </p:nvSpPr>
        <p:spPr>
          <a:xfrm>
            <a:off x="895350" y="45434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60" name="Rounded Rectangular Callout 59"/>
          <p:cNvSpPr/>
          <p:nvPr/>
        </p:nvSpPr>
        <p:spPr>
          <a:xfrm>
            <a:off x="666750" y="61722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Sự nghiệp kháng chiến, kiến quốc là công việc của </a:t>
            </a:r>
            <a:r>
              <a:rPr sz="2137" b="1" i="1">
                <a:solidFill>
                  <a:srgbClr val="8C2F2B"/>
                </a:solidFill>
                <a:latin typeface="Georgia"/>
              </a:rPr>
              <a:t>dân</a:t>
            </a:r>
          </a:p>
        </p:txBody>
      </p:sp>
      <p:sp>
        <p:nvSpPr>
          <p:cNvPr id="61" name="Rounded Rectangle 60"/>
          <p:cNvSpPr/>
          <p:nvPr/>
        </p:nvSpPr>
        <p:spPr>
          <a:xfrm>
            <a:off x="895350" y="60293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62" name="Rounded Rectangle 61"/>
          <p:cNvSpPr/>
          <p:nvPr/>
        </p:nvSpPr>
        <p:spPr>
          <a:xfrm>
            <a:off x="666750" y="7658100"/>
            <a:ext cx="52673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Dựa vào: Nhà nước XHCN + sự ủng hộ, giúp đỡ của nhân dân</a:t>
            </a:r>
          </a:p>
        </p:txBody>
      </p:sp>
      <p:sp>
        <p:nvSpPr>
          <p:cNvPr id="63" name="Rounded Rectangle 62"/>
          <p:cNvSpPr/>
          <p:nvPr/>
        </p:nvSpPr>
        <p:spPr>
          <a:xfrm>
            <a:off x="7848600" y="4010025"/>
            <a:ext cx="259080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Chữ còn thiếu là gì?</a:t>
            </a:r>
          </a:p>
        </p:txBody>
      </p:sp>
      <p:sp>
        <p:nvSpPr>
          <p:cNvPr id="64" name="Rounded Rectangle 63"/>
          <p:cNvSpPr/>
          <p:nvPr/>
        </p:nvSpPr>
        <p:spPr>
          <a:xfrm>
            <a:off x="6638925" y="4667250"/>
            <a:ext cx="50101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TẤT CẢ QUYỀN LỰC THUỘC VỀ NHÂN DÂN — dân là gốc, là chủ, dân làm chủ</a:t>
            </a:r>
          </a:p>
        </p:txBody>
      </p:sp>
      <p:sp>
        <p:nvSpPr>
          <p:cNvPr id="65" name="Rounded Rectangle 64"/>
          <p:cNvSpPr/>
          <p:nvPr/>
        </p:nvSpPr>
        <p:spPr>
          <a:xfrm>
            <a:off x="6638925" y="4667250"/>
            <a:ext cx="5010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66" name="Rounded Rectangular Callout 65"/>
          <p:cNvSpPr/>
          <p:nvPr/>
        </p:nvSpPr>
        <p:spPr>
          <a:xfrm>
            <a:off x="12353925" y="263842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Chính quyền từ xã đến Chính phủ trung ương do </a:t>
            </a:r>
            <a:r>
              <a:rPr sz="2137" b="1" i="1">
                <a:solidFill>
                  <a:srgbClr val="8C2F2B"/>
                </a:solidFill>
                <a:latin typeface="Georgia"/>
              </a:rPr>
              <a:t>dân</a:t>
            </a:r>
            <a:r>
              <a:rPr sz="2137" b="0" i="1">
                <a:solidFill>
                  <a:srgbClr val="2B2622"/>
                </a:solidFill>
                <a:latin typeface="Georgia"/>
              </a:rPr>
              <a:t> cử ra</a:t>
            </a:r>
          </a:p>
        </p:txBody>
      </p:sp>
      <p:sp>
        <p:nvSpPr>
          <p:cNvPr id="67" name="Rounded Rectangle 66"/>
          <p:cNvSpPr/>
          <p:nvPr/>
        </p:nvSpPr>
        <p:spPr>
          <a:xfrm>
            <a:off x="12582525" y="249555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68" name="Rounded Rectangular Callout 67"/>
          <p:cNvSpPr/>
          <p:nvPr/>
        </p:nvSpPr>
        <p:spPr>
          <a:xfrm>
            <a:off x="12353925" y="41338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Đoàn thể từ Trung ương đến xã do </a:t>
            </a:r>
            <a:r>
              <a:rPr sz="2137" b="1" i="1">
                <a:solidFill>
                  <a:srgbClr val="8C2F2B"/>
                </a:solidFill>
                <a:latin typeface="Georgia"/>
              </a:rPr>
              <a:t>dân</a:t>
            </a:r>
            <a:r>
              <a:rPr sz="2137" b="0" i="1">
                <a:solidFill>
                  <a:srgbClr val="2B2622"/>
                </a:solidFill>
                <a:latin typeface="Georgia"/>
              </a:rPr>
              <a:t> tổ chức nên</a:t>
            </a:r>
          </a:p>
        </p:txBody>
      </p:sp>
      <p:sp>
        <p:nvSpPr>
          <p:cNvPr id="69" name="Rounded Rectangle 68"/>
          <p:cNvSpPr/>
          <p:nvPr/>
        </p:nvSpPr>
        <p:spPr>
          <a:xfrm>
            <a:off x="12582525" y="39909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70" name="Rounded Rectangular Callout 69"/>
          <p:cNvSpPr/>
          <p:nvPr/>
        </p:nvSpPr>
        <p:spPr>
          <a:xfrm>
            <a:off x="12353925" y="56197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Nói tóm lại, quyền hành và lực lượng đều ở nơi </a:t>
            </a:r>
            <a:r>
              <a:rPr sz="2137" b="1" i="1">
                <a:solidFill>
                  <a:srgbClr val="8C2F2B"/>
                </a:solidFill>
                <a:latin typeface="Georgia"/>
              </a:rPr>
              <a:t>dân</a:t>
            </a:r>
          </a:p>
        </p:txBody>
      </p:sp>
      <p:sp>
        <p:nvSpPr>
          <p:cNvPr id="71" name="Rounded Rectangle 70"/>
          <p:cNvSpPr/>
          <p:nvPr/>
        </p:nvSpPr>
        <p:spPr>
          <a:xfrm>
            <a:off x="12582525" y="54768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72" name="Rounded Rectangle 71"/>
          <p:cNvSpPr/>
          <p:nvPr/>
        </p:nvSpPr>
        <p:spPr>
          <a:xfrm>
            <a:off x="12353925" y="7105650"/>
            <a:ext cx="52673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Con người: tư cách công dân, tư cách người làm chủ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300"/>
                                        <p:tgtEl>
                                          <p:spTgt spid="64"/>
                                        </p:tgtEl>
                                      </p:cBhvr>
                                    </p:animEffect>
                                  </p:childTnLst>
                                </p:cTn>
                              </p:par>
                              <p:par>
                                <p:cTn id="9" presetID="1" presetClass="exit" presetSubtype="0" fill="hold" nodeType="withEffect">
                                  <p:stCondLst>
                                    <p:cond delay="0"/>
                                  </p:stCondLst>
                                  <p:childTnLst>
                                    <p:set>
                                      <p:cBhvr>
                                        <p:cTn id="10" dur="1" fill="hold">
                                          <p:stCondLst>
                                            <p:cond delay="0"/>
                                          </p:stCondLst>
                                        </p:cTn>
                                        <p:tgtEl>
                                          <p:spTgt spid="65"/>
                                        </p:tgtEl>
                                        <p:attrNameLst>
                                          <p:attrName>style.visibility</p:attrName>
                                        </p:attrNameLst>
                                      </p:cBhvr>
                                      <p:to>
                                        <p:strVal val="hidden"/>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300"/>
                                        <p:tgtEl>
                                          <p:spTgt spid="62"/>
                                        </p:tgtEl>
                                      </p:cBhvr>
                                    </p:animEffect>
                                  </p:childTnLst>
                                </p:cTn>
                              </p:par>
                              <p:par>
                                <p:cTn id="18" presetID="10" presetClass="entr" presetSubtype="0" fill="hold" nodeType="withEffect">
                                  <p:stCondLst>
                                    <p:cond delay="0"/>
                                  </p:stCondLst>
                                  <p:childTnLst>
                                    <p:set>
                                      <p:cBhvr>
                                        <p:cTn id="19" dur="1" fill="hold">
                                          <p:stCondLst>
                                            <p:cond delay="0"/>
                                          </p:stCondLst>
                                        </p:cTn>
                                        <p:tgtEl>
                                          <p:spTgt spid="72"/>
                                        </p:tgtEl>
                                        <p:attrNameLst>
                                          <p:attrName>style.visibility</p:attrName>
                                        </p:attrNameLst>
                                      </p:cBhvr>
                                      <p:to>
                                        <p:strVal val="visible"/>
                                      </p:to>
                                    </p:set>
                                    <p:animEffect transition="in" filter="fade">
                                      <p:cBhvr>
                                        <p:cTn id="20" dur="300"/>
                                        <p:tgtEl>
                                          <p:spTgt spid="72"/>
                                        </p:tgtEl>
                                      </p:cBhvr>
                                    </p:animEffect>
                                  </p:childTnLst>
                                </p:cTn>
                              </p:par>
                              <p:par>
                                <p:cTn id="22" presetID="10" presetClass="entr" presetSubtype="0" fill="hold" nodeType="withEffect">
                                  <p:stCondLst>
                                    <p:cond delay="0"/>
                                  </p:stCondLst>
                                  <p:childTnLst>
                                    <p:set>
                                      <p:cBhvr>
                                        <p:cTn id="23" dur="1" fill="hold">
                                          <p:stCondLst>
                                            <p:cond delay="0"/>
                                          </p:stCondLst>
                                        </p:cTn>
                                        <p:tgtEl>
                                          <p:spTgt spid="44"/>
                                        </p:tgtEl>
                                        <p:attrNameLst>
                                          <p:attrName>style.visibility</p:attrName>
                                        </p:attrNameLst>
                                      </p:cBhvr>
                                      <p:to>
                                        <p:strVal val="visible"/>
                                      </p:to>
                                    </p:set>
                                    <p:animEffect transition="in" filter="fade">
                                      <p:cBhvr>
                                        <p:cTn id="24" dur="300"/>
                                        <p:tgtEl>
                                          <p:spTgt spid="44"/>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300"/>
                                        <p:tgtEl>
                                          <p:spTgt spid="45"/>
                                        </p:tgtEl>
                                      </p:cBhvr>
                                    </p:animEffect>
                                  </p:childTnLst>
                                </p:cTn>
                              </p:par>
                              <p:par>
                                <p:cTn id="30" presetID="10" presetClass="entr" presetSubtype="0" fill="hold" nodeType="withEffect">
                                  <p:stCondLst>
                                    <p:cond delay="0"/>
                                  </p:stCondLst>
                                  <p:childTnLst>
                                    <p:set>
                                      <p:cBhvr>
                                        <p:cTn id="31" dur="1" fill="hold">
                                          <p:stCondLst>
                                            <p:cond delay="0"/>
                                          </p:stCondLst>
                                        </p:cTn>
                                        <p:tgtEl>
                                          <p:spTgt spid="46"/>
                                        </p:tgtEl>
                                        <p:attrNameLst>
                                          <p:attrName>style.visibility</p:attrName>
                                        </p:attrNameLst>
                                      </p:cBhvr>
                                      <p:to>
                                        <p:strVal val="visible"/>
                                      </p:to>
                                    </p:set>
                                    <p:animEffect transition="in" filter="fade">
                                      <p:cBhvr>
                                        <p:cTn id="32" dur="300"/>
                                        <p:tgtEl>
                                          <p:spTgt spid="46"/>
                                        </p:tgtEl>
                                      </p:cBhvr>
                                    </p:animEffect>
                                  </p:childTnLst>
                                </p:cTn>
                              </p:par>
                              <p:par>
                                <p:cTn id="34" presetID="10" presetClass="entr" presetSubtype="0" fill="hold" nodeType="withEffect">
                                  <p:stCondLst>
                                    <p:cond delay="0"/>
                                  </p:stCondLst>
                                  <p:childTnLst>
                                    <p:set>
                                      <p:cBhvr>
                                        <p:cTn id="35" dur="1" fill="hold">
                                          <p:stCondLst>
                                            <p:cond delay="0"/>
                                          </p:stCondLst>
                                        </p:cTn>
                                        <p:tgtEl>
                                          <p:spTgt spid="47"/>
                                        </p:tgtEl>
                                        <p:attrNameLst>
                                          <p:attrName>style.visibility</p:attrName>
                                        </p:attrNameLst>
                                      </p:cBhvr>
                                      <p:to>
                                        <p:strVal val="visible"/>
                                      </p:to>
                                    </p:set>
                                    <p:animEffect transition="in" filter="fade">
                                      <p:cBhvr>
                                        <p:cTn id="36" dur="300"/>
                                        <p:tgtEl>
                                          <p:spTgt spid="47"/>
                                        </p:tgtEl>
                                      </p:cBhvr>
                                    </p:animEffect>
                                  </p:childTnLst>
                                </p:cTn>
                              </p:par>
                              <p:par>
                                <p:cTn id="38" presetID="10" presetClass="entr" presetSubtype="0" fill="hold" nodeType="withEffect">
                                  <p:stCondLst>
                                    <p:cond delay="0"/>
                                  </p:stCondLst>
                                  <p:childTnLst>
                                    <p:set>
                                      <p:cBhvr>
                                        <p:cTn id="39" dur="1" fill="hold">
                                          <p:stCondLst>
                                            <p:cond delay="0"/>
                                          </p:stCondLst>
                                        </p:cTn>
                                        <p:tgtEl>
                                          <p:spTgt spid="48"/>
                                        </p:tgtEl>
                                        <p:attrNameLst>
                                          <p:attrName>style.visibility</p:attrName>
                                        </p:attrNameLst>
                                      </p:cBhvr>
                                      <p:to>
                                        <p:strVal val="visible"/>
                                      </p:to>
                                    </p:set>
                                    <p:animEffect transition="in" filter="fade">
                                      <p:cBhvr>
                                        <p:cTn id="40" dur="300"/>
                                        <p:tgtEl>
                                          <p:spTgt spid="48"/>
                                        </p:tgtEl>
                                      </p:cBhvr>
                                    </p:animEffect>
                                  </p:childTnLst>
                                </p:cTn>
                              </p:par>
                              <p:par>
                                <p:cTn id="42" presetID="10" presetClass="entr" presetSubtype="0" fill="hold"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00"/>
                                        <p:tgtEl>
                                          <p:spTgt spid="49"/>
                                        </p:tgtEl>
                                      </p:cBhvr>
                                    </p:animEffect>
                                  </p:childTnLst>
                                </p:cTn>
                              </p:par>
                              <p:par>
                                <p:cTn id="46" presetID="10" presetClass="entr" presetSubtype="0" fill="hold" nodeType="withEffect">
                                  <p:stCondLst>
                                    <p:cond delay="0"/>
                                  </p:stCondLst>
                                  <p:childTnLst>
                                    <p:set>
                                      <p:cBhvr>
                                        <p:cTn id="47" dur="1" fill="hold">
                                          <p:stCondLst>
                                            <p:cond delay="0"/>
                                          </p:stCondLst>
                                        </p:cTn>
                                        <p:tgtEl>
                                          <p:spTgt spid="50"/>
                                        </p:tgtEl>
                                        <p:attrNameLst>
                                          <p:attrName>style.visibility</p:attrName>
                                        </p:attrNameLst>
                                      </p:cBhvr>
                                      <p:to>
                                        <p:strVal val="visible"/>
                                      </p:to>
                                    </p:set>
                                    <p:animEffect transition="in" filter="fade">
                                      <p:cBhvr>
                                        <p:cTn id="48" dur="300"/>
                                        <p:tgtEl>
                                          <p:spTgt spid="50"/>
                                        </p:tgtEl>
                                      </p:cBhvr>
                                    </p:animEffect>
                                  </p:childTnLst>
                                </p:cTn>
                              </p:par>
                              <p:par>
                                <p:cTn id="50" presetID="10" presetClass="entr" presetSubtype="0" fill="hold" nodeType="with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300"/>
                                        <p:tgtEl>
                                          <p:spTgt spid="51"/>
                                        </p:tgtEl>
                                      </p:cBhvr>
                                    </p:animEffect>
                                  </p:childTnLst>
                                </p:cTn>
                              </p:par>
                              <p:par>
                                <p:cTn id="54" presetID="10" presetClass="entr" presetSubtype="0" fill="hold" nodeType="withEffect">
                                  <p:stCondLst>
                                    <p:cond delay="0"/>
                                  </p:stCondLst>
                                  <p:childTnLst>
                                    <p:set>
                                      <p:cBhvr>
                                        <p:cTn id="55" dur="1" fill="hold">
                                          <p:stCondLst>
                                            <p:cond delay="0"/>
                                          </p:stCondLst>
                                        </p:cTn>
                                        <p:tgtEl>
                                          <p:spTgt spid="52"/>
                                        </p:tgtEl>
                                        <p:attrNameLst>
                                          <p:attrName>style.visibility</p:attrName>
                                        </p:attrNameLst>
                                      </p:cBhvr>
                                      <p:to>
                                        <p:strVal val="visible"/>
                                      </p:to>
                                    </p:set>
                                    <p:animEffect transition="in" filter="fade">
                                      <p:cBhvr>
                                        <p:cTn id="56" dur="300"/>
                                        <p:tgtEl>
                                          <p:spTgt spid="52"/>
                                        </p:tgtEl>
                                      </p:cBhvr>
                                    </p:animEffect>
                                  </p:childTnLst>
                                </p:cTn>
                              </p:par>
                              <p:par>
                                <p:cTn id="58" presetID="10" presetClass="entr" presetSubtype="0" fill="hold" nodeType="withEffect">
                                  <p:stCondLst>
                                    <p:cond delay="0"/>
                                  </p:stCondLst>
                                  <p:childTnLst>
                                    <p:set>
                                      <p:cBhvr>
                                        <p:cTn id="59" dur="1" fill="hold">
                                          <p:stCondLst>
                                            <p:cond delay="0"/>
                                          </p:stCondLst>
                                        </p:cTn>
                                        <p:tgtEl>
                                          <p:spTgt spid="53"/>
                                        </p:tgtEl>
                                        <p:attrNameLst>
                                          <p:attrName>style.visibility</p:attrName>
                                        </p:attrNameLst>
                                      </p:cBhvr>
                                      <p:to>
                                        <p:strVal val="visible"/>
                                      </p:to>
                                    </p:set>
                                    <p:animEffect transition="in" filter="fade">
                                      <p:cBhvr>
                                        <p:cTn id="60" dur="3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Bốn nội dung của dân chủ</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00725" y="47958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91225" y="47958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124575" y="4795838"/>
            <a:ext cx="0" cy="12906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24575" y="60864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24575" y="6219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00725" y="6219825"/>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2296775" y="47910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2163425" y="47910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2163425" y="4791075"/>
            <a:ext cx="0" cy="12954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2163425" y="60864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887200" y="6219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2268200" y="6010275"/>
            <a:ext cx="2190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2163425" y="6010275"/>
            <a:ext cx="1047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2163425" y="6010275"/>
            <a:ext cx="0" cy="104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63425" y="6115050"/>
            <a:ext cx="0" cy="104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1887200" y="6219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144000" y="5019675"/>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66750" y="4076700"/>
            <a:ext cx="50958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MỤC TIÊU</a:t>
            </a:r>
            <a:r>
              <a:rPr sz="2137" b="0" i="0">
                <a:solidFill>
                  <a:srgbClr val="2B2622"/>
                </a:solidFill>
                <a:latin typeface="Arial"/>
              </a:rPr>
              <a:t> — dân giàu, nước mạnh, dân chủ, công bằng, văn minh</a:t>
            </a:r>
          </a:p>
        </p:txBody>
      </p:sp>
      <p:sp>
        <p:nvSpPr>
          <p:cNvPr id="27" name="Rounded Rectangle 26"/>
          <p:cNvSpPr/>
          <p:nvPr/>
        </p:nvSpPr>
        <p:spPr>
          <a:xfrm>
            <a:off x="666750" y="56769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BẢN CHẤT</a:t>
            </a:r>
            <a:r>
              <a:rPr sz="2137" b="0" i="0">
                <a:solidFill>
                  <a:srgbClr val="2B2622"/>
                </a:solidFill>
                <a:latin typeface="Arial"/>
              </a:rPr>
              <a:t> — nhân dân làm chủ, quyền lực thuộc về nhân dân</a:t>
            </a:r>
          </a:p>
        </p:txBody>
      </p:sp>
      <p:sp>
        <p:nvSpPr>
          <p:cNvPr id="28" name="Rounded Rectangle 27"/>
          <p:cNvSpPr/>
          <p:nvPr/>
        </p:nvSpPr>
        <p:spPr>
          <a:xfrm>
            <a:off x="6467475" y="3524250"/>
            <a:ext cx="5353050"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Ba mươi lăm năm đổi mới: bản chất · mục tiêu · động lực · gắn với pháp luật</a:t>
            </a:r>
          </a:p>
        </p:txBody>
      </p:sp>
      <p:sp>
        <p:nvSpPr>
          <p:cNvPr id="29" name="Rounded Rectangle 28"/>
          <p:cNvSpPr/>
          <p:nvPr/>
        </p:nvSpPr>
        <p:spPr>
          <a:xfrm>
            <a:off x="6467475" y="5153025"/>
            <a:ext cx="53530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phải được thực hiện ở TẤT CẢ CÁC CẤP, MỌI LĨNH VỰC: kinh tế · chính trị · văn hóa · xã hội</a:t>
            </a:r>
          </a:p>
        </p:txBody>
      </p:sp>
      <p:sp>
        <p:nvSpPr>
          <p:cNvPr id="30" name="Rounded Rectangle 29"/>
          <p:cNvSpPr/>
          <p:nvPr/>
        </p:nvSpPr>
        <p:spPr>
          <a:xfrm>
            <a:off x="6467475" y="5153025"/>
            <a:ext cx="53530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1" name="Rounded Rectangle 30"/>
          <p:cNvSpPr/>
          <p:nvPr/>
        </p:nvSpPr>
        <p:spPr>
          <a:xfrm>
            <a:off x="12525375" y="42672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ĐỘNG LỰC</a:t>
            </a:r>
            <a:r>
              <a:rPr sz="2137" b="0" i="0">
                <a:solidFill>
                  <a:srgbClr val="2B2622"/>
                </a:solidFill>
                <a:latin typeface="Arial"/>
              </a:rPr>
              <a:t> — phát huy sức mạnh nhân dân, toàn dân tộc</a:t>
            </a:r>
          </a:p>
        </p:txBody>
      </p:sp>
      <p:sp>
        <p:nvSpPr>
          <p:cNvPr id="32" name="Rounded Rectangle 31"/>
          <p:cNvSpPr/>
          <p:nvPr/>
        </p:nvSpPr>
        <p:spPr>
          <a:xfrm>
            <a:off x="12525375" y="54864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GẮN VỚI PHÁP LUẬT</a:t>
            </a:r>
            <a:r>
              <a:rPr sz="2137" b="0" i="0">
                <a:solidFill>
                  <a:srgbClr val="2B2622"/>
                </a:solidFill>
                <a:latin typeface="Arial"/>
              </a:rPr>
              <a:t> — đi đôi với kỷ luật, kỷ cương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300"/>
                                        <p:tgtEl>
                                          <p:spTgt spid="26"/>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0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0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300"/>
                                        <p:tgtEl>
                                          <p:spTgt spid="16"/>
                                        </p:tgtEl>
                                      </p:cBhvr>
                                    </p:animEffect>
                                  </p:childTnLst>
                                </p:cTn>
                              </p:par>
                              <p:par>
                                <p:cTn id="53" presetID="10" presetClass="entr" presetSubtype="0" fill="hold"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300"/>
                                        <p:tgtEl>
                                          <p:spTgt spid="17"/>
                                        </p:tgtEl>
                                      </p:cBhvr>
                                    </p:animEffect>
                                  </p:childTnLst>
                                </p:cTn>
                              </p:par>
                              <p:par>
                                <p:cTn id="57" presetID="10" presetClass="entr" presetSubtype="0" fill="hold"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3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300"/>
                                        <p:tgtEl>
                                          <p:spTgt spid="32"/>
                                        </p:tgtEl>
                                      </p:cBhvr>
                                    </p:animEffect>
                                  </p:childTnLst>
                                </p:cTn>
                              </p:par>
                              <p:par>
                                <p:cTn id="71" presetID="10"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00"/>
                                        <p:tgtEl>
                                          <p:spTgt spid="20"/>
                                        </p:tgtEl>
                                      </p:cBhvr>
                                    </p:animEffect>
                                  </p:childTnLst>
                                </p:cTn>
                              </p:par>
                              <p:par>
                                <p:cTn id="75" presetID="10" presetClass="entr" presetSubtype="0" fill="hold"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300"/>
                                        <p:tgtEl>
                                          <p:spTgt spid="21"/>
                                        </p:tgtEl>
                                      </p:cBhvr>
                                    </p:animEffect>
                                  </p:childTnLst>
                                </p:cTn>
                              </p:par>
                              <p:par>
                                <p:cTn id="79" presetID="10" presetClass="entr" presetSubtype="0"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300"/>
                                        <p:tgtEl>
                                          <p:spTgt spid="22"/>
                                        </p:tgtEl>
                                      </p:cBhvr>
                                    </p:animEffect>
                                  </p:childTnLst>
                                </p:cTn>
                              </p:par>
                              <p:par>
                                <p:cTn id="83" presetID="10"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300"/>
                                        <p:tgtEl>
                                          <p:spTgt spid="23"/>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300"/>
                                        <p:tgtEl>
                                          <p:spTgt spid="28"/>
                                        </p:tgtEl>
                                      </p:cBhvr>
                                    </p:animEffect>
                                  </p:childTnLst>
                                </p:cTn>
                              </p:par>
                              <p:par>
                                <p:cTn id="97" presetID="10" presetClass="entr" presetSubtype="0" fill="hold" nodeType="withEffect">
                                  <p:stCondLst>
                                    <p:cond delay="0"/>
                                  </p:stCondLst>
                                  <p:childTnLst>
                                    <p:set>
                                      <p:cBhvr>
                                        <p:cTn id="98" dur="1" fill="hold">
                                          <p:stCondLst>
                                            <p:cond delay="0"/>
                                          </p:stCondLst>
                                        </p:cTn>
                                        <p:tgtEl>
                                          <p:spTgt spid="25"/>
                                        </p:tgtEl>
                                        <p:attrNameLst>
                                          <p:attrName>style.visibility</p:attrName>
                                        </p:attrNameLst>
                                      </p:cBhvr>
                                      <p:to>
                                        <p:strVal val="visible"/>
                                      </p:to>
                                    </p:set>
                                    <p:animEffect transition="in" filter="fade">
                                      <p:cBhvr>
                                        <p:cTn id="99" dur="300"/>
                                        <p:tgtEl>
                                          <p:spTgt spid="25"/>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300"/>
                                        <p:tgtEl>
                                          <p:spTgt spid="29"/>
                                        </p:tgtEl>
                                      </p:cBhvr>
                                    </p:animEffect>
                                  </p:childTnLst>
                                </p:cTn>
                              </p:par>
                              <p:par>
                                <p:cTn id="107" presetID="1" presetClass="exit" presetSubtype="0" fill="hold" nodeType="withEffect">
                                  <p:stCondLst>
                                    <p:cond delay="0"/>
                                  </p:stCondLst>
                                  <p:childTnLst>
                                    <p:set>
                                      <p:cBhvr>
                                        <p:cTn id="108"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Dân tự làm, hay giao cho người đại diện?</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sp>
        <p:nvSpPr>
          <p:cNvPr id="9" name="Rounded Rectangle 8"/>
          <p:cNvSpPr/>
          <p:nvPr/>
        </p:nvSpPr>
        <p:spPr>
          <a:xfrm>
            <a:off x="6743700" y="1790700"/>
            <a:ext cx="310515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Chia 6 thẻ thành 2 nhóm</a:t>
            </a:r>
          </a:p>
        </p:txBody>
      </p:sp>
      <p:sp>
        <p:nvSpPr>
          <p:cNvPr id="10" name="Rounded Rectangle 9"/>
          <p:cNvSpPr/>
          <p:nvPr/>
        </p:nvSpPr>
        <p:spPr>
          <a:xfrm>
            <a:off x="666750" y="2447925"/>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Người và tổ chức được bầu đại diện, thực hiện quyền làm chủ cho nhân dân</a:t>
            </a:r>
          </a:p>
        </p:txBody>
      </p:sp>
      <p:sp>
        <p:nvSpPr>
          <p:cNvPr id="11" name="Rounded Rectangle 10"/>
          <p:cNvSpPr/>
          <p:nvPr/>
        </p:nvSpPr>
        <p:spPr>
          <a:xfrm>
            <a:off x="666750" y="3286125"/>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thông tin về hoạt động của nhà nước</a:t>
            </a:r>
          </a:p>
        </p:txBody>
      </p:sp>
      <p:sp>
        <p:nvSpPr>
          <p:cNvPr id="12" name="Rounded Rectangle 11"/>
          <p:cNvSpPr/>
          <p:nvPr/>
        </p:nvSpPr>
        <p:spPr>
          <a:xfrm>
            <a:off x="666750" y="41338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Nhân dân bầu ra Quốc hội — cơ quan quyền lực nhà nước cao nhất, nhiệm kỳ 5 năm</a:t>
            </a:r>
          </a:p>
        </p:txBody>
      </p:sp>
      <p:sp>
        <p:nvSpPr>
          <p:cNvPr id="13" name="Rounded Rectangle 12"/>
          <p:cNvSpPr/>
          <p:nvPr/>
        </p:nvSpPr>
        <p:spPr>
          <a:xfrm>
            <a:off x="666750" y="49720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Kiểm tra, giám sát cơ quan nhà nước từ Trung ương đến cơ sở</a:t>
            </a:r>
          </a:p>
        </p:txBody>
      </p:sp>
      <p:sp>
        <p:nvSpPr>
          <p:cNvPr id="14" name="Rounded Rectangle 13"/>
          <p:cNvSpPr/>
          <p:nvPr/>
        </p:nvSpPr>
        <p:spPr>
          <a:xfrm>
            <a:off x="666750" y="58102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“Ủy quyền”, giao quyền lực cho tổ chức do nhân dân trực tiếp bầu ra</a:t>
            </a:r>
          </a:p>
        </p:txBody>
      </p:sp>
      <p:sp>
        <p:nvSpPr>
          <p:cNvPr id="15" name="Rounded Rectangle 14"/>
          <p:cNvSpPr/>
          <p:nvPr/>
        </p:nvSpPr>
        <p:spPr>
          <a:xfrm>
            <a:off x="666750" y="66484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bàn bạc về công việc của nhà nước, cộng đồng dân cư; bàn quyết định dân chủ cơ sở</a:t>
            </a:r>
          </a:p>
        </p:txBody>
      </p:sp>
      <p:sp>
        <p:nvSpPr>
          <p:cNvPr id="16" name="Rounded Rectangle 15"/>
          <p:cNvSpPr/>
          <p:nvPr/>
        </p:nvSpPr>
        <p:spPr>
          <a:xfrm>
            <a:off x="666750" y="7696200"/>
            <a:ext cx="16954500" cy="1314450"/>
          </a:xfrm>
          <a:prstGeom prst="roundRect">
            <a:avLst>
              <a:gd name="adj" fmla="val 17391"/>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Dân tự làm, hay giao cho người đại diện?</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4729162" y="52006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558838" y="50101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729162" y="6657975"/>
            <a:ext cx="0" cy="195263"/>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29162" y="6853238"/>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228975" y="6986588"/>
            <a:ext cx="1500187"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095625" y="6986588"/>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095625" y="6986588"/>
            <a:ext cx="0" cy="300037"/>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729162" y="665797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729162" y="671512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729162" y="6772275"/>
            <a:ext cx="4576763"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05925" y="6772275"/>
            <a:ext cx="80963"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86888" y="67722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558838" y="6467475"/>
            <a:ext cx="0" cy="1714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558838" y="66389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9467850" y="6772275"/>
            <a:ext cx="40909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386888" y="67722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86888" y="67722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2611100" y="8067675"/>
            <a:ext cx="60007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66750" y="1666875"/>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Nhân dân bầu ra Quốc hội — cơ quan quyền lực nhà nước cao nhất, nhiệm kỳ 5 năm</a:t>
            </a:r>
          </a:p>
        </p:txBody>
      </p:sp>
      <p:sp>
        <p:nvSpPr>
          <p:cNvPr id="28" name="Rounded Rectangle 27"/>
          <p:cNvSpPr/>
          <p:nvPr/>
        </p:nvSpPr>
        <p:spPr>
          <a:xfrm>
            <a:off x="666750" y="2886075"/>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“Ủy quyền”, giao quyền lực cho tổ chức do nhân dân trực tiếp bầu ra</a:t>
            </a:r>
          </a:p>
        </p:txBody>
      </p:sp>
      <p:sp>
        <p:nvSpPr>
          <p:cNvPr id="29" name="Rounded Rectangle 28"/>
          <p:cNvSpPr/>
          <p:nvPr/>
        </p:nvSpPr>
        <p:spPr>
          <a:xfrm>
            <a:off x="666750" y="4114800"/>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Người và tổ chức được bầu đại diện, thực hiện quyền làm chủ cho nhân dân</a:t>
            </a:r>
          </a:p>
        </p:txBody>
      </p:sp>
      <p:sp>
        <p:nvSpPr>
          <p:cNvPr id="30" name="Rounded Rectangle 29"/>
          <p:cNvSpPr/>
          <p:nvPr/>
        </p:nvSpPr>
        <p:spPr>
          <a:xfrm>
            <a:off x="666750" y="5334000"/>
            <a:ext cx="8124825"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GIÁN TIẾP — dân chủ đại diện</a:t>
            </a:r>
          </a:p>
        </p:txBody>
      </p:sp>
      <p:sp>
        <p:nvSpPr>
          <p:cNvPr id="31" name="Rounded Rectangle 30"/>
          <p:cNvSpPr/>
          <p:nvPr/>
        </p:nvSpPr>
        <p:spPr>
          <a:xfrm>
            <a:off x="666750" y="5334000"/>
            <a:ext cx="8124825"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2" name="Rounded Rectangle 31"/>
          <p:cNvSpPr/>
          <p:nvPr/>
        </p:nvSpPr>
        <p:spPr>
          <a:xfrm>
            <a:off x="9496425" y="1857375"/>
            <a:ext cx="81248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thông tin về hoạt động của nhà nước</a:t>
            </a:r>
          </a:p>
        </p:txBody>
      </p:sp>
      <p:sp>
        <p:nvSpPr>
          <p:cNvPr id="33" name="Rounded Rectangle 32"/>
          <p:cNvSpPr/>
          <p:nvPr/>
        </p:nvSpPr>
        <p:spPr>
          <a:xfrm>
            <a:off x="9496425" y="2695575"/>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bàn bạc về công việc của nhà nước, cộng đồng dân cư; bàn quyết định dân chủ cơ sở</a:t>
            </a:r>
          </a:p>
        </p:txBody>
      </p:sp>
      <p:sp>
        <p:nvSpPr>
          <p:cNvPr id="34" name="Rounded Rectangle 33"/>
          <p:cNvSpPr/>
          <p:nvPr/>
        </p:nvSpPr>
        <p:spPr>
          <a:xfrm>
            <a:off x="9496425" y="3924300"/>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Kiểm tra, giám sát cơ quan nhà nước từ Trung ương đến cơ sở</a:t>
            </a:r>
          </a:p>
        </p:txBody>
      </p:sp>
      <p:sp>
        <p:nvSpPr>
          <p:cNvPr id="35" name="Rounded Rectangle 34"/>
          <p:cNvSpPr/>
          <p:nvPr/>
        </p:nvSpPr>
        <p:spPr>
          <a:xfrm>
            <a:off x="9496425" y="5143500"/>
            <a:ext cx="8124825"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TRỰC TIẾP — dân tự hành động</a:t>
            </a:r>
          </a:p>
        </p:txBody>
      </p:sp>
      <p:sp>
        <p:nvSpPr>
          <p:cNvPr id="36" name="Rounded Rectangle 35"/>
          <p:cNvSpPr/>
          <p:nvPr/>
        </p:nvSpPr>
        <p:spPr>
          <a:xfrm>
            <a:off x="9496425" y="5143500"/>
            <a:ext cx="8124825"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7" name="Rounded Rectangle 36"/>
          <p:cNvSpPr/>
          <p:nvPr/>
        </p:nvSpPr>
        <p:spPr>
          <a:xfrm>
            <a:off x="666750" y="7353300"/>
            <a:ext cx="485775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lực thống nhất; phân công, phối hợp, kiểm soát: lập pháp – hành pháp – tư pháp</a:t>
            </a:r>
          </a:p>
        </p:txBody>
      </p:sp>
      <p:sp>
        <p:nvSpPr>
          <p:cNvPr id="38" name="Rounded Rectangle 37"/>
          <p:cNvSpPr/>
          <p:nvPr/>
        </p:nvSpPr>
        <p:spPr>
          <a:xfrm>
            <a:off x="6229350" y="7000875"/>
            <a:ext cx="6315075"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Bản chất dân chủ XHCN được thực hiện qua HAI HÌNH THỨC → trở thành quy chế, cách làm việc của mọi tổ chức</a:t>
            </a:r>
          </a:p>
        </p:txBody>
      </p:sp>
      <p:sp>
        <p:nvSpPr>
          <p:cNvPr id="39" name="Rounded Rectangle 38"/>
          <p:cNvSpPr/>
          <p:nvPr/>
        </p:nvSpPr>
        <p:spPr>
          <a:xfrm>
            <a:off x="6229350" y="7000875"/>
            <a:ext cx="6315075"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0" name="Rounded Rectangle 39"/>
          <p:cNvSpPr/>
          <p:nvPr/>
        </p:nvSpPr>
        <p:spPr>
          <a:xfrm>
            <a:off x="13249275" y="7534275"/>
            <a:ext cx="437197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Bảy chữ “dân”: tất cả quyền lực thuộc về nhân dân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300"/>
                                        <p:tgtEl>
                                          <p:spTgt spid="27"/>
                                        </p:tgtEl>
                                      </p:cBhvr>
                                    </p:animEffect>
                                  </p:childTnLst>
                                </p:cTn>
                              </p:par>
                              <p:par>
                                <p:cTn id="9" presetID="10" presetClass="entr" presetSubtype="0" fill="hold"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300"/>
                                        <p:tgtEl>
                                          <p:spTgt spid="28"/>
                                        </p:tgtEl>
                                      </p:cBhvr>
                                    </p:animEffect>
                                  </p:childTnLst>
                                </p:cTn>
                              </p:par>
                              <p:par>
                                <p:cTn id="13" presetID="10"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3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300"/>
                                        <p:tgtEl>
                                          <p:spTgt spid="30"/>
                                        </p:tgtEl>
                                      </p:cBhvr>
                                    </p:animEffect>
                                  </p:childTnLst>
                                </p:cTn>
                              </p:par>
                              <p:par>
                                <p:cTn id="21" presetID="10" presetClass="entr" presetSubtype="0"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300"/>
                                        <p:tgtEl>
                                          <p:spTgt spid="32"/>
                                        </p:tgtEl>
                                      </p:cBhvr>
                                    </p:animEffect>
                                  </p:childTnLst>
                                </p:cTn>
                              </p:par>
                              <p:par>
                                <p:cTn id="25" presetID="10"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300"/>
                                        <p:tgtEl>
                                          <p:spTgt spid="33"/>
                                        </p:tgtEl>
                                      </p:cBhvr>
                                    </p:animEffect>
                                  </p:childTnLst>
                                </p:cTn>
                              </p:par>
                              <p:par>
                                <p:cTn id="29" presetID="10" presetClass="entr" presetSubtype="0" fill="hold"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300"/>
                                        <p:tgtEl>
                                          <p:spTgt spid="34"/>
                                        </p:tgtEl>
                                      </p:cBhvr>
                                    </p:animEffect>
                                  </p:childTnLst>
                                </p:cTn>
                              </p:par>
                              <p:par>
                                <p:cTn id="33" presetID="10"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300"/>
                                        <p:tgtEl>
                                          <p:spTgt spid="35"/>
                                        </p:tgtEl>
                                      </p:cBhvr>
                                    </p:animEffect>
                                  </p:childTnLst>
                                </p:cTn>
                              </p:par>
                              <p:par>
                                <p:cTn id="37" presetID="10" presetClass="entr" presetSubtype="0" fill="hold"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00"/>
                                        <p:tgtEl>
                                          <p:spTgt spid="9"/>
                                        </p:tgtEl>
                                      </p:cBhvr>
                                    </p:animEffect>
                                  </p:childTnLst>
                                </p:cTn>
                              </p:par>
                              <p:par>
                                <p:cTn id="41" presetID="10" presetClass="entr" presetSubtype="0"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00"/>
                                        <p:tgtEl>
                                          <p:spTgt spid="10"/>
                                        </p:tgtEl>
                                      </p:cBhvr>
                                    </p:animEffect>
                                  </p:childTnLst>
                                </p:cTn>
                              </p:par>
                              <p:par>
                                <p:cTn id="45" presetID="10"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00"/>
                                        <p:tgtEl>
                                          <p:spTgt spid="16"/>
                                        </p:tgtEl>
                                      </p:cBhvr>
                                    </p:animEffect>
                                  </p:childTnLst>
                                </p:cTn>
                              </p:par>
                              <p:par>
                                <p:cTn id="49" presetID="10" presetClass="entr" presetSubtype="0" fill="hold"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00"/>
                                        <p:tgtEl>
                                          <p:spTgt spid="17"/>
                                        </p:tgtEl>
                                      </p:cBhvr>
                                    </p:animEffect>
                                  </p:childTnLst>
                                </p:cTn>
                              </p:par>
                              <p:par>
                                <p:cTn id="53" presetID="10" presetClass="entr" presetSubtype="0" fill="hold"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300"/>
                                        <p:tgtEl>
                                          <p:spTgt spid="19"/>
                                        </p:tgtEl>
                                      </p:cBhvr>
                                    </p:animEffect>
                                  </p:childTnLst>
                                </p:cTn>
                              </p:par>
                              <p:par>
                                <p:cTn id="61" presetID="10" presetClass="entr" presetSubtype="0" fill="hold"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300"/>
                                        <p:tgtEl>
                                          <p:spTgt spid="20"/>
                                        </p:tgtEl>
                                      </p:cBhvr>
                                    </p:animEffect>
                                  </p:childTnLst>
                                </p:cTn>
                              </p:par>
                              <p:par>
                                <p:cTn id="65" presetID="10"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300"/>
                                        <p:tgtEl>
                                          <p:spTgt spid="21"/>
                                        </p:tgtEl>
                                      </p:cBhvr>
                                    </p:animEffect>
                                  </p:childTnLst>
                                </p:cTn>
                              </p:par>
                              <p:par>
                                <p:cTn id="69" presetID="10" presetClass="entr" presetSubtype="0" fill="hold"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300"/>
                                        <p:tgtEl>
                                          <p:spTgt spid="22"/>
                                        </p:tgtEl>
                                      </p:cBhvr>
                                    </p:animEffect>
                                  </p:childTnLst>
                                </p:cTn>
                              </p:par>
                              <p:par>
                                <p:cTn id="73" presetID="10" presetClass="entr" presetSubtype="0" fill="hold"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300"/>
                                        <p:tgtEl>
                                          <p:spTgt spid="23"/>
                                        </p:tgtEl>
                                      </p:cBhvr>
                                    </p:animEffect>
                                  </p:childTnLst>
                                </p:cTn>
                              </p:par>
                              <p:par>
                                <p:cTn id="77" presetID="10" presetClass="entr" presetSubtype="0" fill="hold"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300"/>
                                        <p:tgtEl>
                                          <p:spTgt spid="24"/>
                                        </p:tgtEl>
                                      </p:cBhvr>
                                    </p:animEffect>
                                  </p:childTnLst>
                                </p:cTn>
                              </p:par>
                              <p:par>
                                <p:cTn id="81" presetID="10" presetClass="entr" presetSubtype="0" fill="hold"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300"/>
                                        <p:tgtEl>
                                          <p:spTgt spid="25"/>
                                        </p:tgtEl>
                                      </p:cBhvr>
                                    </p:animEffect>
                                  </p:childTnLst>
                                </p:cTn>
                              </p:par>
                              <p:par>
                                <p:cTn id="85" presetID="1" presetClass="exit" presetSubtype="0" fill="hold" nodeType="withEffect">
                                  <p:stCondLst>
                                    <p:cond delay="0"/>
                                  </p:stCondLst>
                                  <p:childTnLst>
                                    <p:set>
                                      <p:cBhvr>
                                        <p:cTn id="86" dur="1" fill="hold">
                                          <p:stCondLst>
                                            <p:cond delay="0"/>
                                          </p:stCondLst>
                                        </p:cTn>
                                        <p:tgtEl>
                                          <p:spTgt spid="31"/>
                                        </p:tgtEl>
                                        <p:attrNameLst>
                                          <p:attrName>style.visibility</p:attrName>
                                        </p:attrNameLst>
                                      </p:cBhvr>
                                      <p:to>
                                        <p:strVal val="hidden"/>
                                      </p:to>
                                    </p:set>
                                  </p:childTnLst>
                                </p:cTn>
                              </p:par>
                              <p:par>
                                <p:cTn id="88" presetID="1" presetClass="exit" presetSubtype="0" fill="hold" nodeType="withEffect">
                                  <p:stCondLst>
                                    <p:cond delay="0"/>
                                  </p:stCondLst>
                                  <p:childTnLst>
                                    <p:set>
                                      <p:cBhvr>
                                        <p:cTn id="89" dur="1" fill="hold">
                                          <p:stCondLst>
                                            <p:cond delay="0"/>
                                          </p:stCondLst>
                                        </p:cTn>
                                        <p:tgtEl>
                                          <p:spTgt spid="36"/>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300"/>
                                        <p:tgtEl>
                                          <p:spTgt spid="37"/>
                                        </p:tgtEl>
                                      </p:cBhvr>
                                    </p:animEffect>
                                  </p:childTnLst>
                                </p:cTn>
                              </p:par>
                              <p:par>
                                <p:cTn id="97" presetID="10" presetClass="entr" presetSubtype="0" fill="hold" nodeType="withEffect">
                                  <p:stCondLst>
                                    <p:cond delay="0"/>
                                  </p:stCondLst>
                                  <p:childTnLst>
                                    <p:set>
                                      <p:cBhvr>
                                        <p:cTn id="98" dur="1" fill="hold">
                                          <p:stCondLst>
                                            <p:cond delay="0"/>
                                          </p:stCondLst>
                                        </p:cTn>
                                        <p:tgtEl>
                                          <p:spTgt spid="11"/>
                                        </p:tgtEl>
                                        <p:attrNameLst>
                                          <p:attrName>style.visibility</p:attrName>
                                        </p:attrNameLst>
                                      </p:cBhvr>
                                      <p:to>
                                        <p:strVal val="visible"/>
                                      </p:to>
                                    </p:set>
                                    <p:animEffect transition="in" filter="fade">
                                      <p:cBhvr>
                                        <p:cTn id="99" dur="300"/>
                                        <p:tgtEl>
                                          <p:spTgt spid="11"/>
                                        </p:tgtEl>
                                      </p:cBhvr>
                                    </p:animEffect>
                                  </p:childTnLst>
                                </p:cTn>
                              </p:par>
                              <p:par>
                                <p:cTn id="101" presetID="10" presetClass="entr" presetSubtype="0" fill="hold" nodeType="withEffect">
                                  <p:stCondLst>
                                    <p:cond delay="0"/>
                                  </p:stCondLst>
                                  <p:childTnLst>
                                    <p:set>
                                      <p:cBhvr>
                                        <p:cTn id="102" dur="1" fill="hold">
                                          <p:stCondLst>
                                            <p:cond delay="0"/>
                                          </p:stCondLst>
                                        </p:cTn>
                                        <p:tgtEl>
                                          <p:spTgt spid="12"/>
                                        </p:tgtEl>
                                        <p:attrNameLst>
                                          <p:attrName>style.visibility</p:attrName>
                                        </p:attrNameLst>
                                      </p:cBhvr>
                                      <p:to>
                                        <p:strVal val="visible"/>
                                      </p:to>
                                    </p:set>
                                    <p:animEffect transition="in" filter="fade">
                                      <p:cBhvr>
                                        <p:cTn id="103" dur="300"/>
                                        <p:tgtEl>
                                          <p:spTgt spid="12"/>
                                        </p:tgtEl>
                                      </p:cBhvr>
                                    </p:animEffect>
                                  </p:childTnLst>
                                </p:cTn>
                              </p:par>
                              <p:par>
                                <p:cTn id="105" presetID="10" presetClass="entr" presetSubtype="0" fill="hold" nodeType="withEffect">
                                  <p:stCondLst>
                                    <p:cond delay="0"/>
                                  </p:stCondLst>
                                  <p:childTnLst>
                                    <p:set>
                                      <p:cBhvr>
                                        <p:cTn id="106" dur="1" fill="hold">
                                          <p:stCondLst>
                                            <p:cond delay="0"/>
                                          </p:stCondLst>
                                        </p:cTn>
                                        <p:tgtEl>
                                          <p:spTgt spid="13"/>
                                        </p:tgtEl>
                                        <p:attrNameLst>
                                          <p:attrName>style.visibility</p:attrName>
                                        </p:attrNameLst>
                                      </p:cBhvr>
                                      <p:to>
                                        <p:strVal val="visible"/>
                                      </p:to>
                                    </p:set>
                                    <p:animEffect transition="in" filter="fade">
                                      <p:cBhvr>
                                        <p:cTn id="107" dur="300"/>
                                        <p:tgtEl>
                                          <p:spTgt spid="13"/>
                                        </p:tgtEl>
                                      </p:cBhvr>
                                    </p:animEffect>
                                  </p:childTnLst>
                                </p:cTn>
                              </p:par>
                              <p:par>
                                <p:cTn id="109" presetID="10" presetClass="entr" presetSubtype="0" fill="hold" nodeType="withEffect">
                                  <p:stCondLst>
                                    <p:cond delay="0"/>
                                  </p:stCondLst>
                                  <p:childTnLst>
                                    <p:set>
                                      <p:cBhvr>
                                        <p:cTn id="110" dur="1" fill="hold">
                                          <p:stCondLst>
                                            <p:cond delay="0"/>
                                          </p:stCondLst>
                                        </p:cTn>
                                        <p:tgtEl>
                                          <p:spTgt spid="14"/>
                                        </p:tgtEl>
                                        <p:attrNameLst>
                                          <p:attrName>style.visibility</p:attrName>
                                        </p:attrNameLst>
                                      </p:cBhvr>
                                      <p:to>
                                        <p:strVal val="visible"/>
                                      </p:to>
                                    </p:set>
                                    <p:animEffect transition="in" filter="fade">
                                      <p:cBhvr>
                                        <p:cTn id="111" dur="300"/>
                                        <p:tgtEl>
                                          <p:spTgt spid="14"/>
                                        </p:tgtEl>
                                      </p:cBhvr>
                                    </p:animEffect>
                                  </p:childTnLst>
                                </p:cTn>
                              </p:par>
                              <p:par>
                                <p:cTn id="113" presetID="10" presetClass="entr" presetSubtype="0" fill="hold" nodeType="withEffect">
                                  <p:stCondLst>
                                    <p:cond delay="0"/>
                                  </p:stCondLst>
                                  <p:childTnLst>
                                    <p:set>
                                      <p:cBhvr>
                                        <p:cTn id="114" dur="1" fill="hold">
                                          <p:stCondLst>
                                            <p:cond delay="0"/>
                                          </p:stCondLst>
                                        </p:cTn>
                                        <p:tgtEl>
                                          <p:spTgt spid="15"/>
                                        </p:tgtEl>
                                        <p:attrNameLst>
                                          <p:attrName>style.visibility</p:attrName>
                                        </p:attrNameLst>
                                      </p:cBhvr>
                                      <p:to>
                                        <p:strVal val="visible"/>
                                      </p:to>
                                    </p:set>
                                    <p:animEffect transition="in" filter="fade">
                                      <p:cBhvr>
                                        <p:cTn id="115" dur="300"/>
                                        <p:tgtEl>
                                          <p:spTgt spid="15"/>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40"/>
                                        </p:tgtEl>
                                        <p:attrNameLst>
                                          <p:attrName>style.visibility</p:attrName>
                                        </p:attrNameLst>
                                      </p:cBhvr>
                                      <p:to>
                                        <p:strVal val="visible"/>
                                      </p:to>
                                    </p:set>
                                    <p:animEffect transition="in" filter="fade">
                                      <p:cBhvr>
                                        <p:cTn id="121" dur="300"/>
                                        <p:tgtEl>
                                          <p:spTgt spid="40"/>
                                        </p:tgtEl>
                                      </p:cBhvr>
                                    </p:animEffect>
                                  </p:childTnLst>
                                </p:cTn>
                              </p:par>
                              <p:par>
                                <p:cTn id="123" presetID="10" presetClass="entr" presetSubtype="0" fill="hold" nodeType="withEffect">
                                  <p:stCondLst>
                                    <p:cond delay="0"/>
                                  </p:stCondLst>
                                  <p:childTnLst>
                                    <p:set>
                                      <p:cBhvr>
                                        <p:cTn id="124" dur="1" fill="hold">
                                          <p:stCondLst>
                                            <p:cond delay="0"/>
                                          </p:stCondLst>
                                        </p:cTn>
                                        <p:tgtEl>
                                          <p:spTgt spid="26"/>
                                        </p:tgtEl>
                                        <p:attrNameLst>
                                          <p:attrName>style.visibility</p:attrName>
                                        </p:attrNameLst>
                                      </p:cBhvr>
                                      <p:to>
                                        <p:strVal val="visible"/>
                                      </p:to>
                                    </p:set>
                                    <p:animEffect transition="in" filter="fade">
                                      <p:cBhvr>
                                        <p:cTn id="125" dur="300"/>
                                        <p:tgtEl>
                                          <p:spTgt spid="26"/>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300"/>
                                        <p:tgtEl>
                                          <p:spTgt spid="38"/>
                                        </p:tgtEl>
                                      </p:cBhvr>
                                    </p:animEffect>
                                  </p:childTnLst>
                                </p:cTn>
                              </p:par>
                              <p:par>
                                <p:cTn id="133" presetID="1" presetClass="exit" presetSubtype="0" fill="hold" nodeType="withEffect">
                                  <p:stCondLst>
                                    <p:cond delay="0"/>
                                  </p:stCondLst>
                                  <p:childTnLst>
                                    <p:set>
                                      <p:cBhvr>
                                        <p:cTn id="134"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Thực tiễn xây dựng đất nước</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00725" y="41767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91225" y="41767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124575" y="4176712"/>
            <a:ext cx="0" cy="14144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24575" y="55911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24575"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00725" y="5591175"/>
            <a:ext cx="2571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57900" y="5591175"/>
            <a:ext cx="666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124575" y="5591175"/>
            <a:ext cx="0" cy="666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24575" y="5657850"/>
            <a:ext cx="0" cy="666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24575"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0725" y="68103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91225" y="68103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124575" y="5857875"/>
            <a:ext cx="0" cy="9525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124575" y="57245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124575"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296775" y="39862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2163425" y="39862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163425" y="3986212"/>
            <a:ext cx="0" cy="1604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163425" y="55911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887200"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296775"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2163425"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163425" y="5400675"/>
            <a:ext cx="0" cy="1905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163425" y="55911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887200"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296775" y="68151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2163425" y="68151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2163425" y="5857875"/>
            <a:ext cx="0" cy="9572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163425" y="57245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887200"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66750" y="3267075"/>
            <a:ext cx="509587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Yêu cầu tất yếu: củng cố điều kiện đảm bảo quyền làm chủ; chăm lo đời sống vật chất, tinh thần</a:t>
            </a:r>
          </a:p>
        </p:txBody>
      </p:sp>
      <p:sp>
        <p:nvSpPr>
          <p:cNvPr id="40" name="Rounded Rectangle 39"/>
          <p:cNvSpPr/>
          <p:nvPr/>
        </p:nvSpPr>
        <p:spPr>
          <a:xfrm>
            <a:off x="666750" y="52578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làm chủ ngày càng mở rộng, hoạt động có hiệu quả</a:t>
            </a:r>
          </a:p>
        </p:txBody>
      </p:sp>
      <p:sp>
        <p:nvSpPr>
          <p:cNvPr id="41" name="Rounded Rectangle 40"/>
          <p:cNvSpPr/>
          <p:nvPr/>
        </p:nvSpPr>
        <p:spPr>
          <a:xfrm>
            <a:off x="666750" y="64770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Ý thức làm chủ, trách nhiệm công dân ngày càng được đề cao</a:t>
            </a:r>
          </a:p>
        </p:txBody>
      </p:sp>
      <p:sp>
        <p:nvSpPr>
          <p:cNvPr id="42" name="Rounded Rectangle 41"/>
          <p:cNvSpPr/>
          <p:nvPr/>
        </p:nvSpPr>
        <p:spPr>
          <a:xfrm>
            <a:off x="7162800" y="3800475"/>
            <a:ext cx="3971925"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Chữ “quyền” luôn đi cùng chữ gì?</a:t>
            </a:r>
          </a:p>
        </p:txBody>
      </p:sp>
      <p:sp>
        <p:nvSpPr>
          <p:cNvPr id="43" name="Rounded Rectangle 42"/>
          <p:cNvSpPr/>
          <p:nvPr/>
        </p:nvSpPr>
        <p:spPr>
          <a:xfrm>
            <a:off x="6467475" y="4457700"/>
            <a:ext cx="5353050"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“Mọi đường lối, chính sách của Đảng và pháp luật của Nhà nước đều vì lợi ích của nhân dân, có sự tham gia ý kiến của nhân dân”</a:t>
            </a:r>
          </a:p>
        </p:txBody>
      </p:sp>
      <p:sp>
        <p:nvSpPr>
          <p:cNvPr id="44" name="Rounded Rectangle 43"/>
          <p:cNvSpPr/>
          <p:nvPr/>
        </p:nvSpPr>
        <p:spPr>
          <a:xfrm>
            <a:off x="6467475" y="4457700"/>
            <a:ext cx="5353050"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5" name="Rounded Rectangle 44"/>
          <p:cNvSpPr/>
          <p:nvPr/>
        </p:nvSpPr>
        <p:spPr>
          <a:xfrm>
            <a:off x="12525375" y="3267075"/>
            <a:ext cx="50958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Mọi công dân có quyền tham gia quản lý xã hội bằng nhiều cách, tùy trách nhiệm và nghĩa vụ</a:t>
            </a:r>
          </a:p>
        </p:txBody>
      </p:sp>
      <p:sp>
        <p:nvSpPr>
          <p:cNvPr id="46" name="Rounded Rectangle 45"/>
          <p:cNvSpPr/>
          <p:nvPr/>
        </p:nvSpPr>
        <p:spPr>
          <a:xfrm>
            <a:off x="12525375" y="48768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Dân chủ công dân gắn liền kỷ cương, thể chế hóa bằng luật</a:t>
            </a:r>
          </a:p>
        </p:txBody>
      </p:sp>
      <p:sp>
        <p:nvSpPr>
          <p:cNvPr id="47" name="Rounded Rectangle 46"/>
          <p:cNvSpPr/>
          <p:nvPr/>
        </p:nvSpPr>
        <p:spPr>
          <a:xfrm>
            <a:off x="12525375" y="6096000"/>
            <a:ext cx="50958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 chế dân chủ từ cơ sở đến Trung ương: </a:t>
            </a:r>
            <a:r>
              <a:rPr sz="2137" b="1" i="0">
                <a:solidFill>
                  <a:srgbClr val="8C2F2B"/>
                </a:solidFill>
                <a:latin typeface="Arial"/>
              </a:rPr>
              <a:t>DÂN BIẾT · DÂN BÀN · DÂN LÀM · DÂN KIỂM TRA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300"/>
                                        <p:tgtEl>
                                          <p:spTgt spid="39"/>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0"/>
                                        </p:tgtEl>
                                        <p:attrNameLst>
                                          <p:attrName>style.visibility</p:attrName>
                                        </p:attrNameLst>
                                      </p:cBhvr>
                                      <p:to>
                                        <p:strVal val="visible"/>
                                      </p:to>
                                    </p:set>
                                    <p:animEffect transition="in" filter="fade">
                                      <p:cBhvr>
                                        <p:cTn id="33" dur="300"/>
                                        <p:tgtEl>
                                          <p:spTgt spid="40"/>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fade">
                                      <p:cBhvr>
                                        <p:cTn id="59" dur="300"/>
                                        <p:tgtEl>
                                          <p:spTgt spid="41"/>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5"/>
                                        </p:tgtEl>
                                        <p:attrNameLst>
                                          <p:attrName>style.visibility</p:attrName>
                                        </p:attrNameLst>
                                      </p:cBhvr>
                                      <p:to>
                                        <p:strVal val="visible"/>
                                      </p:to>
                                    </p:set>
                                    <p:animEffect transition="in" filter="fade">
                                      <p:cBhvr>
                                        <p:cTn id="85" dur="30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par>
                                <p:cTn id="91" presetID="10" presetClass="entr" presetSubtype="0" fill="hold"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300"/>
                                        <p:tgtEl>
                                          <p:spTgt spid="25"/>
                                        </p:tgtEl>
                                      </p:cBhvr>
                                    </p:animEffect>
                                  </p:childTnLst>
                                </p:cTn>
                              </p:par>
                              <p:par>
                                <p:cTn id="95" presetID="10" presetClass="entr" presetSubtype="0" fill="hold" nodeType="withEffect">
                                  <p:stCondLst>
                                    <p:cond delay="0"/>
                                  </p:stCondLst>
                                  <p:childTnLst>
                                    <p:set>
                                      <p:cBhvr>
                                        <p:cTn id="96" dur="1" fill="hold">
                                          <p:stCondLst>
                                            <p:cond delay="0"/>
                                          </p:stCondLst>
                                        </p:cTn>
                                        <p:tgtEl>
                                          <p:spTgt spid="26"/>
                                        </p:tgtEl>
                                        <p:attrNameLst>
                                          <p:attrName>style.visibility</p:attrName>
                                        </p:attrNameLst>
                                      </p:cBhvr>
                                      <p:to>
                                        <p:strVal val="visible"/>
                                      </p:to>
                                    </p:set>
                                    <p:animEffect transition="in" filter="fade">
                                      <p:cBhvr>
                                        <p:cTn id="97" dur="300"/>
                                        <p:tgtEl>
                                          <p:spTgt spid="26"/>
                                        </p:tgtEl>
                                      </p:cBhvr>
                                    </p:animEffect>
                                  </p:childTnLst>
                                </p:cTn>
                              </p:par>
                              <p:par>
                                <p:cTn id="99" presetID="10" presetClass="entr" presetSubtype="0" fill="hold" nodeType="withEffect">
                                  <p:stCondLst>
                                    <p:cond delay="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300"/>
                                        <p:tgtEl>
                                          <p:spTgt spid="27"/>
                                        </p:tgtEl>
                                      </p:cBhvr>
                                    </p:animEffect>
                                  </p:childTnLst>
                                </p:cTn>
                              </p:par>
                              <p:par>
                                <p:cTn id="103" presetID="10" presetClass="entr" presetSubtype="0" fill="hold" nodeType="withEffect">
                                  <p:stCondLst>
                                    <p:cond delay="0"/>
                                  </p:stCondLst>
                                  <p:childTnLst>
                                    <p:set>
                                      <p:cBhvr>
                                        <p:cTn id="104" dur="1" fill="hold">
                                          <p:stCondLst>
                                            <p:cond delay="0"/>
                                          </p:stCondLst>
                                        </p:cTn>
                                        <p:tgtEl>
                                          <p:spTgt spid="28"/>
                                        </p:tgtEl>
                                        <p:attrNameLst>
                                          <p:attrName>style.visibility</p:attrName>
                                        </p:attrNameLst>
                                      </p:cBhvr>
                                      <p:to>
                                        <p:strVal val="visible"/>
                                      </p:to>
                                    </p:set>
                                    <p:animEffect transition="in" filter="fade">
                                      <p:cBhvr>
                                        <p:cTn id="105" dur="300"/>
                                        <p:tgtEl>
                                          <p:spTgt spid="28"/>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46"/>
                                        </p:tgtEl>
                                        <p:attrNameLst>
                                          <p:attrName>style.visibility</p:attrName>
                                        </p:attrNameLst>
                                      </p:cBhvr>
                                      <p:to>
                                        <p:strVal val="visible"/>
                                      </p:to>
                                    </p:set>
                                    <p:animEffect transition="in" filter="fade">
                                      <p:cBhvr>
                                        <p:cTn id="111" dur="300"/>
                                        <p:tgtEl>
                                          <p:spTgt spid="46"/>
                                        </p:tgtEl>
                                      </p:cBhvr>
                                    </p:animEffect>
                                  </p:childTnLst>
                                </p:cTn>
                              </p:par>
                              <p:par>
                                <p:cTn id="113" presetID="10" presetClass="entr" presetSubtype="0" fill="hold"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300"/>
                                        <p:tgtEl>
                                          <p:spTgt spid="29"/>
                                        </p:tgtEl>
                                      </p:cBhvr>
                                    </p:animEffect>
                                  </p:childTnLst>
                                </p:cTn>
                              </p:par>
                              <p:par>
                                <p:cTn id="117" presetID="10" presetClass="entr" presetSubtype="0" fill="hold" nodeType="withEffect">
                                  <p:stCondLst>
                                    <p:cond delay="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300"/>
                                        <p:tgtEl>
                                          <p:spTgt spid="30"/>
                                        </p:tgtEl>
                                      </p:cBhvr>
                                    </p:animEffect>
                                  </p:childTnLst>
                                </p:cTn>
                              </p:par>
                              <p:par>
                                <p:cTn id="121" presetID="10" presetClass="entr" presetSubtype="0" fill="hold" nodeType="withEffect">
                                  <p:stCondLst>
                                    <p:cond delay="0"/>
                                  </p:stCondLst>
                                  <p:childTnLst>
                                    <p:set>
                                      <p:cBhvr>
                                        <p:cTn id="122" dur="1" fill="hold">
                                          <p:stCondLst>
                                            <p:cond delay="0"/>
                                          </p:stCondLst>
                                        </p:cTn>
                                        <p:tgtEl>
                                          <p:spTgt spid="31"/>
                                        </p:tgtEl>
                                        <p:attrNameLst>
                                          <p:attrName>style.visibility</p:attrName>
                                        </p:attrNameLst>
                                      </p:cBhvr>
                                      <p:to>
                                        <p:strVal val="visible"/>
                                      </p:to>
                                    </p:set>
                                    <p:animEffect transition="in" filter="fade">
                                      <p:cBhvr>
                                        <p:cTn id="123" dur="300"/>
                                        <p:tgtEl>
                                          <p:spTgt spid="31"/>
                                        </p:tgtEl>
                                      </p:cBhvr>
                                    </p:animEffect>
                                  </p:childTnLst>
                                </p:cTn>
                              </p:par>
                              <p:par>
                                <p:cTn id="125" presetID="10" presetClass="entr" presetSubtype="0" fill="hold" nodeType="withEffect">
                                  <p:stCondLst>
                                    <p:cond delay="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300"/>
                                        <p:tgtEl>
                                          <p:spTgt spid="32"/>
                                        </p:tgtEl>
                                      </p:cBhvr>
                                    </p:animEffect>
                                  </p:childTnLst>
                                </p:cTn>
                              </p:par>
                              <p:par>
                                <p:cTn id="129" presetID="10" presetClass="entr" presetSubtype="0" fill="hold" nodeType="withEffect">
                                  <p:stCondLst>
                                    <p:cond delay="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31" dur="300"/>
                                        <p:tgtEl>
                                          <p:spTgt spid="3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47"/>
                                        </p:tgtEl>
                                        <p:attrNameLst>
                                          <p:attrName>style.visibility</p:attrName>
                                        </p:attrNameLst>
                                      </p:cBhvr>
                                      <p:to>
                                        <p:strVal val="visible"/>
                                      </p:to>
                                    </p:set>
                                    <p:animEffect transition="in" filter="fade">
                                      <p:cBhvr>
                                        <p:cTn id="137" dur="300"/>
                                        <p:tgtEl>
                                          <p:spTgt spid="47"/>
                                        </p:tgtEl>
                                      </p:cBhvr>
                                    </p:animEffect>
                                  </p:childTnLst>
                                </p:cTn>
                              </p:par>
                              <p:par>
                                <p:cTn id="139" presetID="10" presetClass="entr" presetSubtype="0" fill="hold" nodeType="withEffect">
                                  <p:stCondLst>
                                    <p:cond delay="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300"/>
                                        <p:tgtEl>
                                          <p:spTgt spid="34"/>
                                        </p:tgtEl>
                                      </p:cBhvr>
                                    </p:animEffect>
                                  </p:childTnLst>
                                </p:cTn>
                              </p:par>
                              <p:par>
                                <p:cTn id="143" presetID="10" presetClass="entr" presetSubtype="0" fill="hold" nodeType="withEffect">
                                  <p:stCondLst>
                                    <p:cond delay="0"/>
                                  </p:stCondLst>
                                  <p:childTnLst>
                                    <p:set>
                                      <p:cBhvr>
                                        <p:cTn id="144" dur="1" fill="hold">
                                          <p:stCondLst>
                                            <p:cond delay="0"/>
                                          </p:stCondLst>
                                        </p:cTn>
                                        <p:tgtEl>
                                          <p:spTgt spid="35"/>
                                        </p:tgtEl>
                                        <p:attrNameLst>
                                          <p:attrName>style.visibility</p:attrName>
                                        </p:attrNameLst>
                                      </p:cBhvr>
                                      <p:to>
                                        <p:strVal val="visible"/>
                                      </p:to>
                                    </p:set>
                                    <p:animEffect transition="in" filter="fade">
                                      <p:cBhvr>
                                        <p:cTn id="145" dur="300"/>
                                        <p:tgtEl>
                                          <p:spTgt spid="35"/>
                                        </p:tgtEl>
                                      </p:cBhvr>
                                    </p:animEffect>
                                  </p:childTnLst>
                                </p:cTn>
                              </p:par>
                              <p:par>
                                <p:cTn id="147" presetID="10" presetClass="entr" presetSubtype="0" fill="hold" nodeType="withEffect">
                                  <p:stCondLst>
                                    <p:cond delay="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49" dur="300"/>
                                        <p:tgtEl>
                                          <p:spTgt spid="36"/>
                                        </p:tgtEl>
                                      </p:cBhvr>
                                    </p:animEffect>
                                  </p:childTnLst>
                                </p:cTn>
                              </p:par>
                              <p:par>
                                <p:cTn id="151" presetID="10" presetClass="entr" presetSubtype="0" fill="hold" nodeType="withEffect">
                                  <p:stCondLst>
                                    <p:cond delay="0"/>
                                  </p:stCondLst>
                                  <p:childTnLst>
                                    <p:set>
                                      <p:cBhvr>
                                        <p:cTn id="152" dur="1" fill="hold">
                                          <p:stCondLst>
                                            <p:cond delay="0"/>
                                          </p:stCondLst>
                                        </p:cTn>
                                        <p:tgtEl>
                                          <p:spTgt spid="37"/>
                                        </p:tgtEl>
                                        <p:attrNameLst>
                                          <p:attrName>style.visibility</p:attrName>
                                        </p:attrNameLst>
                                      </p:cBhvr>
                                      <p:to>
                                        <p:strVal val="visible"/>
                                      </p:to>
                                    </p:set>
                                    <p:animEffect transition="in" filter="fade">
                                      <p:cBhvr>
                                        <p:cTn id="153" dur="300"/>
                                        <p:tgtEl>
                                          <p:spTgt spid="37"/>
                                        </p:tgtEl>
                                      </p:cBhvr>
                                    </p:animEffect>
                                  </p:childTnLst>
                                </p:cTn>
                              </p:par>
                              <p:par>
                                <p:cTn id="155" presetID="10" presetClass="entr" presetSubtype="0" fill="hold" nodeType="withEffect">
                                  <p:stCondLst>
                                    <p:cond delay="0"/>
                                  </p:stCondLst>
                                  <p:childTnLst>
                                    <p:set>
                                      <p:cBhvr>
                                        <p:cTn id="156" dur="1" fill="hold">
                                          <p:stCondLst>
                                            <p:cond delay="0"/>
                                          </p:stCondLst>
                                        </p:cTn>
                                        <p:tgtEl>
                                          <p:spTgt spid="38"/>
                                        </p:tgtEl>
                                        <p:attrNameLst>
                                          <p:attrName>style.visibility</p:attrName>
                                        </p:attrNameLst>
                                      </p:cBhvr>
                                      <p:to>
                                        <p:strVal val="visible"/>
                                      </p:to>
                                    </p:set>
                                    <p:animEffect transition="in" filter="fade">
                                      <p:cBhvr>
                                        <p:cTn id="157" dur="300"/>
                                        <p:tgtEl>
                                          <p:spTgt spid="38"/>
                                        </p:tgtEl>
                                      </p:cBhvr>
                                    </p:animEffect>
                                  </p:childTnLst>
                                </p:cTn>
                              </p:par>
                            </p:childTnLst>
                          </p:cTn>
                        </p:par>
                      </p:childTnLst>
                    </p:cTn>
                  </p:par>
                  <p:par>
                    <p:cTn id="159" fill="hold">
                      <p:stCondLst>
                        <p:cond delay="indefinite"/>
                      </p:stCondLst>
                      <p:childTnLst>
                        <p:par>
                          <p:cTn id="160" fill="hold">
                            <p:stCondLst>
                              <p:cond delay="0"/>
                            </p:stCondLst>
                            <p:childTnLst>
                              <p:par>
                                <p:cTn id="161" presetID="10" presetClass="entr" presetSubtype="0" fill="hold" nodeType="clickEffect">
                                  <p:stCondLst>
                                    <p:cond delay="0"/>
                                  </p:stCondLst>
                                  <p:childTnLst>
                                    <p:set>
                                      <p:cBhvr>
                                        <p:cTn id="162" dur="1" fill="hold">
                                          <p:stCondLst>
                                            <p:cond delay="0"/>
                                          </p:stCondLst>
                                        </p:cTn>
                                        <p:tgtEl>
                                          <p:spTgt spid="42"/>
                                        </p:tgtEl>
                                        <p:attrNameLst>
                                          <p:attrName>style.visibility</p:attrName>
                                        </p:attrNameLst>
                                      </p:cBhvr>
                                      <p:to>
                                        <p:strVal val="visible"/>
                                      </p:to>
                                    </p:set>
                                    <p:animEffect transition="in" filter="fade">
                                      <p:cBhvr>
                                        <p:cTn id="163" dur="300"/>
                                        <p:tgtEl>
                                          <p:spTgt spid="42"/>
                                        </p:tgtEl>
                                      </p:cBhvr>
                                    </p:animEffect>
                                  </p:childTnLst>
                                </p:cTn>
                              </p:par>
                            </p:childTnLst>
                          </p:cTn>
                        </p:par>
                      </p:childTnLst>
                    </p:cTn>
                  </p:par>
                  <p:par>
                    <p:cTn id="165" fill="hold">
                      <p:stCondLst>
                        <p:cond delay="indefinite"/>
                      </p:stCondLst>
                      <p:childTnLst>
                        <p:par>
                          <p:cTn id="166" fill="hold">
                            <p:stCondLst>
                              <p:cond delay="0"/>
                            </p:stCondLst>
                            <p:childTnLst>
                              <p:par>
                                <p:cTn id="167" presetID="10" presetClass="entr" presetSubtype="0" fill="hold" nodeType="clickEffect">
                                  <p:stCondLst>
                                    <p:cond delay="0"/>
                                  </p:stCondLst>
                                  <p:childTnLst>
                                    <p:set>
                                      <p:cBhvr>
                                        <p:cTn id="168" dur="1" fill="hold">
                                          <p:stCondLst>
                                            <p:cond delay="0"/>
                                          </p:stCondLst>
                                        </p:cTn>
                                        <p:tgtEl>
                                          <p:spTgt spid="43"/>
                                        </p:tgtEl>
                                        <p:attrNameLst>
                                          <p:attrName>style.visibility</p:attrName>
                                        </p:attrNameLst>
                                      </p:cBhvr>
                                      <p:to>
                                        <p:strVal val="visible"/>
                                      </p:to>
                                    </p:set>
                                    <p:animEffect transition="in" filter="fade">
                                      <p:cBhvr>
                                        <p:cTn id="169" dur="300"/>
                                        <p:tgtEl>
                                          <p:spTgt spid="43"/>
                                        </p:tgtEl>
                                      </p:cBhvr>
                                    </p:animEffect>
                                  </p:childTnLst>
                                </p:cTn>
                              </p:par>
                              <p:par>
                                <p:cTn id="171" presetID="1" presetClass="exit" presetSubtype="0" fill="hold" nodeType="withEffect">
                                  <p:stCondLst>
                                    <p:cond delay="0"/>
                                  </p:stCondLst>
                                  <p:childTnLst>
                                    <p:set>
                                      <p:cBhvr>
                                        <p:cTn id="172"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Những trở ngại</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905250" y="597217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05250" y="602932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905250" y="6086475"/>
            <a:ext cx="51577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063038" y="60864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0" y="60864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4382750" y="5743575"/>
            <a:ext cx="0" cy="2095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4382750" y="59531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9224962" y="6086475"/>
            <a:ext cx="51577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9144000" y="60864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44000" y="60864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66750" y="3200400"/>
            <a:ext cx="647700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Xuất phát từ nền kinh tế kém phát triển</a:t>
            </a:r>
          </a:p>
        </p:txBody>
      </p:sp>
      <p:sp>
        <p:nvSpPr>
          <p:cNvPr id="20" name="Rounded Rectangle 19"/>
          <p:cNvSpPr/>
          <p:nvPr/>
        </p:nvSpPr>
        <p:spPr>
          <a:xfrm>
            <a:off x="666750" y="4038600"/>
            <a:ext cx="647700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Hậu quả chiến tranh tàn phá nặng nề</a:t>
            </a:r>
          </a:p>
        </p:txBody>
      </p:sp>
      <p:sp>
        <p:nvSpPr>
          <p:cNvPr id="21" name="Rounded Rectangle 20"/>
          <p:cNvSpPr/>
          <p:nvPr/>
        </p:nvSpPr>
        <p:spPr>
          <a:xfrm>
            <a:off x="666750" y="4876800"/>
            <a:ext cx="64770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Tiêu cực xã hội chưa khắc phục triệt để → suy giảm động lực phát triển</a:t>
            </a:r>
          </a:p>
        </p:txBody>
      </p:sp>
      <p:sp>
        <p:nvSpPr>
          <p:cNvPr id="22" name="Rounded Rectangle 21"/>
          <p:cNvSpPr/>
          <p:nvPr/>
        </p:nvSpPr>
        <p:spPr>
          <a:xfrm>
            <a:off x="8410575" y="4324350"/>
            <a:ext cx="1476375"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Mặt khác</a:t>
            </a:r>
          </a:p>
        </p:txBody>
      </p:sp>
      <p:sp>
        <p:nvSpPr>
          <p:cNvPr id="23" name="Rounded Rectangle 22"/>
          <p:cNvSpPr/>
          <p:nvPr/>
        </p:nvSpPr>
        <p:spPr>
          <a:xfrm>
            <a:off x="11144250" y="3429000"/>
            <a:ext cx="64770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“Diễn biến hòa bình”, bạo loạn, lật đổ; chiêu bài “dân chủ”, “nhân quyền”</a:t>
            </a:r>
          </a:p>
        </p:txBody>
      </p:sp>
      <p:sp>
        <p:nvSpPr>
          <p:cNvPr id="24" name="Rounded Rectangle 23"/>
          <p:cNvSpPr/>
          <p:nvPr/>
        </p:nvSpPr>
        <p:spPr>
          <a:xfrm>
            <a:off x="11144250" y="4648200"/>
            <a:ext cx="64770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“Tự diễn biến”, “tự chuyển hóa” — hết sức phức tạp</a:t>
            </a:r>
          </a:p>
        </p:txBody>
      </p:sp>
      <p:sp>
        <p:nvSpPr>
          <p:cNvPr id="25" name="Rounded Rectangle 24"/>
          <p:cNvSpPr/>
          <p:nvPr/>
        </p:nvSpPr>
        <p:spPr>
          <a:xfrm>
            <a:off x="666750" y="6315075"/>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Đang là TRỞ NGẠI đối với thực hiện dân chủ ở nước ta hiện nay</a:t>
            </a:r>
          </a:p>
        </p:txBody>
      </p:sp>
      <p:sp>
        <p:nvSpPr>
          <p:cNvPr id="26" name="Rounded Rectangle 25"/>
          <p:cNvSpPr/>
          <p:nvPr/>
        </p:nvSpPr>
        <p:spPr>
          <a:xfrm>
            <a:off x="666750" y="6315075"/>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3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3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3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300"/>
                                        <p:tgtEl>
                                          <p:spTgt spid="23"/>
                                        </p:tgtEl>
                                      </p:cBhvr>
                                    </p:animEffect>
                                  </p:childTnLst>
                                </p:cTn>
                              </p:par>
                              <p:par>
                                <p:cTn id="53" presetID="10" presetClass="entr" presetSubtype="0"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300"/>
                                        <p:tgtEl>
                                          <p:spTgt spid="14"/>
                                        </p:tgtEl>
                                      </p:cBhvr>
                                    </p:animEffect>
                                  </p:childTnLst>
                                </p:cTn>
                              </p:par>
                              <p:par>
                                <p:cTn id="57" presetID="10" presetClass="entr" presetSubtype="0"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300"/>
                                        <p:tgtEl>
                                          <p:spTgt spid="15"/>
                                        </p:tgtEl>
                                      </p:cBhvr>
                                    </p:animEffect>
                                  </p:childTnLst>
                                </p:cTn>
                              </p:par>
                              <p:par>
                                <p:cTn id="61" presetID="10"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300"/>
                                        <p:tgtEl>
                                          <p:spTgt spid="16"/>
                                        </p:tgtEl>
                                      </p:cBhvr>
                                    </p:animEffect>
                                  </p:childTnLst>
                                </p:cTn>
                              </p:par>
                              <p:par>
                                <p:cTn id="65" presetID="10" presetClass="entr" presetSubtype="0" fill="hold" nodeType="withEffect">
                                  <p:stCondLst>
                                    <p:cond delay="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300"/>
                                        <p:tgtEl>
                                          <p:spTgt spid="17"/>
                                        </p:tgtEl>
                                      </p:cBhvr>
                                    </p:animEffect>
                                  </p:childTnLst>
                                </p:cTn>
                              </p:par>
                              <p:par>
                                <p:cTn id="69" presetID="10" presetClass="entr" presetSubtype="0"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300"/>
                                        <p:tgtEl>
                                          <p:spTgt spid="1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300"/>
                                        <p:tgtEl>
                                          <p:spTgt spid="24"/>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300"/>
                                        <p:tgtEl>
                                          <p:spTgt spid="25"/>
                                        </p:tgtEl>
                                      </p:cBhvr>
                                    </p:animEffect>
                                  </p:childTnLst>
                                </p:cTn>
                              </p:par>
                              <p:par>
                                <p:cTn id="85" presetID="1" presetClass="exit" presetSubtype="0" fill="hold" nodeType="withEffect">
                                  <p:stCondLst>
                                    <p:cond delay="0"/>
                                  </p:stCondLst>
                                  <p:childTnLst>
                                    <p:set>
                                      <p:cBhvr>
                                        <p:cTn id="86"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Phần 1 — Dân chủ xã hội chủ nghĩa ở Việt Nam</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562600" y="415766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53100" y="415766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86450" y="4157662"/>
            <a:ext cx="0" cy="3000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86450" y="445770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6450"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562600" y="55911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753100" y="55911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6450" y="4724400"/>
            <a:ext cx="0" cy="866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8864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86450"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62600" y="68294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53100" y="68294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886450" y="4724400"/>
            <a:ext cx="0" cy="21050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8864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86450"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520612" y="4352925"/>
            <a:ext cx="2047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2401550" y="4352925"/>
            <a:ext cx="1190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401550" y="4352925"/>
            <a:ext cx="0" cy="1190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401550" y="4471988"/>
            <a:ext cx="0" cy="1190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2125325"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534900" y="55911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2401550" y="55911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2401550" y="4724400"/>
            <a:ext cx="0" cy="866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24015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2125325"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534900" y="66389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2401550" y="66389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2401550" y="4724400"/>
            <a:ext cx="0" cy="19145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4015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2125325"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144000" y="5895975"/>
            <a:ext cx="0" cy="7620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66750" y="3429000"/>
            <a:ext cx="4857750"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và trong Đổi mới: từ “chưa xác định” → bản chất · mục tiêu · động lực</a:t>
            </a:r>
          </a:p>
        </p:txBody>
      </p:sp>
      <p:sp>
        <p:nvSpPr>
          <p:cNvPr id="41" name="Rounded Rectangle 40"/>
          <p:cNvSpPr/>
          <p:nvPr/>
        </p:nvSpPr>
        <p:spPr>
          <a:xfrm>
            <a:off x="666750" y="505777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Tất cả quyền lực thuộc về nhân dân</a:t>
            </a:r>
          </a:p>
        </p:txBody>
      </p:sp>
      <p:sp>
        <p:nvSpPr>
          <p:cNvPr id="42" name="Rounded Rectangle 41"/>
          <p:cNvSpPr/>
          <p:nvPr/>
        </p:nvSpPr>
        <p:spPr>
          <a:xfrm>
            <a:off x="666750" y="629602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Bốn nội dung · thực hiện ở mọi cấp, mọi lĩnh vực</a:t>
            </a:r>
          </a:p>
        </p:txBody>
      </p:sp>
      <p:sp>
        <p:nvSpPr>
          <p:cNvPr id="43" name="Rounded Rectangle 42"/>
          <p:cNvSpPr/>
          <p:nvPr/>
        </p:nvSpPr>
        <p:spPr>
          <a:xfrm>
            <a:off x="6229350" y="3324225"/>
            <a:ext cx="5829300"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Bản chất tốt đẹp, tính ưu việt của nền dân chủ XHCN Việt Nam càng ngày càng thể hiện giá trị LẤY DÂN LÀM GỐC — nhân dân thực sự trở thành người làm chủ</a:t>
            </a:r>
          </a:p>
        </p:txBody>
      </p:sp>
      <p:sp>
        <p:nvSpPr>
          <p:cNvPr id="44" name="Rounded Rectangle 43"/>
          <p:cNvSpPr/>
          <p:nvPr/>
        </p:nvSpPr>
        <p:spPr>
          <a:xfrm>
            <a:off x="6229350" y="3324225"/>
            <a:ext cx="5829300"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5" name="Rounded Rectangle 44"/>
          <p:cNvSpPr/>
          <p:nvPr/>
        </p:nvSpPr>
        <p:spPr>
          <a:xfrm>
            <a:off x="6229350" y="6038850"/>
            <a:ext cx="58293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Bảo đảm quyền làm chủ từ chính trị, kinh tế đến văn hóa, xã hội; phát huy tính tích cực, sáng tạo của nhân dân</a:t>
            </a:r>
          </a:p>
        </p:txBody>
      </p:sp>
      <p:sp>
        <p:nvSpPr>
          <p:cNvPr id="46" name="Rounded Rectangle 45"/>
          <p:cNvSpPr/>
          <p:nvPr/>
        </p:nvSpPr>
        <p:spPr>
          <a:xfrm>
            <a:off x="12763500" y="381952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Dân chủ gián tiếp + trực tiếp · dân biết, bàn, làm, kiểm tra</a:t>
            </a:r>
          </a:p>
        </p:txBody>
      </p:sp>
      <p:sp>
        <p:nvSpPr>
          <p:cNvPr id="47" name="Rounded Rectangle 46"/>
          <p:cNvSpPr/>
          <p:nvPr/>
        </p:nvSpPr>
        <p:spPr>
          <a:xfrm>
            <a:off x="12763500" y="505777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Những trở ngại đối với thực hiện dân chủ</a:t>
            </a:r>
          </a:p>
        </p:txBody>
      </p:sp>
      <p:sp>
        <p:nvSpPr>
          <p:cNvPr id="48" name="Rounded Rectangle 47"/>
          <p:cNvSpPr/>
          <p:nvPr/>
        </p:nvSpPr>
        <p:spPr>
          <a:xfrm>
            <a:off x="12763500" y="6296025"/>
            <a:ext cx="4857750"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Đại hội VI: lấy dân làm gốc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300"/>
                                        <p:tgtEl>
                                          <p:spTgt spid="40"/>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1"/>
                                        </p:tgtEl>
                                        <p:attrNameLst>
                                          <p:attrName>style.visibility</p:attrName>
                                        </p:attrNameLst>
                                      </p:cBhvr>
                                      <p:to>
                                        <p:strVal val="visible"/>
                                      </p:to>
                                    </p:set>
                                    <p:animEffect transition="in" filter="fade">
                                      <p:cBhvr>
                                        <p:cTn id="33" dur="300"/>
                                        <p:tgtEl>
                                          <p:spTgt spid="41"/>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30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6"/>
                                        </p:tgtEl>
                                        <p:attrNameLst>
                                          <p:attrName>style.visibility</p:attrName>
                                        </p:attrNameLst>
                                      </p:cBhvr>
                                      <p:to>
                                        <p:strVal val="visible"/>
                                      </p:to>
                                    </p:set>
                                    <p:animEffect transition="in" filter="fade">
                                      <p:cBhvr>
                                        <p:cTn id="85" dur="300"/>
                                        <p:tgtEl>
                                          <p:spTgt spid="46"/>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par>
                                <p:cTn id="91" presetID="10" presetClass="entr" presetSubtype="0" fill="hold"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300"/>
                                        <p:tgtEl>
                                          <p:spTgt spid="25"/>
                                        </p:tgtEl>
                                      </p:cBhvr>
                                    </p:animEffect>
                                  </p:childTnLst>
                                </p:cTn>
                              </p:par>
                              <p:par>
                                <p:cTn id="95" presetID="10" presetClass="entr" presetSubtype="0" fill="hold" nodeType="withEffect">
                                  <p:stCondLst>
                                    <p:cond delay="0"/>
                                  </p:stCondLst>
                                  <p:childTnLst>
                                    <p:set>
                                      <p:cBhvr>
                                        <p:cTn id="96" dur="1" fill="hold">
                                          <p:stCondLst>
                                            <p:cond delay="0"/>
                                          </p:stCondLst>
                                        </p:cTn>
                                        <p:tgtEl>
                                          <p:spTgt spid="26"/>
                                        </p:tgtEl>
                                        <p:attrNameLst>
                                          <p:attrName>style.visibility</p:attrName>
                                        </p:attrNameLst>
                                      </p:cBhvr>
                                      <p:to>
                                        <p:strVal val="visible"/>
                                      </p:to>
                                    </p:set>
                                    <p:animEffect transition="in" filter="fade">
                                      <p:cBhvr>
                                        <p:cTn id="97" dur="300"/>
                                        <p:tgtEl>
                                          <p:spTgt spid="26"/>
                                        </p:tgtEl>
                                      </p:cBhvr>
                                    </p:animEffect>
                                  </p:childTnLst>
                                </p:cTn>
                              </p:par>
                              <p:par>
                                <p:cTn id="99" presetID="10" presetClass="entr" presetSubtype="0" fill="hold" nodeType="withEffect">
                                  <p:stCondLst>
                                    <p:cond delay="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300"/>
                                        <p:tgtEl>
                                          <p:spTgt spid="27"/>
                                        </p:tgtEl>
                                      </p:cBhvr>
                                    </p:animEffect>
                                  </p:childTnLst>
                                </p:cTn>
                              </p:par>
                              <p:par>
                                <p:cTn id="103" presetID="10" presetClass="entr" presetSubtype="0" fill="hold" nodeType="withEffect">
                                  <p:stCondLst>
                                    <p:cond delay="0"/>
                                  </p:stCondLst>
                                  <p:childTnLst>
                                    <p:set>
                                      <p:cBhvr>
                                        <p:cTn id="104" dur="1" fill="hold">
                                          <p:stCondLst>
                                            <p:cond delay="0"/>
                                          </p:stCondLst>
                                        </p:cTn>
                                        <p:tgtEl>
                                          <p:spTgt spid="28"/>
                                        </p:tgtEl>
                                        <p:attrNameLst>
                                          <p:attrName>style.visibility</p:attrName>
                                        </p:attrNameLst>
                                      </p:cBhvr>
                                      <p:to>
                                        <p:strVal val="visible"/>
                                      </p:to>
                                    </p:set>
                                    <p:animEffect transition="in" filter="fade">
                                      <p:cBhvr>
                                        <p:cTn id="105" dur="300"/>
                                        <p:tgtEl>
                                          <p:spTgt spid="28"/>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47"/>
                                        </p:tgtEl>
                                        <p:attrNameLst>
                                          <p:attrName>style.visibility</p:attrName>
                                        </p:attrNameLst>
                                      </p:cBhvr>
                                      <p:to>
                                        <p:strVal val="visible"/>
                                      </p:to>
                                    </p:set>
                                    <p:animEffect transition="in" filter="fade">
                                      <p:cBhvr>
                                        <p:cTn id="111" dur="300"/>
                                        <p:tgtEl>
                                          <p:spTgt spid="47"/>
                                        </p:tgtEl>
                                      </p:cBhvr>
                                    </p:animEffect>
                                  </p:childTnLst>
                                </p:cTn>
                              </p:par>
                              <p:par>
                                <p:cTn id="113" presetID="10" presetClass="entr" presetSubtype="0" fill="hold"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300"/>
                                        <p:tgtEl>
                                          <p:spTgt spid="29"/>
                                        </p:tgtEl>
                                      </p:cBhvr>
                                    </p:animEffect>
                                  </p:childTnLst>
                                </p:cTn>
                              </p:par>
                              <p:par>
                                <p:cTn id="117" presetID="10" presetClass="entr" presetSubtype="0" fill="hold" nodeType="withEffect">
                                  <p:stCondLst>
                                    <p:cond delay="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300"/>
                                        <p:tgtEl>
                                          <p:spTgt spid="30"/>
                                        </p:tgtEl>
                                      </p:cBhvr>
                                    </p:animEffect>
                                  </p:childTnLst>
                                </p:cTn>
                              </p:par>
                              <p:par>
                                <p:cTn id="121" presetID="10" presetClass="entr" presetSubtype="0" fill="hold" nodeType="withEffect">
                                  <p:stCondLst>
                                    <p:cond delay="0"/>
                                  </p:stCondLst>
                                  <p:childTnLst>
                                    <p:set>
                                      <p:cBhvr>
                                        <p:cTn id="122" dur="1" fill="hold">
                                          <p:stCondLst>
                                            <p:cond delay="0"/>
                                          </p:stCondLst>
                                        </p:cTn>
                                        <p:tgtEl>
                                          <p:spTgt spid="31"/>
                                        </p:tgtEl>
                                        <p:attrNameLst>
                                          <p:attrName>style.visibility</p:attrName>
                                        </p:attrNameLst>
                                      </p:cBhvr>
                                      <p:to>
                                        <p:strVal val="visible"/>
                                      </p:to>
                                    </p:set>
                                    <p:animEffect transition="in" filter="fade">
                                      <p:cBhvr>
                                        <p:cTn id="123" dur="300"/>
                                        <p:tgtEl>
                                          <p:spTgt spid="31"/>
                                        </p:tgtEl>
                                      </p:cBhvr>
                                    </p:animEffect>
                                  </p:childTnLst>
                                </p:cTn>
                              </p:par>
                              <p:par>
                                <p:cTn id="125" presetID="10" presetClass="entr" presetSubtype="0" fill="hold" nodeType="withEffect">
                                  <p:stCondLst>
                                    <p:cond delay="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300"/>
                                        <p:tgtEl>
                                          <p:spTgt spid="32"/>
                                        </p:tgtEl>
                                      </p:cBhvr>
                                    </p:animEffect>
                                  </p:childTnLst>
                                </p:cTn>
                              </p:par>
                              <p:par>
                                <p:cTn id="129" presetID="10" presetClass="entr" presetSubtype="0" fill="hold" nodeType="withEffect">
                                  <p:stCondLst>
                                    <p:cond delay="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31" dur="300"/>
                                        <p:tgtEl>
                                          <p:spTgt spid="3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300"/>
                                        <p:tgtEl>
                                          <p:spTgt spid="48"/>
                                        </p:tgtEl>
                                      </p:cBhvr>
                                    </p:animEffect>
                                  </p:childTnLst>
                                </p:cTn>
                              </p:par>
                              <p:par>
                                <p:cTn id="139" presetID="10" presetClass="entr" presetSubtype="0" fill="hold" nodeType="withEffect">
                                  <p:stCondLst>
                                    <p:cond delay="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300"/>
                                        <p:tgtEl>
                                          <p:spTgt spid="34"/>
                                        </p:tgtEl>
                                      </p:cBhvr>
                                    </p:animEffect>
                                  </p:childTnLst>
                                </p:cTn>
                              </p:par>
                              <p:par>
                                <p:cTn id="143" presetID="10" presetClass="entr" presetSubtype="0" fill="hold" nodeType="withEffect">
                                  <p:stCondLst>
                                    <p:cond delay="0"/>
                                  </p:stCondLst>
                                  <p:childTnLst>
                                    <p:set>
                                      <p:cBhvr>
                                        <p:cTn id="144" dur="1" fill="hold">
                                          <p:stCondLst>
                                            <p:cond delay="0"/>
                                          </p:stCondLst>
                                        </p:cTn>
                                        <p:tgtEl>
                                          <p:spTgt spid="35"/>
                                        </p:tgtEl>
                                        <p:attrNameLst>
                                          <p:attrName>style.visibility</p:attrName>
                                        </p:attrNameLst>
                                      </p:cBhvr>
                                      <p:to>
                                        <p:strVal val="visible"/>
                                      </p:to>
                                    </p:set>
                                    <p:animEffect transition="in" filter="fade">
                                      <p:cBhvr>
                                        <p:cTn id="145" dur="300"/>
                                        <p:tgtEl>
                                          <p:spTgt spid="35"/>
                                        </p:tgtEl>
                                      </p:cBhvr>
                                    </p:animEffect>
                                  </p:childTnLst>
                                </p:cTn>
                              </p:par>
                              <p:par>
                                <p:cTn id="147" presetID="10" presetClass="entr" presetSubtype="0" fill="hold" nodeType="withEffect">
                                  <p:stCondLst>
                                    <p:cond delay="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49" dur="300"/>
                                        <p:tgtEl>
                                          <p:spTgt spid="36"/>
                                        </p:tgtEl>
                                      </p:cBhvr>
                                    </p:animEffect>
                                  </p:childTnLst>
                                </p:cTn>
                              </p:par>
                              <p:par>
                                <p:cTn id="151" presetID="10" presetClass="entr" presetSubtype="0" fill="hold" nodeType="withEffect">
                                  <p:stCondLst>
                                    <p:cond delay="0"/>
                                  </p:stCondLst>
                                  <p:childTnLst>
                                    <p:set>
                                      <p:cBhvr>
                                        <p:cTn id="152" dur="1" fill="hold">
                                          <p:stCondLst>
                                            <p:cond delay="0"/>
                                          </p:stCondLst>
                                        </p:cTn>
                                        <p:tgtEl>
                                          <p:spTgt spid="37"/>
                                        </p:tgtEl>
                                        <p:attrNameLst>
                                          <p:attrName>style.visibility</p:attrName>
                                        </p:attrNameLst>
                                      </p:cBhvr>
                                      <p:to>
                                        <p:strVal val="visible"/>
                                      </p:to>
                                    </p:set>
                                    <p:animEffect transition="in" filter="fade">
                                      <p:cBhvr>
                                        <p:cTn id="153" dur="300"/>
                                        <p:tgtEl>
                                          <p:spTgt spid="37"/>
                                        </p:tgtEl>
                                      </p:cBhvr>
                                    </p:animEffect>
                                  </p:childTnLst>
                                </p:cTn>
                              </p:par>
                              <p:par>
                                <p:cTn id="155" presetID="10" presetClass="entr" presetSubtype="0" fill="hold" nodeType="withEffect">
                                  <p:stCondLst>
                                    <p:cond delay="0"/>
                                  </p:stCondLst>
                                  <p:childTnLst>
                                    <p:set>
                                      <p:cBhvr>
                                        <p:cTn id="156" dur="1" fill="hold">
                                          <p:stCondLst>
                                            <p:cond delay="0"/>
                                          </p:stCondLst>
                                        </p:cTn>
                                        <p:tgtEl>
                                          <p:spTgt spid="38"/>
                                        </p:tgtEl>
                                        <p:attrNameLst>
                                          <p:attrName>style.visibility</p:attrName>
                                        </p:attrNameLst>
                                      </p:cBhvr>
                                      <p:to>
                                        <p:strVal val="visible"/>
                                      </p:to>
                                    </p:set>
                                    <p:animEffect transition="in" filter="fade">
                                      <p:cBhvr>
                                        <p:cTn id="157" dur="300"/>
                                        <p:tgtEl>
                                          <p:spTgt spid="38"/>
                                        </p:tgtEl>
                                      </p:cBhvr>
                                    </p:animEffect>
                                  </p:childTnLst>
                                </p:cTn>
                              </p:par>
                            </p:childTnLst>
                          </p:cTn>
                        </p:par>
                      </p:childTnLst>
                    </p:cTn>
                  </p:par>
                  <p:par>
                    <p:cTn id="159" fill="hold">
                      <p:stCondLst>
                        <p:cond delay="indefinite"/>
                      </p:stCondLst>
                      <p:childTnLst>
                        <p:par>
                          <p:cTn id="160" fill="hold">
                            <p:stCondLst>
                              <p:cond delay="0"/>
                            </p:stCondLst>
                            <p:childTnLst>
                              <p:par>
                                <p:cTn id="161" presetID="10" presetClass="entr" presetSubtype="0" fill="hold" nodeType="clickEffect">
                                  <p:stCondLst>
                                    <p:cond delay="0"/>
                                  </p:stCondLst>
                                  <p:childTnLst>
                                    <p:set>
                                      <p:cBhvr>
                                        <p:cTn id="162" dur="1" fill="hold">
                                          <p:stCondLst>
                                            <p:cond delay="0"/>
                                          </p:stCondLst>
                                        </p:cTn>
                                        <p:tgtEl>
                                          <p:spTgt spid="43"/>
                                        </p:tgtEl>
                                        <p:attrNameLst>
                                          <p:attrName>style.visibility</p:attrName>
                                        </p:attrNameLst>
                                      </p:cBhvr>
                                      <p:to>
                                        <p:strVal val="visible"/>
                                      </p:to>
                                    </p:set>
                                    <p:animEffect transition="in" filter="fade">
                                      <p:cBhvr>
                                        <p:cTn id="163" dur="300"/>
                                        <p:tgtEl>
                                          <p:spTgt spid="43"/>
                                        </p:tgtEl>
                                      </p:cBhvr>
                                    </p:animEffect>
                                  </p:childTnLst>
                                </p:cTn>
                              </p:par>
                              <p:par>
                                <p:cTn id="165" presetID="1" presetClass="exit" presetSubtype="0" fill="hold" nodeType="withEffect">
                                  <p:stCondLst>
                                    <p:cond delay="0"/>
                                  </p:stCondLst>
                                  <p:childTnLst>
                                    <p:set>
                                      <p:cBhvr>
                                        <p:cTn id="166" dur="1" fill="hold">
                                          <p:stCondLst>
                                            <p:cond delay="0"/>
                                          </p:stCondLst>
                                        </p:cTn>
                                        <p:tgtEl>
                                          <p:spTgt spid="44"/>
                                        </p:tgtEl>
                                        <p:attrNameLst>
                                          <p:attrName>style.visibility</p:attrName>
                                        </p:attrNameLst>
                                      </p:cBhvr>
                                      <p:to>
                                        <p:strVal val="hidden"/>
                                      </p:to>
                                    </p:set>
                                  </p:childTnLst>
                                </p:cTn>
                              </p:par>
                            </p:childTnLst>
                          </p:cTn>
                        </p:par>
                      </p:childTnLst>
                    </p:cTn>
                  </p:par>
                  <p:par>
                    <p:cTn id="168" fill="hold">
                      <p:stCondLst>
                        <p:cond delay="indefinite"/>
                      </p:stCondLst>
                      <p:childTnLst>
                        <p:par>
                          <p:cTn id="169" fill="hold">
                            <p:stCondLst>
                              <p:cond delay="0"/>
                            </p:stCondLst>
                            <p:childTnLst>
                              <p:par>
                                <p:cTn id="170" presetID="10" presetClass="entr" presetSubtype="0" fill="hold" nodeType="clickEffect">
                                  <p:stCondLst>
                                    <p:cond delay="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300"/>
                                        <p:tgtEl>
                                          <p:spTgt spid="45"/>
                                        </p:tgtEl>
                                      </p:cBhvr>
                                    </p:animEffect>
                                  </p:childTnLst>
                                </p:cTn>
                              </p:par>
                              <p:par>
                                <p:cTn id="174" presetID="10" presetClass="entr" presetSubtype="0" fill="hold" nodeType="withEffect">
                                  <p:stCondLst>
                                    <p:cond delay="0"/>
                                  </p:stCondLst>
                                  <p:childTnLst>
                                    <p:set>
                                      <p:cBhvr>
                                        <p:cTn id="175" dur="1" fill="hold">
                                          <p:stCondLst>
                                            <p:cond delay="0"/>
                                          </p:stCondLst>
                                        </p:cTn>
                                        <p:tgtEl>
                                          <p:spTgt spid="39"/>
                                        </p:tgtEl>
                                        <p:attrNameLst>
                                          <p:attrName>style.visibility</p:attrName>
                                        </p:attrNameLst>
                                      </p:cBhvr>
                                      <p:to>
                                        <p:strVal val="visible"/>
                                      </p:to>
                                    </p:set>
                                    <p:animEffect transition="in" filter="fade">
                                      <p:cBhvr>
                                        <p:cTn id="176" dur="3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Nhà nước pháp quyền là gì?</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067425" y="36004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57925" y="36004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391275" y="3600450"/>
            <a:ext cx="0" cy="21478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39127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391275"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67425" y="48244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257925" y="48244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91275" y="4824412"/>
            <a:ext cx="0" cy="923926"/>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9127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91275"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67425" y="66246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257925" y="66246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391275" y="6015038"/>
            <a:ext cx="0" cy="6096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391275" y="58816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91275"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030075" y="39433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896725" y="39433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896725" y="3943350"/>
            <a:ext cx="0" cy="18049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89672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030075" y="49815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896725" y="49815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896725" y="4981575"/>
            <a:ext cx="0" cy="7667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89672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1961019" y="6010275"/>
            <a:ext cx="259556"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896725" y="6010275"/>
            <a:ext cx="64294"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1896725" y="5945981"/>
            <a:ext cx="0" cy="64294"/>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896725" y="5881688"/>
            <a:ext cx="0" cy="6429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2030075" y="70389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896725" y="70389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896725" y="6015038"/>
            <a:ext cx="0" cy="10239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896725" y="58816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66750" y="3267075"/>
            <a:ext cx="536257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Thượng tôn pháp luật</a:t>
            </a:r>
          </a:p>
        </p:txBody>
      </p:sp>
      <p:sp>
        <p:nvSpPr>
          <p:cNvPr id="45" name="Rounded Rectangle 44"/>
          <p:cNvSpPr/>
          <p:nvPr/>
        </p:nvSpPr>
        <p:spPr>
          <a:xfrm>
            <a:off x="666750" y="4105275"/>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Hướng tới phúc lợi cho mọi người; cá nhân được tự do, bình đẳng, phát huy hết năng lực</a:t>
            </a:r>
          </a:p>
        </p:txBody>
      </p:sp>
      <p:sp>
        <p:nvSpPr>
          <p:cNvPr id="46" name="Rounded Rectangle 45"/>
          <p:cNvSpPr/>
          <p:nvPr/>
        </p:nvSpPr>
        <p:spPr>
          <a:xfrm>
            <a:off x="666750" y="5715000"/>
            <a:ext cx="536257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quan nhà nước được phân quyền rõ ràng; được chấp nhận trên nguyên tắc bình đẳng giữa các thế lực, giai cấp, tầng lớp</a:t>
            </a:r>
          </a:p>
        </p:txBody>
      </p:sp>
      <p:sp>
        <p:nvSpPr>
          <p:cNvPr id="47" name="Rounded Rectangle 46"/>
          <p:cNvSpPr/>
          <p:nvPr/>
        </p:nvSpPr>
        <p:spPr>
          <a:xfrm>
            <a:off x="6734175" y="4057650"/>
            <a:ext cx="4819650" cy="7905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Còn nhiều cách hiểu khác nhau. Song, có thể hiểu là…</a:t>
            </a:r>
          </a:p>
        </p:txBody>
      </p:sp>
      <p:sp>
        <p:nvSpPr>
          <p:cNvPr id="48" name="Rounded Rectangle 47"/>
          <p:cNvSpPr/>
          <p:nvPr/>
        </p:nvSpPr>
        <p:spPr>
          <a:xfrm>
            <a:off x="6734175" y="5019675"/>
            <a:ext cx="48196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Nhà nước THƯỢNG TÔN PHÁP LUẬT, tất cả vì mục tiêu PHỤC VỤ NHÂN DÂN</a:t>
            </a:r>
          </a:p>
        </p:txBody>
      </p:sp>
      <p:sp>
        <p:nvSpPr>
          <p:cNvPr id="49" name="Rounded Rectangle 48"/>
          <p:cNvSpPr/>
          <p:nvPr/>
        </p:nvSpPr>
        <p:spPr>
          <a:xfrm>
            <a:off x="6734175" y="5019675"/>
            <a:ext cx="48196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50" name="Rounded Rectangle 49"/>
          <p:cNvSpPr/>
          <p:nvPr/>
        </p:nvSpPr>
        <p:spPr>
          <a:xfrm>
            <a:off x="12258675" y="2847975"/>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Mọi công dân được giáo dục pháp luật, hiểu biết và tuân thủ pháp luật</a:t>
            </a:r>
          </a:p>
        </p:txBody>
      </p:sp>
      <p:sp>
        <p:nvSpPr>
          <p:cNvPr id="51" name="Rounded Rectangle 50"/>
          <p:cNvSpPr/>
          <p:nvPr/>
        </p:nvSpPr>
        <p:spPr>
          <a:xfrm>
            <a:off x="12258675" y="44577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Pháp luật bảo đảm tính nghiêm minh</a:t>
            </a:r>
          </a:p>
        </p:txBody>
      </p:sp>
      <p:sp>
        <p:nvSpPr>
          <p:cNvPr id="52" name="Rounded Rectangle 51"/>
          <p:cNvSpPr/>
          <p:nvPr/>
        </p:nvSpPr>
        <p:spPr>
          <a:xfrm>
            <a:off x="12258675" y="56769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quan nhà nước phân công, phối hợp, kiểm soát lẫn nhau</a:t>
            </a:r>
          </a:p>
        </p:txBody>
      </p:sp>
      <p:sp>
        <p:nvSpPr>
          <p:cNvPr id="53" name="Rounded Rectangle 52"/>
          <p:cNvSpPr/>
          <p:nvPr/>
        </p:nvSpPr>
        <p:spPr>
          <a:xfrm>
            <a:off x="12258675" y="68961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Tất cả vì mục tiêu phục vụ nhân dân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300"/>
                                        <p:tgtEl>
                                          <p:spTgt spid="44"/>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300"/>
                                        <p:tgtEl>
                                          <p:spTgt spid="45"/>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6"/>
                                        </p:tgtEl>
                                        <p:attrNameLst>
                                          <p:attrName>style.visibility</p:attrName>
                                        </p:attrNameLst>
                                      </p:cBhvr>
                                      <p:to>
                                        <p:strVal val="visible"/>
                                      </p:to>
                                    </p:set>
                                    <p:animEffect transition="in" filter="fade">
                                      <p:cBhvr>
                                        <p:cTn id="59" dur="300"/>
                                        <p:tgtEl>
                                          <p:spTgt spid="46"/>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00"/>
                                        <p:tgtEl>
                                          <p:spTgt spid="47"/>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3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animEffect transition="in" filter="fade">
                                      <p:cBhvr>
                                        <p:cTn id="95" dur="300"/>
                                        <p:tgtEl>
                                          <p:spTgt spid="51"/>
                                        </p:tgtEl>
                                      </p:cBhvr>
                                    </p:animEffect>
                                  </p:childTnLst>
                                </p:cTn>
                              </p:par>
                              <p:par>
                                <p:cTn id="97" presetID="10" presetClass="entr" presetSubtype="0"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00"/>
                                        <p:tgtEl>
                                          <p:spTgt spid="24"/>
                                        </p:tgtEl>
                                      </p:cBhvr>
                                    </p:animEffect>
                                  </p:childTnLst>
                                </p:cTn>
                              </p:par>
                              <p:par>
                                <p:cTn id="101" presetID="10" presetClass="entr" presetSubtype="0"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00"/>
                                        <p:tgtEl>
                                          <p:spTgt spid="25"/>
                                        </p:tgtEl>
                                      </p:cBhvr>
                                    </p:animEffect>
                                  </p:childTnLst>
                                </p:cTn>
                              </p:par>
                              <p:par>
                                <p:cTn id="105" presetID="10" presetClass="entr" presetSubtype="0" fill="hold" nodeType="with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00"/>
                                        <p:tgtEl>
                                          <p:spTgt spid="26"/>
                                        </p:tgtEl>
                                      </p:cBhvr>
                                    </p:animEffect>
                                  </p:childTnLst>
                                </p:cTn>
                              </p:par>
                              <p:par>
                                <p:cTn id="109" presetID="10" presetClass="entr" presetSubtype="0" fill="hold" nodeType="withEffect">
                                  <p:stCondLst>
                                    <p:cond delay="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00"/>
                                        <p:tgtEl>
                                          <p:spTgt spid="27"/>
                                        </p:tgtEl>
                                      </p:cBhvr>
                                    </p:animEffect>
                                  </p:childTnLst>
                                </p:cTn>
                              </p:par>
                              <p:par>
                                <p:cTn id="113" presetID="10" presetClass="entr" presetSubtype="0" fill="hold" nodeType="withEffect">
                                  <p:stCondLst>
                                    <p:cond delay="0"/>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00"/>
                                        <p:tgtEl>
                                          <p:spTgt spid="28"/>
                                        </p:tgtEl>
                                      </p:cBhvr>
                                    </p:animEffect>
                                  </p:childTnLst>
                                </p:cTn>
                              </p:par>
                              <p:par>
                                <p:cTn id="117" presetID="10"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00"/>
                                        <p:tgtEl>
                                          <p:spTgt spid="29"/>
                                        </p:tgtEl>
                                      </p:cBhvr>
                                    </p:animEffect>
                                  </p:childTnLst>
                                </p:cTn>
                              </p:par>
                              <p:par>
                                <p:cTn id="121" presetID="10" presetClass="entr" presetSubtype="0" fill="hold" nodeType="withEffect">
                                  <p:stCondLst>
                                    <p:cond delay="0"/>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00"/>
                                        <p:tgtEl>
                                          <p:spTgt spid="30"/>
                                        </p:tgtEl>
                                      </p:cBhvr>
                                    </p:animEffect>
                                  </p:childTnLst>
                                </p:cTn>
                              </p:par>
                              <p:par>
                                <p:cTn id="125" presetID="10" presetClass="entr" presetSubtype="0" fill="hold" nodeType="withEffect">
                                  <p:stCondLst>
                                    <p:cond delay="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00"/>
                                        <p:tgtEl>
                                          <p:spTgt spid="31"/>
                                        </p:tgtEl>
                                      </p:cBhvr>
                                    </p:animEffect>
                                  </p:childTnLst>
                                </p:cTn>
                              </p:par>
                              <p:par>
                                <p:cTn id="129" presetID="10" presetClass="entr" presetSubtype="0" fill="hold" nodeType="withEffect">
                                  <p:stCondLst>
                                    <p:cond delay="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00"/>
                                        <p:tgtEl>
                                          <p:spTgt spid="32"/>
                                        </p:tgtEl>
                                      </p:cBhvr>
                                    </p:animEffect>
                                  </p:childTnLst>
                                </p:cTn>
                              </p:par>
                              <p:par>
                                <p:cTn id="133" presetID="10" presetClass="entr" presetSubtype="0" fill="hold" nodeType="withEffect">
                                  <p:stCondLst>
                                    <p:cond delay="0"/>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00"/>
                                        <p:tgtEl>
                                          <p:spTgt spid="33"/>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ntr" presetSubtype="0" fill="hold" nodeType="clickEffect">
                                  <p:stCondLst>
                                    <p:cond delay="0"/>
                                  </p:stCondLst>
                                  <p:childTnLst>
                                    <p:set>
                                      <p:cBhvr>
                                        <p:cTn id="140" dur="1" fill="hold">
                                          <p:stCondLst>
                                            <p:cond delay="0"/>
                                          </p:stCondLst>
                                        </p:cTn>
                                        <p:tgtEl>
                                          <p:spTgt spid="52"/>
                                        </p:tgtEl>
                                        <p:attrNameLst>
                                          <p:attrName>style.visibility</p:attrName>
                                        </p:attrNameLst>
                                      </p:cBhvr>
                                      <p:to>
                                        <p:strVal val="visible"/>
                                      </p:to>
                                    </p:set>
                                    <p:animEffect transition="in" filter="fade">
                                      <p:cBhvr>
                                        <p:cTn id="141" dur="300"/>
                                        <p:tgtEl>
                                          <p:spTgt spid="52"/>
                                        </p:tgtEl>
                                      </p:cBhvr>
                                    </p:animEffect>
                                  </p:childTnLst>
                                </p:cTn>
                              </p:par>
                              <p:par>
                                <p:cTn id="143" presetID="10" presetClass="entr" presetSubtype="0" fill="hold"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fade">
                                      <p:cBhvr>
                                        <p:cTn id="145" dur="300"/>
                                        <p:tgtEl>
                                          <p:spTgt spid="53"/>
                                        </p:tgtEl>
                                      </p:cBhvr>
                                    </p:animEffect>
                                  </p:childTnLst>
                                </p:cTn>
                              </p:par>
                              <p:par>
                                <p:cTn id="147" presetID="10" presetClass="entr" presetSubtype="0" fill="hold" nodeType="withEffect">
                                  <p:stCondLst>
                                    <p:cond delay="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300"/>
                                        <p:tgtEl>
                                          <p:spTgt spid="34"/>
                                        </p:tgtEl>
                                      </p:cBhvr>
                                    </p:animEffect>
                                  </p:childTnLst>
                                </p:cTn>
                              </p:par>
                              <p:par>
                                <p:cTn id="151" presetID="10" presetClass="entr" presetSubtype="0" fill="hold" nodeType="withEffect">
                                  <p:stCondLst>
                                    <p:cond delay="0"/>
                                  </p:stCondLst>
                                  <p:childTnLst>
                                    <p:set>
                                      <p:cBhvr>
                                        <p:cTn id="152" dur="1" fill="hold">
                                          <p:stCondLst>
                                            <p:cond delay="0"/>
                                          </p:stCondLst>
                                        </p:cTn>
                                        <p:tgtEl>
                                          <p:spTgt spid="35"/>
                                        </p:tgtEl>
                                        <p:attrNameLst>
                                          <p:attrName>style.visibility</p:attrName>
                                        </p:attrNameLst>
                                      </p:cBhvr>
                                      <p:to>
                                        <p:strVal val="visible"/>
                                      </p:to>
                                    </p:set>
                                    <p:animEffect transition="in" filter="fade">
                                      <p:cBhvr>
                                        <p:cTn id="153" dur="300"/>
                                        <p:tgtEl>
                                          <p:spTgt spid="35"/>
                                        </p:tgtEl>
                                      </p:cBhvr>
                                    </p:animEffect>
                                  </p:childTnLst>
                                </p:cTn>
                              </p:par>
                              <p:par>
                                <p:cTn id="155" presetID="10" presetClass="entr" presetSubtype="0" fill="hold" nodeType="withEffect">
                                  <p:stCondLst>
                                    <p:cond delay="0"/>
                                  </p:stCondLst>
                                  <p:childTnLst>
                                    <p:set>
                                      <p:cBhvr>
                                        <p:cTn id="156" dur="1" fill="hold">
                                          <p:stCondLst>
                                            <p:cond delay="0"/>
                                          </p:stCondLst>
                                        </p:cTn>
                                        <p:tgtEl>
                                          <p:spTgt spid="36"/>
                                        </p:tgtEl>
                                        <p:attrNameLst>
                                          <p:attrName>style.visibility</p:attrName>
                                        </p:attrNameLst>
                                      </p:cBhvr>
                                      <p:to>
                                        <p:strVal val="visible"/>
                                      </p:to>
                                    </p:set>
                                    <p:animEffect transition="in" filter="fade">
                                      <p:cBhvr>
                                        <p:cTn id="157" dur="300"/>
                                        <p:tgtEl>
                                          <p:spTgt spid="36"/>
                                        </p:tgtEl>
                                      </p:cBhvr>
                                    </p:animEffect>
                                  </p:childTnLst>
                                </p:cTn>
                              </p:par>
                              <p:par>
                                <p:cTn id="159" presetID="10" presetClass="entr" presetSubtype="0" fill="hold" nodeType="withEffect">
                                  <p:stCondLst>
                                    <p:cond delay="0"/>
                                  </p:stCondLst>
                                  <p:childTnLst>
                                    <p:set>
                                      <p:cBhvr>
                                        <p:cTn id="160" dur="1" fill="hold">
                                          <p:stCondLst>
                                            <p:cond delay="0"/>
                                          </p:stCondLst>
                                        </p:cTn>
                                        <p:tgtEl>
                                          <p:spTgt spid="37"/>
                                        </p:tgtEl>
                                        <p:attrNameLst>
                                          <p:attrName>style.visibility</p:attrName>
                                        </p:attrNameLst>
                                      </p:cBhvr>
                                      <p:to>
                                        <p:strVal val="visible"/>
                                      </p:to>
                                    </p:set>
                                    <p:animEffect transition="in" filter="fade">
                                      <p:cBhvr>
                                        <p:cTn id="161" dur="300"/>
                                        <p:tgtEl>
                                          <p:spTgt spid="37"/>
                                        </p:tgtEl>
                                      </p:cBhvr>
                                    </p:animEffect>
                                  </p:childTnLst>
                                </p:cTn>
                              </p:par>
                              <p:par>
                                <p:cTn id="163" presetID="10" presetClass="entr" presetSubtype="0" fill="hold" nodeType="withEffect">
                                  <p:stCondLst>
                                    <p:cond delay="0"/>
                                  </p:stCondLst>
                                  <p:childTnLst>
                                    <p:set>
                                      <p:cBhvr>
                                        <p:cTn id="164" dur="1" fill="hold">
                                          <p:stCondLst>
                                            <p:cond delay="0"/>
                                          </p:stCondLst>
                                        </p:cTn>
                                        <p:tgtEl>
                                          <p:spTgt spid="38"/>
                                        </p:tgtEl>
                                        <p:attrNameLst>
                                          <p:attrName>style.visibility</p:attrName>
                                        </p:attrNameLst>
                                      </p:cBhvr>
                                      <p:to>
                                        <p:strVal val="visible"/>
                                      </p:to>
                                    </p:set>
                                    <p:animEffect transition="in" filter="fade">
                                      <p:cBhvr>
                                        <p:cTn id="165" dur="300"/>
                                        <p:tgtEl>
                                          <p:spTgt spid="38"/>
                                        </p:tgtEl>
                                      </p:cBhvr>
                                    </p:animEffect>
                                  </p:childTnLst>
                                </p:cTn>
                              </p:par>
                              <p:par>
                                <p:cTn id="167" presetID="10" presetClass="entr" presetSubtype="0" fill="hold" nodeType="withEffect">
                                  <p:stCondLst>
                                    <p:cond delay="0"/>
                                  </p:stCondLst>
                                  <p:childTnLst>
                                    <p:set>
                                      <p:cBhvr>
                                        <p:cTn id="168" dur="1" fill="hold">
                                          <p:stCondLst>
                                            <p:cond delay="0"/>
                                          </p:stCondLst>
                                        </p:cTn>
                                        <p:tgtEl>
                                          <p:spTgt spid="39"/>
                                        </p:tgtEl>
                                        <p:attrNameLst>
                                          <p:attrName>style.visibility</p:attrName>
                                        </p:attrNameLst>
                                      </p:cBhvr>
                                      <p:to>
                                        <p:strVal val="visible"/>
                                      </p:to>
                                    </p:set>
                                    <p:animEffect transition="in" filter="fade">
                                      <p:cBhvr>
                                        <p:cTn id="169" dur="300"/>
                                        <p:tgtEl>
                                          <p:spTgt spid="39"/>
                                        </p:tgtEl>
                                      </p:cBhvr>
                                    </p:animEffect>
                                  </p:childTnLst>
                                </p:cTn>
                              </p:par>
                              <p:par>
                                <p:cTn id="171" presetID="10" presetClass="entr" presetSubtype="0" fill="hold" nodeType="withEffect">
                                  <p:stCondLst>
                                    <p:cond delay="0"/>
                                  </p:stCondLst>
                                  <p:childTnLst>
                                    <p:set>
                                      <p:cBhvr>
                                        <p:cTn id="172" dur="1" fill="hold">
                                          <p:stCondLst>
                                            <p:cond delay="0"/>
                                          </p:stCondLst>
                                        </p:cTn>
                                        <p:tgtEl>
                                          <p:spTgt spid="40"/>
                                        </p:tgtEl>
                                        <p:attrNameLst>
                                          <p:attrName>style.visibility</p:attrName>
                                        </p:attrNameLst>
                                      </p:cBhvr>
                                      <p:to>
                                        <p:strVal val="visible"/>
                                      </p:to>
                                    </p:set>
                                    <p:animEffect transition="in" filter="fade">
                                      <p:cBhvr>
                                        <p:cTn id="173" dur="300"/>
                                        <p:tgtEl>
                                          <p:spTgt spid="40"/>
                                        </p:tgtEl>
                                      </p:cBhvr>
                                    </p:animEffect>
                                  </p:childTnLst>
                                </p:cTn>
                              </p:par>
                              <p:par>
                                <p:cTn id="175" presetID="10" presetClass="entr" presetSubtype="0" fill="hold" nodeType="withEffect">
                                  <p:stCondLst>
                                    <p:cond delay="0"/>
                                  </p:stCondLst>
                                  <p:childTnLst>
                                    <p:set>
                                      <p:cBhvr>
                                        <p:cTn id="176" dur="1" fill="hold">
                                          <p:stCondLst>
                                            <p:cond delay="0"/>
                                          </p:stCondLst>
                                        </p:cTn>
                                        <p:tgtEl>
                                          <p:spTgt spid="41"/>
                                        </p:tgtEl>
                                        <p:attrNameLst>
                                          <p:attrName>style.visibility</p:attrName>
                                        </p:attrNameLst>
                                      </p:cBhvr>
                                      <p:to>
                                        <p:strVal val="visible"/>
                                      </p:to>
                                    </p:set>
                                    <p:animEffect transition="in" filter="fade">
                                      <p:cBhvr>
                                        <p:cTn id="177" dur="300"/>
                                        <p:tgtEl>
                                          <p:spTgt spid="41"/>
                                        </p:tgtEl>
                                      </p:cBhvr>
                                    </p:animEffect>
                                  </p:childTnLst>
                                </p:cTn>
                              </p:par>
                              <p:par>
                                <p:cTn id="179" presetID="10" presetClass="entr" presetSubtype="0" fill="hold" nodeType="withEffect">
                                  <p:stCondLst>
                                    <p:cond delay="0"/>
                                  </p:stCondLst>
                                  <p:childTnLst>
                                    <p:set>
                                      <p:cBhvr>
                                        <p:cTn id="180" dur="1" fill="hold">
                                          <p:stCondLst>
                                            <p:cond delay="0"/>
                                          </p:stCondLst>
                                        </p:cTn>
                                        <p:tgtEl>
                                          <p:spTgt spid="42"/>
                                        </p:tgtEl>
                                        <p:attrNameLst>
                                          <p:attrName>style.visibility</p:attrName>
                                        </p:attrNameLst>
                                      </p:cBhvr>
                                      <p:to>
                                        <p:strVal val="visible"/>
                                      </p:to>
                                    </p:set>
                                    <p:animEffect transition="in" filter="fade">
                                      <p:cBhvr>
                                        <p:cTn id="181" dur="300"/>
                                        <p:tgtEl>
                                          <p:spTgt spid="42"/>
                                        </p:tgtEl>
                                      </p:cBhvr>
                                    </p:animEffect>
                                  </p:childTnLst>
                                </p:cTn>
                              </p:par>
                              <p:par>
                                <p:cTn id="183" presetID="10" presetClass="entr" presetSubtype="0" fill="hold" nodeType="withEffect">
                                  <p:stCondLst>
                                    <p:cond delay="0"/>
                                  </p:stCondLst>
                                  <p:childTnLst>
                                    <p:set>
                                      <p:cBhvr>
                                        <p:cTn id="184" dur="1" fill="hold">
                                          <p:stCondLst>
                                            <p:cond delay="0"/>
                                          </p:stCondLst>
                                        </p:cTn>
                                        <p:tgtEl>
                                          <p:spTgt spid="43"/>
                                        </p:tgtEl>
                                        <p:attrNameLst>
                                          <p:attrName>style.visibility</p:attrName>
                                        </p:attrNameLst>
                                      </p:cBhvr>
                                      <p:to>
                                        <p:strVal val="visible"/>
                                      </p:to>
                                    </p:set>
                                    <p:animEffect transition="in" filter="fade">
                                      <p:cBhvr>
                                        <p:cTn id="185" dur="300"/>
                                        <p:tgtEl>
                                          <p:spTgt spid="43"/>
                                        </p:tgtEl>
                                      </p:cBhvr>
                                    </p:animEffect>
                                  </p:childTnLst>
                                </p:cTn>
                              </p:par>
                            </p:childTnLst>
                          </p:cTn>
                        </p:par>
                      </p:childTnLst>
                    </p:cTn>
                  </p:par>
                  <p:par>
                    <p:cTn id="187" fill="hold">
                      <p:stCondLst>
                        <p:cond delay="indefinite"/>
                      </p:stCondLst>
                      <p:childTnLst>
                        <p:par>
                          <p:cTn id="188" fill="hold">
                            <p:stCondLst>
                              <p:cond delay="0"/>
                            </p:stCondLst>
                            <p:childTnLst>
                              <p:par>
                                <p:cTn id="189" presetID="10" presetClass="entr" presetSubtype="0" fill="hold" nodeType="clickEffect">
                                  <p:stCondLst>
                                    <p:cond delay="0"/>
                                  </p:stCondLst>
                                  <p:childTnLst>
                                    <p:set>
                                      <p:cBhvr>
                                        <p:cTn id="190" dur="1" fill="hold">
                                          <p:stCondLst>
                                            <p:cond delay="0"/>
                                          </p:stCondLst>
                                        </p:cTn>
                                        <p:tgtEl>
                                          <p:spTgt spid="48"/>
                                        </p:tgtEl>
                                        <p:attrNameLst>
                                          <p:attrName>style.visibility</p:attrName>
                                        </p:attrNameLst>
                                      </p:cBhvr>
                                      <p:to>
                                        <p:strVal val="visible"/>
                                      </p:to>
                                    </p:set>
                                    <p:animEffect transition="in" filter="fade">
                                      <p:cBhvr>
                                        <p:cTn id="191" dur="300"/>
                                        <p:tgtEl>
                                          <p:spTgt spid="48"/>
                                        </p:tgtEl>
                                      </p:cBhvr>
                                    </p:animEffect>
                                  </p:childTnLst>
                                </p:cTn>
                              </p:par>
                              <p:par>
                                <p:cTn id="193" presetID="1" presetClass="exit" presetSubtype="0" fill="hold" nodeType="withEffect">
                                  <p:stCondLst>
                                    <p:cond delay="0"/>
                                  </p:stCondLst>
                                  <p:childTnLst>
                                    <p:set>
                                      <p:cBhvr>
                                        <p:cTn id="194"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Cương lĩnh xây dựng đất nước trong thời kỳ quá độ lên CNXH</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457950" y="3981450"/>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648450" y="3981450"/>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81800" y="3981450"/>
            <a:ext cx="0" cy="1914525"/>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781800"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8180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457950" y="5019675"/>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648450" y="50196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781800" y="5019675"/>
            <a:ext cx="0" cy="8763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781800"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78180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57950" y="6434138"/>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8450" y="6434138"/>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781800" y="6162675"/>
            <a:ext cx="0" cy="271463"/>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781800" y="60293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8180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1630025" y="3981450"/>
            <a:ext cx="2000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496675" y="3981450"/>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496675" y="3981450"/>
            <a:ext cx="0" cy="1914525"/>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496675"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22045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1630025" y="5405438"/>
            <a:ext cx="2000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496675" y="5405438"/>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496675" y="5405438"/>
            <a:ext cx="0" cy="490537"/>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496675"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22045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1630025" y="6810375"/>
            <a:ext cx="2000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496675" y="68103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1496675" y="6162675"/>
            <a:ext cx="0" cy="6477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496675" y="60293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22045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66750" y="3457575"/>
            <a:ext cx="5753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Tối thượng của Hiến pháp và pháp luật</a:t>
            </a:r>
          </a:p>
        </p:txBody>
      </p:sp>
      <p:sp>
        <p:nvSpPr>
          <p:cNvPr id="40" name="Rounded Rectangle 39"/>
          <p:cNvSpPr/>
          <p:nvPr/>
        </p:nvSpPr>
        <p:spPr>
          <a:xfrm>
            <a:off x="666750" y="4686300"/>
            <a:ext cx="5753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lợi, nghĩa vụ công dân; quyền con người</a:t>
            </a:r>
          </a:p>
        </p:txBody>
      </p:sp>
      <p:sp>
        <p:nvSpPr>
          <p:cNvPr id="41" name="Rounded Rectangle 40"/>
          <p:cNvSpPr/>
          <p:nvPr/>
        </p:nvSpPr>
        <p:spPr>
          <a:xfrm>
            <a:off x="666750" y="5905500"/>
            <a:ext cx="5753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Tập trung, thống nhất + phân công các nhánh quyền lực, phân cấp → </a:t>
            </a:r>
            <a:r>
              <a:rPr sz="2137" b="1" i="0">
                <a:solidFill>
                  <a:srgbClr val="8C2F2B"/>
                </a:solidFill>
                <a:latin typeface="Arial"/>
              </a:rPr>
              <a:t>TRÁNH LẠM QUYỀN</a:t>
            </a:r>
          </a:p>
        </p:txBody>
      </p:sp>
      <p:sp>
        <p:nvSpPr>
          <p:cNvPr id="42" name="Rounded Rectangle 41"/>
          <p:cNvSpPr/>
          <p:nvPr/>
        </p:nvSpPr>
        <p:spPr>
          <a:xfrm>
            <a:off x="7124700" y="3705225"/>
            <a:ext cx="4029075" cy="1085850"/>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Ba ý: tránh lạm quyền · chịu sự giám sát · kiểm soát — cùng hướng về đâu?</a:t>
            </a:r>
          </a:p>
        </p:txBody>
      </p:sp>
      <p:sp>
        <p:nvSpPr>
          <p:cNvPr id="43" name="Rounded Rectangle 42"/>
          <p:cNvSpPr/>
          <p:nvPr/>
        </p:nvSpPr>
        <p:spPr>
          <a:xfrm>
            <a:off x="7124700" y="4962525"/>
            <a:ext cx="4029075"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Ba ý cùng nói một điều: quyền lực nhà nước phải được KIỂM SOÁT</a:t>
            </a:r>
          </a:p>
        </p:txBody>
      </p:sp>
      <p:sp>
        <p:nvSpPr>
          <p:cNvPr id="44" name="Rounded Rectangle 43"/>
          <p:cNvSpPr/>
          <p:nvPr/>
        </p:nvSpPr>
        <p:spPr>
          <a:xfrm>
            <a:off x="7124700" y="4962525"/>
            <a:ext cx="4029075"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5" name="Rounded Rectangle 44"/>
          <p:cNvSpPr/>
          <p:nvPr/>
        </p:nvSpPr>
        <p:spPr>
          <a:xfrm>
            <a:off x="11868150" y="3267075"/>
            <a:ext cx="5753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Gắn bó với nhân dân; lắng nghe; </a:t>
            </a:r>
            <a:r>
              <a:rPr sz="2137" b="1" i="0">
                <a:solidFill>
                  <a:srgbClr val="8C2F2B"/>
                </a:solidFill>
                <a:latin typeface="Arial"/>
              </a:rPr>
              <a:t>CHỊU SỰ GIÁM SÁT</a:t>
            </a:r>
            <a:r>
              <a:rPr sz="2137" b="0" i="0">
                <a:solidFill>
                  <a:srgbClr val="2B2622"/>
                </a:solidFill>
                <a:latin typeface="Arial"/>
              </a:rPr>
              <a:t> của nhân dân</a:t>
            </a:r>
          </a:p>
        </p:txBody>
      </p:sp>
      <p:sp>
        <p:nvSpPr>
          <p:cNvPr id="46" name="Rounded Rectangle 45"/>
          <p:cNvSpPr/>
          <p:nvPr/>
        </p:nvSpPr>
        <p:spPr>
          <a:xfrm>
            <a:off x="11868150" y="4495800"/>
            <a:ext cx="5753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KIỂM SOÁT</a:t>
            </a:r>
            <a:r>
              <a:rPr sz="2137" b="0" i="0">
                <a:solidFill>
                  <a:srgbClr val="2B2622"/>
                </a:solidFill>
                <a:latin typeface="Arial"/>
              </a:rPr>
              <a:t>, ngăn ngừa, trừng trị quan liêu, tham nhũng, lộng quyền, vô trách nhiệm</a:t>
            </a:r>
          </a:p>
        </p:txBody>
      </p:sp>
      <p:sp>
        <p:nvSpPr>
          <p:cNvPr id="47" name="Rounded Rectangle 46"/>
          <p:cNvSpPr/>
          <p:nvPr/>
        </p:nvSpPr>
        <p:spPr>
          <a:xfrm>
            <a:off x="11868150" y="6096000"/>
            <a:ext cx="5753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Tập trung dân chủ; thống nhất quyền lực; chỉ đạo thống nhất của Trung 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300"/>
                                        <p:tgtEl>
                                          <p:spTgt spid="3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0"/>
                                        </p:tgtEl>
                                        <p:attrNameLst>
                                          <p:attrName>style.visibility</p:attrName>
                                        </p:attrNameLst>
                                      </p:cBhvr>
                                      <p:to>
                                        <p:strVal val="visible"/>
                                      </p:to>
                                    </p:set>
                                    <p:animEffect transition="in" filter="fade">
                                      <p:cBhvr>
                                        <p:cTn id="13" dur="300"/>
                                        <p:tgtEl>
                                          <p:spTgt spid="4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300"/>
                                        <p:tgtEl>
                                          <p:spTgt spid="4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300"/>
                                        <p:tgtEl>
                                          <p:spTgt spid="4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300"/>
                                        <p:tgtEl>
                                          <p:spTgt spid="4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300"/>
                                        <p:tgtEl>
                                          <p:spTgt spid="4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2"/>
                                        </p:tgtEl>
                                        <p:attrNameLst>
                                          <p:attrName>style.visibility</p:attrName>
                                        </p:attrNameLst>
                                      </p:cBhvr>
                                      <p:to>
                                        <p:strVal val="visible"/>
                                      </p:to>
                                    </p:set>
                                    <p:animEffect transition="in" filter="fade">
                                      <p:cBhvr>
                                        <p:cTn id="43" dur="300"/>
                                        <p:tgtEl>
                                          <p:spTgt spid="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300"/>
                                        <p:tgtEl>
                                          <p:spTgt spid="43"/>
                                        </p:tgtEl>
                                      </p:cBhvr>
                                    </p:animEffect>
                                  </p:childTnLst>
                                </p:cTn>
                              </p:par>
                              <p:par>
                                <p:cTn id="51" presetID="10" presetClass="entr" presetSubtype="0" fill="hold" nodeType="with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fade">
                                      <p:cBhvr>
                                        <p:cTn id="53" dur="300"/>
                                        <p:tgtEl>
                                          <p:spTgt spid="9"/>
                                        </p:tgtEl>
                                      </p:cBhvr>
                                    </p:animEffect>
                                  </p:childTnLst>
                                </p:cTn>
                              </p:par>
                              <p:par>
                                <p:cTn id="55" presetID="10" presetClass="entr" presetSubtype="0" fill="hold" nodeType="withEffect">
                                  <p:stCondLst>
                                    <p:cond delay="0"/>
                                  </p:stCondLst>
                                  <p:childTnLst>
                                    <p:set>
                                      <p:cBhvr>
                                        <p:cTn id="56" dur="1" fill="hold">
                                          <p:stCondLst>
                                            <p:cond delay="0"/>
                                          </p:stCondLst>
                                        </p:cTn>
                                        <p:tgtEl>
                                          <p:spTgt spid="10"/>
                                        </p:tgtEl>
                                        <p:attrNameLst>
                                          <p:attrName>style.visibility</p:attrName>
                                        </p:attrNameLst>
                                      </p:cBhvr>
                                      <p:to>
                                        <p:strVal val="visible"/>
                                      </p:to>
                                    </p:set>
                                    <p:animEffect transition="in" filter="fade">
                                      <p:cBhvr>
                                        <p:cTn id="57" dur="300"/>
                                        <p:tgtEl>
                                          <p:spTgt spid="10"/>
                                        </p:tgtEl>
                                      </p:cBhvr>
                                    </p:animEffect>
                                  </p:childTnLst>
                                </p:cTn>
                              </p:par>
                              <p:par>
                                <p:cTn id="59" presetID="10" presetClass="entr" presetSubtype="0" fill="hold" nodeType="withEffect">
                                  <p:stCondLst>
                                    <p:cond delay="0"/>
                                  </p:stCondLst>
                                  <p:childTnLst>
                                    <p:set>
                                      <p:cBhvr>
                                        <p:cTn id="60" dur="1" fill="hold">
                                          <p:stCondLst>
                                            <p:cond delay="0"/>
                                          </p:stCondLst>
                                        </p:cTn>
                                        <p:tgtEl>
                                          <p:spTgt spid="11"/>
                                        </p:tgtEl>
                                        <p:attrNameLst>
                                          <p:attrName>style.visibility</p:attrName>
                                        </p:attrNameLst>
                                      </p:cBhvr>
                                      <p:to>
                                        <p:strVal val="visible"/>
                                      </p:to>
                                    </p:set>
                                    <p:animEffect transition="in" filter="fade">
                                      <p:cBhvr>
                                        <p:cTn id="61" dur="300"/>
                                        <p:tgtEl>
                                          <p:spTgt spid="11"/>
                                        </p:tgtEl>
                                      </p:cBhvr>
                                    </p:animEffect>
                                  </p:childTnLst>
                                </p:cTn>
                              </p:par>
                              <p:par>
                                <p:cTn id="63" presetID="10" presetClass="entr" presetSubtype="0" fill="hold" nodeType="withEffect">
                                  <p:stCondLst>
                                    <p:cond delay="0"/>
                                  </p:stCondLst>
                                  <p:childTnLst>
                                    <p:set>
                                      <p:cBhvr>
                                        <p:cTn id="64" dur="1" fill="hold">
                                          <p:stCondLst>
                                            <p:cond delay="0"/>
                                          </p:stCondLst>
                                        </p:cTn>
                                        <p:tgtEl>
                                          <p:spTgt spid="12"/>
                                        </p:tgtEl>
                                        <p:attrNameLst>
                                          <p:attrName>style.visibility</p:attrName>
                                        </p:attrNameLst>
                                      </p:cBhvr>
                                      <p:to>
                                        <p:strVal val="visible"/>
                                      </p:to>
                                    </p:set>
                                    <p:animEffect transition="in" filter="fade">
                                      <p:cBhvr>
                                        <p:cTn id="65" dur="300"/>
                                        <p:tgtEl>
                                          <p:spTgt spid="12"/>
                                        </p:tgtEl>
                                      </p:cBhvr>
                                    </p:animEffect>
                                  </p:childTnLst>
                                </p:cTn>
                              </p:par>
                              <p:par>
                                <p:cTn id="67" presetID="10" presetClass="entr" presetSubtype="0" fill="hold"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300"/>
                                        <p:tgtEl>
                                          <p:spTgt spid="13"/>
                                        </p:tgtEl>
                                      </p:cBhvr>
                                    </p:animEffect>
                                  </p:childTnLst>
                                </p:cTn>
                              </p:par>
                              <p:par>
                                <p:cTn id="71" presetID="10" presetClass="entr" presetSubtype="0" fill="hold" nodeType="withEffect">
                                  <p:stCondLst>
                                    <p:cond delay="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300"/>
                                        <p:tgtEl>
                                          <p:spTgt spid="14"/>
                                        </p:tgtEl>
                                      </p:cBhvr>
                                    </p:animEffect>
                                  </p:childTnLst>
                                </p:cTn>
                              </p:par>
                              <p:par>
                                <p:cTn id="75" presetID="10"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300"/>
                                        <p:tgtEl>
                                          <p:spTgt spid="15"/>
                                        </p:tgtEl>
                                      </p:cBhvr>
                                    </p:animEffect>
                                  </p:childTnLst>
                                </p:cTn>
                              </p:par>
                              <p:par>
                                <p:cTn id="79" presetID="10" presetClass="entr" presetSubtype="0" fill="hold"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300"/>
                                        <p:tgtEl>
                                          <p:spTgt spid="16"/>
                                        </p:tgtEl>
                                      </p:cBhvr>
                                    </p:animEffect>
                                  </p:childTnLst>
                                </p:cTn>
                              </p:par>
                              <p:par>
                                <p:cTn id="83" presetID="10" presetClass="entr" presetSubtype="0" fill="hold" nodeType="with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300"/>
                                        <p:tgtEl>
                                          <p:spTgt spid="17"/>
                                        </p:tgtEl>
                                      </p:cBhvr>
                                    </p:animEffect>
                                  </p:childTnLst>
                                </p:cTn>
                              </p:par>
                              <p:par>
                                <p:cTn id="87" presetID="10" presetClass="entr" presetSubtype="0" fill="hold" nodeType="withEffect">
                                  <p:stCondLst>
                                    <p:cond delay="0"/>
                                  </p:stCondLst>
                                  <p:childTnLst>
                                    <p:set>
                                      <p:cBhvr>
                                        <p:cTn id="88" dur="1" fill="hold">
                                          <p:stCondLst>
                                            <p:cond delay="0"/>
                                          </p:stCondLst>
                                        </p:cTn>
                                        <p:tgtEl>
                                          <p:spTgt spid="18"/>
                                        </p:tgtEl>
                                        <p:attrNameLst>
                                          <p:attrName>style.visibility</p:attrName>
                                        </p:attrNameLst>
                                      </p:cBhvr>
                                      <p:to>
                                        <p:strVal val="visible"/>
                                      </p:to>
                                    </p:set>
                                    <p:animEffect transition="in" filter="fade">
                                      <p:cBhvr>
                                        <p:cTn id="89" dur="300"/>
                                        <p:tgtEl>
                                          <p:spTgt spid="18"/>
                                        </p:tgtEl>
                                      </p:cBhvr>
                                    </p:animEffect>
                                  </p:childTnLst>
                                </p:cTn>
                              </p:par>
                              <p:par>
                                <p:cTn id="91" presetID="10" presetClass="entr" presetSubtype="0" fill="hold" nodeType="withEffect">
                                  <p:stCondLst>
                                    <p:cond delay="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300"/>
                                        <p:tgtEl>
                                          <p:spTgt spid="19"/>
                                        </p:tgtEl>
                                      </p:cBhvr>
                                    </p:animEffect>
                                  </p:childTnLst>
                                </p:cTn>
                              </p:par>
                              <p:par>
                                <p:cTn id="95" presetID="10" presetClass="entr" presetSubtype="0" fill="hold"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300"/>
                                        <p:tgtEl>
                                          <p:spTgt spid="20"/>
                                        </p:tgtEl>
                                      </p:cBhvr>
                                    </p:animEffect>
                                  </p:childTnLst>
                                </p:cTn>
                              </p:par>
                              <p:par>
                                <p:cTn id="99" presetID="10" presetClass="entr" presetSubtype="0" fill="hold"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300"/>
                                        <p:tgtEl>
                                          <p:spTgt spid="21"/>
                                        </p:tgtEl>
                                      </p:cBhvr>
                                    </p:animEffect>
                                  </p:childTnLst>
                                </p:cTn>
                              </p:par>
                              <p:par>
                                <p:cTn id="103" presetID="10" presetClass="entr" presetSubtype="0" fill="hold" nodeType="withEffect">
                                  <p:stCondLst>
                                    <p:cond delay="0"/>
                                  </p:stCondLst>
                                  <p:childTnLst>
                                    <p:set>
                                      <p:cBhvr>
                                        <p:cTn id="104" dur="1" fill="hold">
                                          <p:stCondLst>
                                            <p:cond delay="0"/>
                                          </p:stCondLst>
                                        </p:cTn>
                                        <p:tgtEl>
                                          <p:spTgt spid="22"/>
                                        </p:tgtEl>
                                        <p:attrNameLst>
                                          <p:attrName>style.visibility</p:attrName>
                                        </p:attrNameLst>
                                      </p:cBhvr>
                                      <p:to>
                                        <p:strVal val="visible"/>
                                      </p:to>
                                    </p:set>
                                    <p:animEffect transition="in" filter="fade">
                                      <p:cBhvr>
                                        <p:cTn id="105" dur="300"/>
                                        <p:tgtEl>
                                          <p:spTgt spid="22"/>
                                        </p:tgtEl>
                                      </p:cBhvr>
                                    </p:animEffect>
                                  </p:childTnLst>
                                </p:cTn>
                              </p:par>
                              <p:par>
                                <p:cTn id="107" presetID="10" presetClass="entr" presetSubtype="0" fill="hold" nodeType="withEffect">
                                  <p:stCondLst>
                                    <p:cond delay="0"/>
                                  </p:stCondLst>
                                  <p:childTnLst>
                                    <p:set>
                                      <p:cBhvr>
                                        <p:cTn id="108" dur="1" fill="hold">
                                          <p:stCondLst>
                                            <p:cond delay="0"/>
                                          </p:stCondLst>
                                        </p:cTn>
                                        <p:tgtEl>
                                          <p:spTgt spid="23"/>
                                        </p:tgtEl>
                                        <p:attrNameLst>
                                          <p:attrName>style.visibility</p:attrName>
                                        </p:attrNameLst>
                                      </p:cBhvr>
                                      <p:to>
                                        <p:strVal val="visible"/>
                                      </p:to>
                                    </p:set>
                                    <p:animEffect transition="in" filter="fade">
                                      <p:cBhvr>
                                        <p:cTn id="109" dur="300"/>
                                        <p:tgtEl>
                                          <p:spTgt spid="23"/>
                                        </p:tgtEl>
                                      </p:cBhvr>
                                    </p:animEffect>
                                  </p:childTnLst>
                                </p:cTn>
                              </p:par>
                              <p:par>
                                <p:cTn id="111" presetID="10" presetClass="entr" presetSubtype="0" fill="hold" nodeType="withEffect">
                                  <p:stCondLst>
                                    <p:cond delay="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300"/>
                                        <p:tgtEl>
                                          <p:spTgt spid="24"/>
                                        </p:tgtEl>
                                      </p:cBhvr>
                                    </p:animEffect>
                                  </p:childTnLst>
                                </p:cTn>
                              </p:par>
                              <p:par>
                                <p:cTn id="115" presetID="10" presetClass="entr" presetSubtype="0" fill="hold" nodeType="with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300"/>
                                        <p:tgtEl>
                                          <p:spTgt spid="25"/>
                                        </p:tgtEl>
                                      </p:cBhvr>
                                    </p:animEffect>
                                  </p:childTnLst>
                                </p:cTn>
                              </p:par>
                              <p:par>
                                <p:cTn id="119" presetID="10" presetClass="entr" presetSubtype="0" fill="hold" nodeType="withEffect">
                                  <p:stCondLst>
                                    <p:cond delay="0"/>
                                  </p:stCondLst>
                                  <p:childTnLst>
                                    <p:set>
                                      <p:cBhvr>
                                        <p:cTn id="120" dur="1" fill="hold">
                                          <p:stCondLst>
                                            <p:cond delay="0"/>
                                          </p:stCondLst>
                                        </p:cTn>
                                        <p:tgtEl>
                                          <p:spTgt spid="26"/>
                                        </p:tgtEl>
                                        <p:attrNameLst>
                                          <p:attrName>style.visibility</p:attrName>
                                        </p:attrNameLst>
                                      </p:cBhvr>
                                      <p:to>
                                        <p:strVal val="visible"/>
                                      </p:to>
                                    </p:set>
                                    <p:animEffect transition="in" filter="fade">
                                      <p:cBhvr>
                                        <p:cTn id="121" dur="300"/>
                                        <p:tgtEl>
                                          <p:spTgt spid="26"/>
                                        </p:tgtEl>
                                      </p:cBhvr>
                                    </p:animEffect>
                                  </p:childTnLst>
                                </p:cTn>
                              </p:par>
                              <p:par>
                                <p:cTn id="123" presetID="10"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300"/>
                                        <p:tgtEl>
                                          <p:spTgt spid="27"/>
                                        </p:tgtEl>
                                      </p:cBhvr>
                                    </p:animEffect>
                                  </p:childTnLst>
                                </p:cTn>
                              </p:par>
                              <p:par>
                                <p:cTn id="127" presetID="10" presetClass="entr" presetSubtype="0" fill="hold" nodeType="withEffect">
                                  <p:stCondLst>
                                    <p:cond delay="0"/>
                                  </p:stCondLst>
                                  <p:childTnLst>
                                    <p:set>
                                      <p:cBhvr>
                                        <p:cTn id="128" dur="1" fill="hold">
                                          <p:stCondLst>
                                            <p:cond delay="0"/>
                                          </p:stCondLst>
                                        </p:cTn>
                                        <p:tgtEl>
                                          <p:spTgt spid="28"/>
                                        </p:tgtEl>
                                        <p:attrNameLst>
                                          <p:attrName>style.visibility</p:attrName>
                                        </p:attrNameLst>
                                      </p:cBhvr>
                                      <p:to>
                                        <p:strVal val="visible"/>
                                      </p:to>
                                    </p:set>
                                    <p:animEffect transition="in" filter="fade">
                                      <p:cBhvr>
                                        <p:cTn id="129" dur="300"/>
                                        <p:tgtEl>
                                          <p:spTgt spid="28"/>
                                        </p:tgtEl>
                                      </p:cBhvr>
                                    </p:animEffect>
                                  </p:childTnLst>
                                </p:cTn>
                              </p:par>
                              <p:par>
                                <p:cTn id="131" presetID="10" presetClass="entr" presetSubtype="0" fill="hold" nodeType="withEffect">
                                  <p:stCondLst>
                                    <p:cond delay="0"/>
                                  </p:stCondLst>
                                  <p:childTnLst>
                                    <p:set>
                                      <p:cBhvr>
                                        <p:cTn id="132" dur="1" fill="hold">
                                          <p:stCondLst>
                                            <p:cond delay="0"/>
                                          </p:stCondLst>
                                        </p:cTn>
                                        <p:tgtEl>
                                          <p:spTgt spid="29"/>
                                        </p:tgtEl>
                                        <p:attrNameLst>
                                          <p:attrName>style.visibility</p:attrName>
                                        </p:attrNameLst>
                                      </p:cBhvr>
                                      <p:to>
                                        <p:strVal val="visible"/>
                                      </p:to>
                                    </p:set>
                                    <p:animEffect transition="in" filter="fade">
                                      <p:cBhvr>
                                        <p:cTn id="133" dur="300"/>
                                        <p:tgtEl>
                                          <p:spTgt spid="29"/>
                                        </p:tgtEl>
                                      </p:cBhvr>
                                    </p:animEffect>
                                  </p:childTnLst>
                                </p:cTn>
                              </p:par>
                              <p:par>
                                <p:cTn id="135" presetID="10"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300"/>
                                        <p:tgtEl>
                                          <p:spTgt spid="30"/>
                                        </p:tgtEl>
                                      </p:cBhvr>
                                    </p:animEffect>
                                  </p:childTnLst>
                                </p:cTn>
                              </p:par>
                              <p:par>
                                <p:cTn id="139" presetID="10" presetClass="entr" presetSubtype="0" fill="hold" nodeType="withEffect">
                                  <p:stCondLst>
                                    <p:cond delay="0"/>
                                  </p:stCondLst>
                                  <p:childTnLst>
                                    <p:set>
                                      <p:cBhvr>
                                        <p:cTn id="140" dur="1" fill="hold">
                                          <p:stCondLst>
                                            <p:cond delay="0"/>
                                          </p:stCondLst>
                                        </p:cTn>
                                        <p:tgtEl>
                                          <p:spTgt spid="31"/>
                                        </p:tgtEl>
                                        <p:attrNameLst>
                                          <p:attrName>style.visibility</p:attrName>
                                        </p:attrNameLst>
                                      </p:cBhvr>
                                      <p:to>
                                        <p:strVal val="visible"/>
                                      </p:to>
                                    </p:set>
                                    <p:animEffect transition="in" filter="fade">
                                      <p:cBhvr>
                                        <p:cTn id="141" dur="300"/>
                                        <p:tgtEl>
                                          <p:spTgt spid="31"/>
                                        </p:tgtEl>
                                      </p:cBhvr>
                                    </p:animEffect>
                                  </p:childTnLst>
                                </p:cTn>
                              </p:par>
                              <p:par>
                                <p:cTn id="143" presetID="10" presetClass="entr" presetSubtype="0" fill="hold" nodeType="withEffect">
                                  <p:stCondLst>
                                    <p:cond delay="0"/>
                                  </p:stCondLst>
                                  <p:childTnLst>
                                    <p:set>
                                      <p:cBhvr>
                                        <p:cTn id="144" dur="1" fill="hold">
                                          <p:stCondLst>
                                            <p:cond delay="0"/>
                                          </p:stCondLst>
                                        </p:cTn>
                                        <p:tgtEl>
                                          <p:spTgt spid="32"/>
                                        </p:tgtEl>
                                        <p:attrNameLst>
                                          <p:attrName>style.visibility</p:attrName>
                                        </p:attrNameLst>
                                      </p:cBhvr>
                                      <p:to>
                                        <p:strVal val="visible"/>
                                      </p:to>
                                    </p:set>
                                    <p:animEffect transition="in" filter="fade">
                                      <p:cBhvr>
                                        <p:cTn id="145" dur="300"/>
                                        <p:tgtEl>
                                          <p:spTgt spid="32"/>
                                        </p:tgtEl>
                                      </p:cBhvr>
                                    </p:animEffect>
                                  </p:childTnLst>
                                </p:cTn>
                              </p:par>
                              <p:par>
                                <p:cTn id="147" presetID="10" presetClass="entr" presetSubtype="0" fill="hold" nodeType="withEffect">
                                  <p:stCondLst>
                                    <p:cond delay="0"/>
                                  </p:stCondLst>
                                  <p:childTnLst>
                                    <p:set>
                                      <p:cBhvr>
                                        <p:cTn id="148" dur="1" fill="hold">
                                          <p:stCondLst>
                                            <p:cond delay="0"/>
                                          </p:stCondLst>
                                        </p:cTn>
                                        <p:tgtEl>
                                          <p:spTgt spid="33"/>
                                        </p:tgtEl>
                                        <p:attrNameLst>
                                          <p:attrName>style.visibility</p:attrName>
                                        </p:attrNameLst>
                                      </p:cBhvr>
                                      <p:to>
                                        <p:strVal val="visible"/>
                                      </p:to>
                                    </p:set>
                                    <p:animEffect transition="in" filter="fade">
                                      <p:cBhvr>
                                        <p:cTn id="149" dur="300"/>
                                        <p:tgtEl>
                                          <p:spTgt spid="33"/>
                                        </p:tgtEl>
                                      </p:cBhvr>
                                    </p:animEffect>
                                  </p:childTnLst>
                                </p:cTn>
                              </p:par>
                              <p:par>
                                <p:cTn id="151" presetID="10" presetClass="entr" presetSubtype="0" fill="hold" nodeType="withEffect">
                                  <p:stCondLst>
                                    <p:cond delay="0"/>
                                  </p:stCondLst>
                                  <p:childTnLst>
                                    <p:set>
                                      <p:cBhvr>
                                        <p:cTn id="152" dur="1" fill="hold">
                                          <p:stCondLst>
                                            <p:cond delay="0"/>
                                          </p:stCondLst>
                                        </p:cTn>
                                        <p:tgtEl>
                                          <p:spTgt spid="34"/>
                                        </p:tgtEl>
                                        <p:attrNameLst>
                                          <p:attrName>style.visibility</p:attrName>
                                        </p:attrNameLst>
                                      </p:cBhvr>
                                      <p:to>
                                        <p:strVal val="visible"/>
                                      </p:to>
                                    </p:set>
                                    <p:animEffect transition="in" filter="fade">
                                      <p:cBhvr>
                                        <p:cTn id="153" dur="300"/>
                                        <p:tgtEl>
                                          <p:spTgt spid="34"/>
                                        </p:tgtEl>
                                      </p:cBhvr>
                                    </p:animEffect>
                                  </p:childTnLst>
                                </p:cTn>
                              </p:par>
                              <p:par>
                                <p:cTn id="155" presetID="10" presetClass="entr" presetSubtype="0" fill="hold" nodeType="withEffect">
                                  <p:stCondLst>
                                    <p:cond delay="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300"/>
                                        <p:tgtEl>
                                          <p:spTgt spid="35"/>
                                        </p:tgtEl>
                                      </p:cBhvr>
                                    </p:animEffect>
                                  </p:childTnLst>
                                </p:cTn>
                              </p:par>
                              <p:par>
                                <p:cTn id="159" presetID="10" presetClass="entr" presetSubtype="0" fill="hold" nodeType="withEffect">
                                  <p:stCondLst>
                                    <p:cond delay="0"/>
                                  </p:stCondLst>
                                  <p:childTnLst>
                                    <p:set>
                                      <p:cBhvr>
                                        <p:cTn id="160" dur="1" fill="hold">
                                          <p:stCondLst>
                                            <p:cond delay="0"/>
                                          </p:stCondLst>
                                        </p:cTn>
                                        <p:tgtEl>
                                          <p:spTgt spid="36"/>
                                        </p:tgtEl>
                                        <p:attrNameLst>
                                          <p:attrName>style.visibility</p:attrName>
                                        </p:attrNameLst>
                                      </p:cBhvr>
                                      <p:to>
                                        <p:strVal val="visible"/>
                                      </p:to>
                                    </p:set>
                                    <p:animEffect transition="in" filter="fade">
                                      <p:cBhvr>
                                        <p:cTn id="161" dur="300"/>
                                        <p:tgtEl>
                                          <p:spTgt spid="36"/>
                                        </p:tgtEl>
                                      </p:cBhvr>
                                    </p:animEffect>
                                  </p:childTnLst>
                                </p:cTn>
                              </p:par>
                              <p:par>
                                <p:cTn id="163" presetID="10"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300"/>
                                        <p:tgtEl>
                                          <p:spTgt spid="37"/>
                                        </p:tgtEl>
                                      </p:cBhvr>
                                    </p:animEffect>
                                  </p:childTnLst>
                                </p:cTn>
                              </p:par>
                              <p:par>
                                <p:cTn id="167" presetID="10" presetClass="entr" presetSubtype="0" fill="hold" nodeType="withEffect">
                                  <p:stCondLst>
                                    <p:cond delay="0"/>
                                  </p:stCondLst>
                                  <p:childTnLst>
                                    <p:set>
                                      <p:cBhvr>
                                        <p:cTn id="168" dur="1" fill="hold">
                                          <p:stCondLst>
                                            <p:cond delay="0"/>
                                          </p:stCondLst>
                                        </p:cTn>
                                        <p:tgtEl>
                                          <p:spTgt spid="38"/>
                                        </p:tgtEl>
                                        <p:attrNameLst>
                                          <p:attrName>style.visibility</p:attrName>
                                        </p:attrNameLst>
                                      </p:cBhvr>
                                      <p:to>
                                        <p:strVal val="visible"/>
                                      </p:to>
                                    </p:set>
                                    <p:animEffect transition="in" filter="fade">
                                      <p:cBhvr>
                                        <p:cTn id="169" dur="300"/>
                                        <p:tgtEl>
                                          <p:spTgt spid="38"/>
                                        </p:tgtEl>
                                      </p:cBhvr>
                                    </p:animEffect>
                                  </p:childTnLst>
                                </p:cTn>
                              </p:par>
                              <p:par>
                                <p:cTn id="171" presetID="1" presetClass="exit" presetSubtype="0" fill="hold" nodeType="withEffect">
                                  <p:stCondLst>
                                    <p:cond delay="0"/>
                                  </p:stCondLst>
                                  <p:childTnLst>
                                    <p:set>
                                      <p:cBhvr>
                                        <p:cTn id="172"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Nhận thức qua các kỳ Đại hội</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86450" y="3852862"/>
            <a:ext cx="54769"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41219" y="3852862"/>
            <a:ext cx="30956"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5972175" y="3821906"/>
            <a:ext cx="0" cy="30956"/>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972175" y="3790950"/>
            <a:ext cx="0" cy="30956"/>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72175" y="3790950"/>
            <a:ext cx="514350"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772900" y="3795712"/>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030450" y="4619625"/>
            <a:ext cx="0" cy="14859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030450" y="61055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9220200" y="6238875"/>
            <a:ext cx="58102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139238" y="62388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39238" y="62388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019675" y="7124700"/>
            <a:ext cx="60007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2658725" y="7124700"/>
            <a:ext cx="609600"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66750" y="2752725"/>
            <a:ext cx="5181600"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Chủ trương: Nhà nước pháp quyền Việt Nam </a:t>
            </a:r>
            <a:r>
              <a:rPr sz="2137" b="1" i="0">
                <a:solidFill>
                  <a:srgbClr val="8C2F2B"/>
                </a:solidFill>
                <a:latin typeface="Arial"/>
              </a:rPr>
              <a:t>CỦA DÂN, DO DÂN, VÌ DÂN</a:t>
            </a:r>
            <a:r>
              <a:rPr sz="2137" b="0" i="0">
                <a:solidFill>
                  <a:srgbClr val="2B2622"/>
                </a:solidFill>
                <a:latin typeface="Arial"/>
              </a:rPr>
              <a:t> → quản lý xã hội bằng pháp luật; mọi người có nghĩa vụ chấp hành Hiến pháp, pháp luật</a:t>
            </a:r>
          </a:p>
        </p:txBody>
      </p:sp>
      <p:sp>
        <p:nvSpPr>
          <p:cNvPr id="23" name="Rounded Rectangular Callout 22"/>
          <p:cNvSpPr/>
          <p:nvPr/>
        </p:nvSpPr>
        <p:spPr>
          <a:xfrm>
            <a:off x="6553200" y="3009900"/>
            <a:ext cx="5181600" cy="1571625"/>
          </a:xfrm>
          <a:prstGeom prst="wedgeRoundRectCallout">
            <a:avLst>
              <a:gd name="adj1" fmla="val -40441"/>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“Quyền lực nhà nước là thống nhất, có sự phân công, phối hợp, kiểm soát…”</a:t>
            </a:r>
          </a:p>
        </p:txBody>
      </p:sp>
      <p:sp>
        <p:nvSpPr>
          <p:cNvPr id="24" name="Rounded Rectangle 23"/>
          <p:cNvSpPr/>
          <p:nvPr/>
        </p:nvSpPr>
        <p:spPr>
          <a:xfrm>
            <a:off x="6781800" y="28670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XII</a:t>
            </a:r>
          </a:p>
        </p:txBody>
      </p:sp>
      <p:sp>
        <p:nvSpPr>
          <p:cNvPr id="25" name="Rounded Rectangular Callout 24"/>
          <p:cNvSpPr/>
          <p:nvPr/>
        </p:nvSpPr>
        <p:spPr>
          <a:xfrm>
            <a:off x="12439650" y="3009900"/>
            <a:ext cx="5181600" cy="1571625"/>
          </a:xfrm>
          <a:prstGeom prst="wedgeRoundRectCallout">
            <a:avLst>
              <a:gd name="adj1" fmla="val -40441"/>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“…phân công </a:t>
            </a:r>
            <a:r>
              <a:rPr sz="2137" b="1" i="1">
                <a:solidFill>
                  <a:srgbClr val="8C2F2B"/>
                </a:solidFill>
                <a:latin typeface="Georgia"/>
              </a:rPr>
              <a:t>rành mạch</a:t>
            </a:r>
            <a:r>
              <a:rPr sz="2137" b="0" i="1">
                <a:solidFill>
                  <a:srgbClr val="2B2622"/>
                </a:solidFill>
                <a:latin typeface="Georgia"/>
              </a:rPr>
              <a:t>, phối hợp </a:t>
            </a:r>
            <a:r>
              <a:rPr sz="2137" b="1" i="1">
                <a:solidFill>
                  <a:srgbClr val="8C2F2B"/>
                </a:solidFill>
                <a:latin typeface="Georgia"/>
              </a:rPr>
              <a:t>chặt chẽ</a:t>
            </a:r>
            <a:r>
              <a:rPr sz="2137" b="0" i="1">
                <a:solidFill>
                  <a:srgbClr val="2B2622"/>
                </a:solidFill>
                <a:latin typeface="Georgia"/>
              </a:rPr>
              <a:t> và </a:t>
            </a:r>
            <a:r>
              <a:rPr sz="2137" b="1" i="1">
                <a:solidFill>
                  <a:srgbClr val="8C2F2B"/>
                </a:solidFill>
                <a:latin typeface="Georgia"/>
              </a:rPr>
              <a:t>tăng cường</a:t>
            </a:r>
            <a:r>
              <a:rPr sz="2137" b="0" i="1">
                <a:solidFill>
                  <a:srgbClr val="2B2622"/>
                </a:solidFill>
                <a:latin typeface="Georgia"/>
              </a:rPr>
              <a:t> kiểm soát quyền lực nhà nước”</a:t>
            </a:r>
          </a:p>
        </p:txBody>
      </p:sp>
      <p:sp>
        <p:nvSpPr>
          <p:cNvPr id="26" name="Rounded Rectangle 25"/>
          <p:cNvSpPr/>
          <p:nvPr/>
        </p:nvSpPr>
        <p:spPr>
          <a:xfrm>
            <a:off x="12668250" y="2867025"/>
            <a:ext cx="137160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XIII</a:t>
            </a:r>
          </a:p>
        </p:txBody>
      </p:sp>
      <p:sp>
        <p:nvSpPr>
          <p:cNvPr id="27" name="Rounded Rectangle 26"/>
          <p:cNvSpPr/>
          <p:nvPr/>
        </p:nvSpPr>
        <p:spPr>
          <a:xfrm>
            <a:off x="6657975" y="5334000"/>
            <a:ext cx="497205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Điểm mới của Đại hội XIII so với Đại hội XII</a:t>
            </a:r>
          </a:p>
        </p:txBody>
      </p:sp>
      <p:sp>
        <p:nvSpPr>
          <p:cNvPr id="28" name="Rounded Rectangle 27"/>
          <p:cNvSpPr/>
          <p:nvPr/>
        </p:nvSpPr>
        <p:spPr>
          <a:xfrm>
            <a:off x="666750" y="6210300"/>
            <a:ext cx="4314825" cy="1838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tránh lạm quyền · chịu sự giám sát của nhân dân · kiểm soát, trừng trị tham nhũng</a:t>
            </a:r>
          </a:p>
        </p:txBody>
      </p:sp>
      <p:sp>
        <p:nvSpPr>
          <p:cNvPr id="29" name="Rounded Rectangle 28"/>
          <p:cNvSpPr/>
          <p:nvPr/>
        </p:nvSpPr>
        <p:spPr>
          <a:xfrm>
            <a:off x="5686425" y="6267450"/>
            <a:ext cx="6905625"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KIỂM SOÁT QUYỀN LỰC — nhận thức về Nhà nước pháp quyền ngày càng sáng tỏ</a:t>
            </a:r>
          </a:p>
        </p:txBody>
      </p:sp>
      <p:sp>
        <p:nvSpPr>
          <p:cNvPr id="30" name="Rounded Rectangle 29"/>
          <p:cNvSpPr/>
          <p:nvPr/>
        </p:nvSpPr>
        <p:spPr>
          <a:xfrm>
            <a:off x="5686425" y="6267450"/>
            <a:ext cx="6905625"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1" name="Rounded Rectangle 30"/>
          <p:cNvSpPr/>
          <p:nvPr/>
        </p:nvSpPr>
        <p:spPr>
          <a:xfrm>
            <a:off x="13306425" y="6400800"/>
            <a:ext cx="4314825"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Dân chủ gián tiếp: quyền lực thống nhất, có phân công, phối hợp, kiểm soát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00"/>
                                        <p:tgtEl>
                                          <p:spTgt spid="22"/>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300"/>
                                        <p:tgtEl>
                                          <p:spTgt spid="23"/>
                                        </p:tgtEl>
                                      </p:cBhvr>
                                    </p:animEffect>
                                  </p:childTnLst>
                                </p:cTn>
                              </p:par>
                              <p:par>
                                <p:cTn id="15" presetID="10"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300"/>
                                        <p:tgtEl>
                                          <p:spTgt spid="24"/>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300"/>
                                        <p:tgtEl>
                                          <p:spTgt spid="9"/>
                                        </p:tgtEl>
                                      </p:cBhvr>
                                    </p:animEffect>
                                  </p:childTnLst>
                                </p:cTn>
                              </p:par>
                              <p:par>
                                <p:cTn id="23" presetID="10"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300"/>
                                        <p:tgtEl>
                                          <p:spTgt spid="10"/>
                                        </p:tgtEl>
                                      </p:cBhvr>
                                    </p:animEffect>
                                  </p:childTnLst>
                                </p:cTn>
                              </p:par>
                              <p:par>
                                <p:cTn id="27" presetID="10"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3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300"/>
                                        <p:tgtEl>
                                          <p:spTgt spid="12"/>
                                        </p:tgtEl>
                                      </p:cBhvr>
                                    </p:animEffect>
                                  </p:childTnLst>
                                </p:cTn>
                              </p:par>
                              <p:par>
                                <p:cTn id="35" presetID="10"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300"/>
                                        <p:tgtEl>
                                          <p:spTgt spid="1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300"/>
                                        <p:tgtEl>
                                          <p:spTgt spid="25"/>
                                        </p:tgtEl>
                                      </p:cBhvr>
                                    </p:animEffect>
                                  </p:childTnLst>
                                </p:cTn>
                              </p:par>
                              <p:par>
                                <p:cTn id="45" presetID="10" presetClass="entr" presetSubtype="0" fill="hold"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00"/>
                                        <p:tgtEl>
                                          <p:spTgt spid="26"/>
                                        </p:tgtEl>
                                      </p:cBhvr>
                                    </p:animEffect>
                                  </p:childTnLst>
                                </p:cTn>
                              </p:par>
                              <p:par>
                                <p:cTn id="49" presetID="10" presetClass="entr" presetSubtype="0" fill="hold"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300"/>
                                        <p:tgtEl>
                                          <p:spTgt spid="14"/>
                                        </p:tgtEl>
                                      </p:cBhvr>
                                    </p:animEffect>
                                  </p:childTnLst>
                                </p:cTn>
                              </p:par>
                              <p:par>
                                <p:cTn id="53" presetID="10"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300"/>
                                        <p:tgtEl>
                                          <p:spTgt spid="15"/>
                                        </p:tgtEl>
                                      </p:cBhvr>
                                    </p:animEffect>
                                  </p:childTnLst>
                                </p:cTn>
                              </p:par>
                              <p:par>
                                <p:cTn id="57" presetID="10" presetClass="entr" presetSubtype="0" fill="hold" nodeType="with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300"/>
                                        <p:tgtEl>
                                          <p:spTgt spid="16"/>
                                        </p:tgtEl>
                                      </p:cBhvr>
                                    </p:animEffect>
                                  </p:childTnLst>
                                </p:cTn>
                              </p:par>
                              <p:par>
                                <p:cTn id="61" presetID="10"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300"/>
                                        <p:tgtEl>
                                          <p:spTgt spid="17"/>
                                        </p:tgtEl>
                                      </p:cBhvr>
                                    </p:animEffect>
                                  </p:childTnLst>
                                </p:cTn>
                              </p:par>
                              <p:par>
                                <p:cTn id="65" presetID="10" presetClass="entr" presetSubtype="0" fill="hold"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300"/>
                                        <p:tgtEl>
                                          <p:spTgt spid="18"/>
                                        </p:tgtEl>
                                      </p:cBhvr>
                                    </p:animEffect>
                                  </p:childTnLst>
                                </p:cTn>
                              </p:par>
                              <p:par>
                                <p:cTn id="69" presetID="10" presetClass="entr" presetSubtype="0" fill="hold" nodeType="withEffect">
                                  <p:stCondLst>
                                    <p:cond delay="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300"/>
                                        <p:tgtEl>
                                          <p:spTgt spid="1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300"/>
                                        <p:tgtEl>
                                          <p:spTgt spid="27"/>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00"/>
                                        <p:tgtEl>
                                          <p:spTgt spid="28"/>
                                        </p:tgtEl>
                                      </p:cBhvr>
                                    </p:animEffect>
                                  </p:childTnLst>
                                </p:cTn>
                              </p:par>
                              <p:par>
                                <p:cTn id="85" presetID="10" presetClass="entr" presetSubtype="0" fill="hold" nodeType="with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300"/>
                                        <p:tgtEl>
                                          <p:spTgt spid="31"/>
                                        </p:tgtEl>
                                      </p:cBhvr>
                                    </p:animEffect>
                                  </p:childTnLst>
                                </p:cTn>
                              </p:par>
                              <p:par>
                                <p:cTn id="89" presetID="10" presetClass="entr" presetSubtype="0" fill="hold"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300"/>
                                        <p:tgtEl>
                                          <p:spTgt spid="20"/>
                                        </p:tgtEl>
                                      </p:cBhvr>
                                    </p:animEffect>
                                  </p:childTnLst>
                                </p:cTn>
                              </p:par>
                              <p:par>
                                <p:cTn id="93" presetID="10"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300"/>
                                        <p:tgtEl>
                                          <p:spTgt spid="21"/>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29"/>
                                        </p:tgtEl>
                                        <p:attrNameLst>
                                          <p:attrName>style.visibility</p:attrName>
                                        </p:attrNameLst>
                                      </p:cBhvr>
                                      <p:to>
                                        <p:strVal val="visible"/>
                                      </p:to>
                                    </p:set>
                                    <p:animEffect transition="in" filter="fade">
                                      <p:cBhvr>
                                        <p:cTn id="101" dur="300"/>
                                        <p:tgtEl>
                                          <p:spTgt spid="29"/>
                                        </p:tgtEl>
                                      </p:cBhvr>
                                    </p:animEffect>
                                  </p:childTnLst>
                                </p:cTn>
                              </p:par>
                              <p:par>
                                <p:cTn id="103" presetID="1" presetClass="exit" presetSubtype="0" fill="hold" nodeType="withEffect">
                                  <p:stCondLst>
                                    <p:cond delay="0"/>
                                  </p:stCondLst>
                                  <p:childTnLst>
                                    <p:set>
                                      <p:cBhvr>
                                        <p:cTn id="104"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Sáu đặc điểm (1–3)</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438900" y="3952875"/>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38900" y="5219700"/>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38900" y="6662738"/>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2592050" y="5405438"/>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6750" y="3419475"/>
            <a:ext cx="57340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Chủ trương: Nhà nước pháp quyền của dân, do dân, vì dân</a:t>
            </a:r>
          </a:p>
        </p:txBody>
      </p:sp>
      <p:sp>
        <p:nvSpPr>
          <p:cNvPr id="14" name="Rounded Rectangle 13"/>
          <p:cNvSpPr/>
          <p:nvPr/>
        </p:nvSpPr>
        <p:spPr>
          <a:xfrm>
            <a:off x="6819900" y="3419475"/>
            <a:ext cx="5734050"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1</a:t>
            </a:r>
            <a:r>
              <a:rPr sz="2137" b="0" i="0">
                <a:solidFill>
                  <a:srgbClr val="2B2622"/>
                </a:solidFill>
                <a:latin typeface="Arial"/>
              </a:rPr>
              <a:t> · Nhà nước CỦA DÂN, DO DÂN, VÌ DÂN — nhân dân lao động làm chủ</a:t>
            </a:r>
          </a:p>
        </p:txBody>
      </p:sp>
      <p:sp>
        <p:nvSpPr>
          <p:cNvPr id="15" name="Rounded Rectangle 14"/>
          <p:cNvSpPr/>
          <p:nvPr/>
        </p:nvSpPr>
        <p:spPr>
          <a:xfrm>
            <a:off x="666750" y="4686300"/>
            <a:ext cx="57340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đề cao vai trò tối thượng của Hiến pháp và pháp luật</a:t>
            </a:r>
          </a:p>
        </p:txBody>
      </p:sp>
      <p:sp>
        <p:nvSpPr>
          <p:cNvPr id="16" name="Rounded Rectangle 15"/>
          <p:cNvSpPr/>
          <p:nvPr/>
        </p:nvSpPr>
        <p:spPr>
          <a:xfrm>
            <a:off x="6819900" y="4686300"/>
            <a:ext cx="5734050"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2</a:t>
            </a:r>
            <a:r>
              <a:rPr sz="2137" b="0" i="0">
                <a:solidFill>
                  <a:srgbClr val="2B2622"/>
                </a:solidFill>
                <a:latin typeface="Arial"/>
              </a:rPr>
              <a:t> · Dựa trên Hiến pháp, pháp luật; pháp luật ở VỊ TRÍ TỐI THƯỢNG</a:t>
            </a:r>
          </a:p>
        </p:txBody>
      </p:sp>
      <p:sp>
        <p:nvSpPr>
          <p:cNvPr id="17" name="Rounded Rectangle 16"/>
          <p:cNvSpPr/>
          <p:nvPr/>
        </p:nvSpPr>
        <p:spPr>
          <a:xfrm>
            <a:off x="666750" y="5943600"/>
            <a:ext cx="5734050" cy="1438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Đại hội XII, XIII: quyền lực thống nhất, có phân công, phối hợp, kiểm soát</a:t>
            </a:r>
          </a:p>
        </p:txBody>
      </p:sp>
      <p:sp>
        <p:nvSpPr>
          <p:cNvPr id="18" name="Rounded Rectangle 17"/>
          <p:cNvSpPr/>
          <p:nvPr/>
        </p:nvSpPr>
        <p:spPr>
          <a:xfrm>
            <a:off x="6819900" y="5943600"/>
            <a:ext cx="573405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3</a:t>
            </a:r>
            <a:r>
              <a:rPr sz="2137" b="0" i="0">
                <a:solidFill>
                  <a:srgbClr val="2B2622"/>
                </a:solidFill>
                <a:latin typeface="Arial"/>
              </a:rPr>
              <a:t> · Quyền lực thống nhất; phân công rõ ràng, phối hợp nhịp nhàng, kiểm soát: lập pháp – hành pháp – tư pháp</a:t>
            </a:r>
          </a:p>
        </p:txBody>
      </p:sp>
      <p:sp>
        <p:nvSpPr>
          <p:cNvPr id="19" name="Rounded Rectangle 18"/>
          <p:cNvSpPr/>
          <p:nvPr/>
        </p:nvSpPr>
        <p:spPr>
          <a:xfrm>
            <a:off x="13258800" y="4543425"/>
            <a:ext cx="43624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Nhà nước pháp quyền XHCN Việt Nam — ba đặc điểm đầu</a:t>
            </a:r>
          </a:p>
        </p:txBody>
      </p:sp>
      <p:sp>
        <p:nvSpPr>
          <p:cNvPr id="20" name="Rounded Rectangle 19"/>
          <p:cNvSpPr/>
          <p:nvPr/>
        </p:nvSpPr>
        <p:spPr>
          <a:xfrm>
            <a:off x="13258800" y="4543425"/>
            <a:ext cx="43624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00"/>
                                        <p:tgtEl>
                                          <p:spTgt spid="13"/>
                                        </p:tgtEl>
                                      </p:cBhvr>
                                    </p:animEffect>
                                  </p:childTnLst>
                                </p:cTn>
                              </p:par>
                              <p:par>
                                <p:cTn id="9" presetID="10"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00"/>
                                        <p:tgtEl>
                                          <p:spTgt spid="14"/>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300"/>
                                        <p:tgtEl>
                                          <p:spTgt spid="15"/>
                                        </p:tgtEl>
                                      </p:cBhvr>
                                    </p:animEffect>
                                  </p:childTnLst>
                                </p:cTn>
                              </p:par>
                              <p:par>
                                <p:cTn id="27" presetID="10"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3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00"/>
                                        <p:tgtEl>
                                          <p:spTgt spid="17"/>
                                        </p:tgtEl>
                                      </p:cBhvr>
                                    </p:animEffect>
                                  </p:childTnLst>
                                </p:cTn>
                              </p:par>
                              <p:par>
                                <p:cTn id="41" presetID="10"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3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00"/>
                                        <p:tgtEl>
                                          <p:spTgt spid="1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5" presetID="1" presetClass="exit" presetSubtype="0" fill="hold" nodeType="withEffect">
                                  <p:stCondLst>
                                    <p:cond delay="0"/>
                                  </p:stCondLst>
                                  <p:childTnLst>
                                    <p:set>
                                      <p:cBhvr>
                                        <p:cTn id="5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Sáu đặc điểm (4–6)</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438900" y="3395662"/>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38900" y="5405438"/>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38900" y="7405688"/>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2592050" y="5405438"/>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6750" y="2486025"/>
            <a:ext cx="5734050" cy="1819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Phương châm dân biết, dân bàn, dân làm, dân kiểm tra · Cương lĩnh: nhà nước chịu sự giám sát của nhân dân</a:t>
            </a:r>
          </a:p>
        </p:txBody>
      </p:sp>
      <p:sp>
        <p:nvSpPr>
          <p:cNvPr id="14" name="Rounded Rectangle 13"/>
          <p:cNvSpPr/>
          <p:nvPr/>
        </p:nvSpPr>
        <p:spPr>
          <a:xfrm>
            <a:off x="6819900" y="2486025"/>
            <a:ext cx="57340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4</a:t>
            </a:r>
            <a:r>
              <a:rPr sz="2137" b="0" i="0">
                <a:solidFill>
                  <a:srgbClr val="2B2622"/>
                </a:solidFill>
                <a:latin typeface="Arial"/>
              </a:rPr>
              <a:t> · Đảng Cộng sản Việt Nam lãnh đạo (Điều 4 Hiến pháp 2013); nhân dân giám sát: dân biết, dân bàn, dân làm, dân kiểm tra</a:t>
            </a:r>
          </a:p>
        </p:txBody>
      </p:sp>
      <p:sp>
        <p:nvSpPr>
          <p:cNvPr id="15" name="Rounded Rectangle 14"/>
          <p:cNvSpPr/>
          <p:nvPr/>
        </p:nvSpPr>
        <p:spPr>
          <a:xfrm>
            <a:off x="666750" y="4495800"/>
            <a:ext cx="5734050" cy="1819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đề cao quyền lợi, nghĩa vụ công dân; bảo đảm quyền con người</a:t>
            </a:r>
          </a:p>
        </p:txBody>
      </p:sp>
      <p:sp>
        <p:nvSpPr>
          <p:cNvPr id="16" name="Rounded Rectangle 15"/>
          <p:cNvSpPr/>
          <p:nvPr/>
        </p:nvSpPr>
        <p:spPr>
          <a:xfrm>
            <a:off x="6819900" y="4495800"/>
            <a:ext cx="57340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5</a:t>
            </a:r>
            <a:r>
              <a:rPr sz="2137" b="0" i="0">
                <a:solidFill>
                  <a:srgbClr val="2B2622"/>
                </a:solidFill>
                <a:latin typeface="Arial"/>
              </a:rPr>
              <a:t> · Tôn trọng quyền con người — chủ thể, trung tâm của phát triển; “nhân dân có quyền bầu và bãi miễn những đại biểu không xứng đáng”</a:t>
            </a:r>
          </a:p>
        </p:txBody>
      </p:sp>
      <p:sp>
        <p:nvSpPr>
          <p:cNvPr id="17" name="Rounded Rectangle 16"/>
          <p:cNvSpPr/>
          <p:nvPr/>
        </p:nvSpPr>
        <p:spPr>
          <a:xfrm>
            <a:off x="666750" y="6496050"/>
            <a:ext cx="5734050" cy="1819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tổ chức bộ máy theo nguyên tắc tập trung dân chủ</a:t>
            </a:r>
          </a:p>
        </p:txBody>
      </p:sp>
      <p:sp>
        <p:nvSpPr>
          <p:cNvPr id="18" name="Rounded Rectangle 17"/>
          <p:cNvSpPr/>
          <p:nvPr/>
        </p:nvSpPr>
        <p:spPr>
          <a:xfrm>
            <a:off x="6819900" y="6496050"/>
            <a:ext cx="57340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6</a:t>
            </a:r>
            <a:r>
              <a:rPr sz="2137" b="0" i="0">
                <a:solidFill>
                  <a:srgbClr val="2B2622"/>
                </a:solidFill>
                <a:latin typeface="Arial"/>
              </a:rPr>
              <a:t> · Tập trung dân chủ — phân công, phân cấp, phối hợp, kiểm soát; quyền lực thống nhất, chỉ đạo thống nhất của Trung ương</a:t>
            </a:r>
          </a:p>
        </p:txBody>
      </p:sp>
      <p:sp>
        <p:nvSpPr>
          <p:cNvPr id="19" name="Rounded Rectangle 18"/>
          <p:cNvSpPr/>
          <p:nvPr/>
        </p:nvSpPr>
        <p:spPr>
          <a:xfrm>
            <a:off x="13258800" y="4543425"/>
            <a:ext cx="43624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Nhà nước pháp quyền XHCN Việt Nam — đủ sáu đặc điểm</a:t>
            </a:r>
          </a:p>
        </p:txBody>
      </p:sp>
      <p:sp>
        <p:nvSpPr>
          <p:cNvPr id="20" name="Rounded Rectangle 19"/>
          <p:cNvSpPr/>
          <p:nvPr/>
        </p:nvSpPr>
        <p:spPr>
          <a:xfrm>
            <a:off x="13258800" y="4543425"/>
            <a:ext cx="43624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00"/>
                                        <p:tgtEl>
                                          <p:spTgt spid="13"/>
                                        </p:tgtEl>
                                      </p:cBhvr>
                                    </p:animEffect>
                                  </p:childTnLst>
                                </p:cTn>
                              </p:par>
                              <p:par>
                                <p:cTn id="9" presetID="10"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00"/>
                                        <p:tgtEl>
                                          <p:spTgt spid="14"/>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300"/>
                                        <p:tgtEl>
                                          <p:spTgt spid="15"/>
                                        </p:tgtEl>
                                      </p:cBhvr>
                                    </p:animEffect>
                                  </p:childTnLst>
                                </p:cTn>
                              </p:par>
                              <p:par>
                                <p:cTn id="27" presetID="10"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3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00"/>
                                        <p:tgtEl>
                                          <p:spTgt spid="17"/>
                                        </p:tgtEl>
                                      </p:cBhvr>
                                    </p:animEffect>
                                  </p:childTnLst>
                                </p:cTn>
                              </p:par>
                              <p:par>
                                <p:cTn id="41" presetID="10"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3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00"/>
                                        <p:tgtEl>
                                          <p:spTgt spid="1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5" presetID="1" presetClass="exit" presetSubtype="0" fill="hold" nodeType="withEffect">
                                  <p:stCondLst>
                                    <p:cond delay="0"/>
                                  </p:stCondLst>
                                  <p:childTnLst>
                                    <p:set>
                                      <p:cBhvr>
                                        <p:cTn id="5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Đối chiếu với quan niệm chung về nhà nước pháp quyền</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flipH="1">
            <a:off x="6910388" y="2995612"/>
            <a:ext cx="823912"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829425" y="2995612"/>
            <a:ext cx="80963"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29425" y="2914650"/>
            <a:ext cx="0" cy="8096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829425" y="2833688"/>
            <a:ext cx="0" cy="8096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6410325" y="2833688"/>
            <a:ext cx="4191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7015162" y="3786188"/>
            <a:ext cx="719138"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943725" y="3786188"/>
            <a:ext cx="71437"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6943725" y="3714750"/>
            <a:ext cx="0" cy="71438"/>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943725" y="3643312"/>
            <a:ext cx="0" cy="71438"/>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6410325" y="3643312"/>
            <a:ext cx="5334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079456" y="4576762"/>
            <a:ext cx="654844"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058025" y="4576762"/>
            <a:ext cx="21431"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058025" y="4576762"/>
            <a:ext cx="0" cy="2143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58025" y="4598194"/>
            <a:ext cx="0" cy="21431"/>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6410325" y="4619625"/>
            <a:ext cx="6477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305675" y="4576762"/>
            <a:ext cx="428625"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7172325" y="4576762"/>
            <a:ext cx="133350"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172325" y="4576762"/>
            <a:ext cx="0" cy="3348038"/>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72325" y="7924800"/>
            <a:ext cx="0" cy="13335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6410325" y="8058150"/>
            <a:ext cx="7620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7419975" y="5367338"/>
            <a:ext cx="314325"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286625" y="5367338"/>
            <a:ext cx="133350"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86625" y="5367338"/>
            <a:ext cx="0" cy="141446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86625" y="6781800"/>
            <a:ext cx="0" cy="13335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410325" y="6915150"/>
            <a:ext cx="8763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66750" y="1428750"/>
            <a:ext cx="5676900" cy="704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38100" rIns="38100" tIns="38100" bIns="38100"/>
          <a:lstStyle/>
          <a:p>
            <a:pPr algn="l"/>
            <a:r>
              <a:rPr sz="1574" b="0" i="0">
                <a:solidFill>
                  <a:srgbClr val="8C2F2B"/>
                </a:solidFill>
                <a:latin typeface="Arial"/>
              </a:rPr>
              <a:t>Sáu đặc điểm của Nhà nước pháp quyền XHCN Việt Nam</a:t>
            </a:r>
          </a:p>
        </p:txBody>
      </p:sp>
      <p:sp>
        <p:nvSpPr>
          <p:cNvPr id="35" name="Rectangle 34"/>
          <p:cNvSpPr/>
          <p:nvPr/>
        </p:nvSpPr>
        <p:spPr>
          <a:xfrm>
            <a:off x="666750" y="2105025"/>
            <a:ext cx="5676900" cy="2857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0" y="1571625"/>
            <a:ext cx="9848850" cy="4286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38100" rIns="38100" tIns="38100" bIns="38100"/>
          <a:lstStyle/>
          <a:p>
            <a:pPr algn="l"/>
            <a:r>
              <a:rPr sz="1574" b="0" i="0">
                <a:solidFill>
                  <a:srgbClr val="8C2F2B"/>
                </a:solidFill>
                <a:latin typeface="Arial"/>
              </a:rPr>
              <a:t>Quan niệm chung về nhà nước pháp quyền</a:t>
            </a:r>
          </a:p>
        </p:txBody>
      </p:sp>
      <p:sp>
        <p:nvSpPr>
          <p:cNvPr id="37" name="Rectangle 36"/>
          <p:cNvSpPr/>
          <p:nvPr/>
        </p:nvSpPr>
        <p:spPr>
          <a:xfrm>
            <a:off x="7772400" y="1971675"/>
            <a:ext cx="9848850" cy="2857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66750" y="2514600"/>
            <a:ext cx="5676900" cy="6381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1</a:t>
            </a:r>
            <a:r>
              <a:rPr sz="1852" b="0" i="0">
                <a:solidFill>
                  <a:srgbClr val="1F3A5F"/>
                </a:solidFill>
                <a:latin typeface="Arial"/>
              </a:rPr>
              <a:t> · Nhà nước của dân, do dân, vì dân</a:t>
            </a:r>
          </a:p>
        </p:txBody>
      </p:sp>
      <p:sp>
        <p:nvSpPr>
          <p:cNvPr id="39" name="Rounded Rectangle 38"/>
          <p:cNvSpPr/>
          <p:nvPr/>
        </p:nvSpPr>
        <p:spPr>
          <a:xfrm>
            <a:off x="666750" y="3324225"/>
            <a:ext cx="5676900" cy="6381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2</a:t>
            </a:r>
            <a:r>
              <a:rPr sz="1852" b="0" i="0">
                <a:solidFill>
                  <a:srgbClr val="1F3A5F"/>
                </a:solidFill>
                <a:latin typeface="Arial"/>
              </a:rPr>
              <a:t> · Hiến pháp, pháp luật ở vị trí tối thượng</a:t>
            </a:r>
          </a:p>
        </p:txBody>
      </p:sp>
      <p:sp>
        <p:nvSpPr>
          <p:cNvPr id="40" name="Rounded Rectangle 39"/>
          <p:cNvSpPr/>
          <p:nvPr/>
        </p:nvSpPr>
        <p:spPr>
          <a:xfrm>
            <a:off x="666750" y="4133850"/>
            <a:ext cx="5676900" cy="97155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3</a:t>
            </a:r>
            <a:r>
              <a:rPr sz="1852" b="0" i="0">
                <a:solidFill>
                  <a:srgbClr val="1F3A5F"/>
                </a:solidFill>
                <a:latin typeface="Arial"/>
              </a:rPr>
              <a:t> · Quyền lực thống nhất; phân công, phối hợp, kiểm soát</a:t>
            </a:r>
          </a:p>
        </p:txBody>
      </p:sp>
      <p:sp>
        <p:nvSpPr>
          <p:cNvPr id="41" name="Rounded Rectangle 40"/>
          <p:cNvSpPr/>
          <p:nvPr/>
        </p:nvSpPr>
        <p:spPr>
          <a:xfrm>
            <a:off x="666750" y="5276850"/>
            <a:ext cx="5676900" cy="9906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4</a:t>
            </a:r>
            <a:r>
              <a:rPr sz="1852" b="0" i="0">
                <a:solidFill>
                  <a:srgbClr val="1F3A5F"/>
                </a:solidFill>
                <a:latin typeface="Arial"/>
              </a:rPr>
              <a:t> · Đảng Cộng sản Việt Nam lãnh đạo; nhân dân giám sát</a:t>
            </a:r>
          </a:p>
        </p:txBody>
      </p:sp>
      <p:sp>
        <p:nvSpPr>
          <p:cNvPr id="42" name="Rounded Rectangle 41"/>
          <p:cNvSpPr/>
          <p:nvPr/>
        </p:nvSpPr>
        <p:spPr>
          <a:xfrm>
            <a:off x="666750" y="5276850"/>
            <a:ext cx="5676900" cy="990600"/>
          </a:xfrm>
          <a:prstGeom prst="roundRect">
            <a:avLst>
              <a:gd name="adj" fmla="val 12000"/>
            </a:avLst>
          </a:prstGeom>
          <a:solidFill>
            <a:srgbClr val="FBE3DF"/>
          </a:solidFill>
          <a:ln w="28575">
            <a:solidFill>
              <a:srgbClr val="D33A2C"/>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D33A2C"/>
                </a:solidFill>
                <a:latin typeface="Arial"/>
              </a:rPr>
              <a:t>4</a:t>
            </a:r>
            <a:r>
              <a:rPr sz="1852" b="0" i="0">
                <a:solidFill>
                  <a:srgbClr val="D33A2C"/>
                </a:solidFill>
                <a:latin typeface="Arial"/>
              </a:rPr>
              <a:t> · Đảng Cộng sản Việt Nam lãnh đạo; nhân dân giám sát</a:t>
            </a:r>
          </a:p>
        </p:txBody>
      </p:sp>
      <p:sp>
        <p:nvSpPr>
          <p:cNvPr id="43" name="Rounded Rectangle 42"/>
          <p:cNvSpPr/>
          <p:nvPr/>
        </p:nvSpPr>
        <p:spPr>
          <a:xfrm>
            <a:off x="666750" y="6429375"/>
            <a:ext cx="5676900" cy="97155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5</a:t>
            </a:r>
            <a:r>
              <a:rPr sz="1852" b="0" i="0">
                <a:solidFill>
                  <a:srgbClr val="1F3A5F"/>
                </a:solidFill>
                <a:latin typeface="Arial"/>
              </a:rPr>
              <a:t> · Tôn trọng quyền con người; pháp luật nghiêm minh</a:t>
            </a:r>
          </a:p>
        </p:txBody>
      </p:sp>
      <p:sp>
        <p:nvSpPr>
          <p:cNvPr id="44" name="Rounded Rectangle 43"/>
          <p:cNvSpPr/>
          <p:nvPr/>
        </p:nvSpPr>
        <p:spPr>
          <a:xfrm>
            <a:off x="666750" y="7572375"/>
            <a:ext cx="5676900" cy="97155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6</a:t>
            </a:r>
            <a:r>
              <a:rPr sz="1852" b="0" i="0">
                <a:solidFill>
                  <a:srgbClr val="1F3A5F"/>
                </a:solidFill>
                <a:latin typeface="Arial"/>
              </a:rPr>
              <a:t> · Tập trung dân chủ; chỉ đạo thống nhất của Trung ương</a:t>
            </a:r>
          </a:p>
        </p:txBody>
      </p:sp>
      <p:sp>
        <p:nvSpPr>
          <p:cNvPr id="45" name="Rounded Rectangle 44"/>
          <p:cNvSpPr/>
          <p:nvPr/>
        </p:nvSpPr>
        <p:spPr>
          <a:xfrm>
            <a:off x="7772400" y="268605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Tất cả vì mục tiêu phục vụ nhân dân</a:t>
            </a:r>
          </a:p>
        </p:txBody>
      </p:sp>
      <p:sp>
        <p:nvSpPr>
          <p:cNvPr id="46" name="Rounded Rectangle 45"/>
          <p:cNvSpPr/>
          <p:nvPr/>
        </p:nvSpPr>
        <p:spPr>
          <a:xfrm>
            <a:off x="7772400" y="3476625"/>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Thượng tôn pháp luật</a:t>
            </a:r>
          </a:p>
        </p:txBody>
      </p:sp>
      <p:sp>
        <p:nvSpPr>
          <p:cNvPr id="47" name="Rounded Rectangle 46"/>
          <p:cNvSpPr/>
          <p:nvPr/>
        </p:nvSpPr>
        <p:spPr>
          <a:xfrm>
            <a:off x="7772400" y="426720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Cơ quan nhà nước phân công, phối hợp, kiểm soát lẫn nhau</a:t>
            </a:r>
          </a:p>
        </p:txBody>
      </p:sp>
      <p:sp>
        <p:nvSpPr>
          <p:cNvPr id="48" name="Rounded Rectangle 47"/>
          <p:cNvSpPr/>
          <p:nvPr/>
        </p:nvSpPr>
        <p:spPr>
          <a:xfrm>
            <a:off x="7772400" y="5057775"/>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Pháp luật nghiêm minh</a:t>
            </a:r>
          </a:p>
        </p:txBody>
      </p:sp>
      <p:sp>
        <p:nvSpPr>
          <p:cNvPr id="49" name="Rounded Rectangle 48"/>
          <p:cNvSpPr/>
          <p:nvPr/>
        </p:nvSpPr>
        <p:spPr>
          <a:xfrm>
            <a:off x="7772400" y="584835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Hướng tới phúc lợi; cá nhân tự do, bình đẳng, phát huy năng lực</a:t>
            </a:r>
          </a:p>
        </p:txBody>
      </p:sp>
      <p:sp>
        <p:nvSpPr>
          <p:cNvPr id="50" name="Rounded Rectangle 49"/>
          <p:cNvSpPr/>
          <p:nvPr/>
        </p:nvSpPr>
        <p:spPr>
          <a:xfrm>
            <a:off x="7772400" y="6629400"/>
            <a:ext cx="9848850" cy="952500"/>
          </a:xfrm>
          <a:prstGeom prst="roundRect">
            <a:avLst>
              <a:gd name="adj" fmla="val 12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Cơ quan được phân quyền rõ ràng; chấp nhận trên nguyên tắc bình đẳng giữa các thế lực, giai cấp, tầng lớp</a:t>
            </a:r>
          </a:p>
        </p:txBody>
      </p:sp>
      <p:sp>
        <p:nvSpPr>
          <p:cNvPr id="51" name="Rounded Rectangle 50"/>
          <p:cNvSpPr/>
          <p:nvPr/>
        </p:nvSpPr>
        <p:spPr>
          <a:xfrm>
            <a:off x="7772400" y="775335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Mọi công dân được giáo dục pháp luật, hiểu biết, tuân thủ pháp luật</a:t>
            </a:r>
          </a:p>
        </p:txBody>
      </p:sp>
      <p:sp>
        <p:nvSpPr>
          <p:cNvPr id="52" name="Rounded Rectangle 51"/>
          <p:cNvSpPr/>
          <p:nvPr/>
        </p:nvSpPr>
        <p:spPr>
          <a:xfrm>
            <a:off x="3752850" y="8924925"/>
            <a:ext cx="10782300" cy="4476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300" b="0" i="0">
                <a:solidFill>
                  <a:srgbClr val="6B6B6B"/>
                </a:solidFill>
                <a:latin typeface="Arial"/>
              </a:rPr>
              <a:t>Đặc điểm 4 (Đảng lãnh đạo) không có cặp → đây là điểm khác biệt của Nhà nước pháp quyền XHCN Việt Nam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300"/>
                                        <p:tgtEl>
                                          <p:spTgt spid="34"/>
                                        </p:tgtEl>
                                      </p:cBhvr>
                                    </p:animEffect>
                                  </p:childTnLst>
                                </p:cTn>
                              </p:par>
                              <p:par>
                                <p:cTn id="9" presetID="10" presetClass="entr" presetSubtype="0" fill="hold"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300"/>
                                        <p:tgtEl>
                                          <p:spTgt spid="36"/>
                                        </p:tgtEl>
                                      </p:cBhvr>
                                    </p:animEffect>
                                  </p:childTnLst>
                                </p:cTn>
                              </p:par>
                              <p:par>
                                <p:cTn id="13" presetID="10"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300"/>
                                        <p:tgtEl>
                                          <p:spTgt spid="38"/>
                                        </p:tgtEl>
                                      </p:cBhvr>
                                    </p:animEffect>
                                  </p:childTnLst>
                                </p:cTn>
                              </p:par>
                              <p:par>
                                <p:cTn id="17" presetID="10" presetClass="entr" presetSubtype="0" fill="hold" nodeType="withEffect">
                                  <p:stCondLst>
                                    <p:cond delay="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300"/>
                                        <p:tgtEl>
                                          <p:spTgt spid="39"/>
                                        </p:tgtEl>
                                      </p:cBhvr>
                                    </p:animEffect>
                                  </p:childTnLst>
                                </p:cTn>
                              </p:par>
                              <p:par>
                                <p:cTn id="21" presetID="10" presetClass="entr" presetSubtype="0" fill="hold"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300"/>
                                        <p:tgtEl>
                                          <p:spTgt spid="40"/>
                                        </p:tgtEl>
                                      </p:cBhvr>
                                    </p:animEffect>
                                  </p:childTnLst>
                                </p:cTn>
                              </p:par>
                              <p:par>
                                <p:cTn id="25" presetID="10" presetClass="entr" presetSubtype="0"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300"/>
                                        <p:tgtEl>
                                          <p:spTgt spid="41"/>
                                        </p:tgtEl>
                                      </p:cBhvr>
                                    </p:animEffect>
                                  </p:childTnLst>
                                </p:cTn>
                              </p:par>
                              <p:par>
                                <p:cTn id="29" presetID="10"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300"/>
                                        <p:tgtEl>
                                          <p:spTgt spid="43"/>
                                        </p:tgtEl>
                                      </p:cBhvr>
                                    </p:animEffect>
                                  </p:childTnLst>
                                </p:cTn>
                              </p:par>
                              <p:par>
                                <p:cTn id="33" presetID="10" presetClass="entr" presetSubtype="0" fill="hold"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300"/>
                                        <p:tgtEl>
                                          <p:spTgt spid="44"/>
                                        </p:tgtEl>
                                      </p:cBhvr>
                                    </p:animEffect>
                                  </p:childTnLst>
                                </p:cTn>
                              </p:par>
                              <p:par>
                                <p:cTn id="37" presetID="10" presetClass="entr" presetSubtype="0" fill="hold" nodeType="withEffect">
                                  <p:stCondLst>
                                    <p:cond delay="0"/>
                                  </p:stCondLst>
                                  <p:childTnLst>
                                    <p:set>
                                      <p:cBhvr>
                                        <p:cTn id="38" dur="1" fill="hold">
                                          <p:stCondLst>
                                            <p:cond delay="0"/>
                                          </p:stCondLst>
                                        </p:cTn>
                                        <p:tgtEl>
                                          <p:spTgt spid="45"/>
                                        </p:tgtEl>
                                        <p:attrNameLst>
                                          <p:attrName>style.visibility</p:attrName>
                                        </p:attrNameLst>
                                      </p:cBhvr>
                                      <p:to>
                                        <p:strVal val="visible"/>
                                      </p:to>
                                    </p:set>
                                    <p:animEffect transition="in" filter="fade">
                                      <p:cBhvr>
                                        <p:cTn id="39" dur="300"/>
                                        <p:tgtEl>
                                          <p:spTgt spid="45"/>
                                        </p:tgtEl>
                                      </p:cBhvr>
                                    </p:animEffect>
                                  </p:childTnLst>
                                </p:cTn>
                              </p:par>
                              <p:par>
                                <p:cTn id="41" presetID="10"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animEffect transition="in" filter="fade">
                                      <p:cBhvr>
                                        <p:cTn id="43" dur="300"/>
                                        <p:tgtEl>
                                          <p:spTgt spid="46"/>
                                        </p:tgtEl>
                                      </p:cBhvr>
                                    </p:animEffect>
                                  </p:childTnLst>
                                </p:cTn>
                              </p:par>
                              <p:par>
                                <p:cTn id="45" presetID="10" presetClass="entr" presetSubtype="0" fill="hold" nodeType="with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300"/>
                                        <p:tgtEl>
                                          <p:spTgt spid="47"/>
                                        </p:tgtEl>
                                      </p:cBhvr>
                                    </p:animEffect>
                                  </p:childTnLst>
                                </p:cTn>
                              </p:par>
                              <p:par>
                                <p:cTn id="49" presetID="10" presetClass="entr" presetSubtype="0" fill="hold" nodeType="withEffect">
                                  <p:stCondLst>
                                    <p:cond delay="0"/>
                                  </p:stCondLst>
                                  <p:childTnLst>
                                    <p:set>
                                      <p:cBhvr>
                                        <p:cTn id="50" dur="1" fill="hold">
                                          <p:stCondLst>
                                            <p:cond delay="0"/>
                                          </p:stCondLst>
                                        </p:cTn>
                                        <p:tgtEl>
                                          <p:spTgt spid="48"/>
                                        </p:tgtEl>
                                        <p:attrNameLst>
                                          <p:attrName>style.visibility</p:attrName>
                                        </p:attrNameLst>
                                      </p:cBhvr>
                                      <p:to>
                                        <p:strVal val="visible"/>
                                      </p:to>
                                    </p:set>
                                    <p:animEffect transition="in" filter="fade">
                                      <p:cBhvr>
                                        <p:cTn id="51" dur="300"/>
                                        <p:tgtEl>
                                          <p:spTgt spid="48"/>
                                        </p:tgtEl>
                                      </p:cBhvr>
                                    </p:animEffect>
                                  </p:childTnLst>
                                </p:cTn>
                              </p:par>
                              <p:par>
                                <p:cTn id="53" presetID="10" presetClass="entr" presetSubtype="0" fill="hold" nodeType="withEffect">
                                  <p:stCondLst>
                                    <p:cond delay="0"/>
                                  </p:stCondLst>
                                  <p:childTnLst>
                                    <p:set>
                                      <p:cBhvr>
                                        <p:cTn id="54" dur="1" fill="hold">
                                          <p:stCondLst>
                                            <p:cond delay="0"/>
                                          </p:stCondLst>
                                        </p:cTn>
                                        <p:tgtEl>
                                          <p:spTgt spid="49"/>
                                        </p:tgtEl>
                                        <p:attrNameLst>
                                          <p:attrName>style.visibility</p:attrName>
                                        </p:attrNameLst>
                                      </p:cBhvr>
                                      <p:to>
                                        <p:strVal val="visible"/>
                                      </p:to>
                                    </p:set>
                                    <p:animEffect transition="in" filter="fade">
                                      <p:cBhvr>
                                        <p:cTn id="55" dur="300"/>
                                        <p:tgtEl>
                                          <p:spTgt spid="49"/>
                                        </p:tgtEl>
                                      </p:cBhvr>
                                    </p:animEffect>
                                  </p:childTnLst>
                                </p:cTn>
                              </p:par>
                              <p:par>
                                <p:cTn id="57" presetID="10"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300"/>
                                        <p:tgtEl>
                                          <p:spTgt spid="50"/>
                                        </p:tgtEl>
                                      </p:cBhvr>
                                    </p:animEffect>
                                  </p:childTnLst>
                                </p:cTn>
                              </p:par>
                              <p:par>
                                <p:cTn id="61" presetID="10" presetClass="entr" presetSubtype="0" fill="hold" nodeType="withEffect">
                                  <p:stCondLst>
                                    <p:cond delay="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300"/>
                                        <p:tgtEl>
                                          <p:spTgt spid="51"/>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9"/>
                                        </p:tgtEl>
                                        <p:attrNameLst>
                                          <p:attrName>style.visibility</p:attrName>
                                        </p:attrNameLst>
                                      </p:cBhvr>
                                      <p:to>
                                        <p:strVal val="visible"/>
                                      </p:to>
                                    </p:set>
                                    <p:animEffect transition="in" filter="fade">
                                      <p:cBhvr>
                                        <p:cTn id="69" dur="300"/>
                                        <p:tgtEl>
                                          <p:spTgt spid="9"/>
                                        </p:tgtEl>
                                      </p:cBhvr>
                                    </p:animEffect>
                                  </p:childTnLst>
                                </p:cTn>
                              </p:par>
                              <p:par>
                                <p:cTn id="71" presetID="10" presetClass="entr" presetSubtype="0" fill="hold"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fade">
                                      <p:cBhvr>
                                        <p:cTn id="73" dur="300"/>
                                        <p:tgtEl>
                                          <p:spTgt spid="10"/>
                                        </p:tgtEl>
                                      </p:cBhvr>
                                    </p:animEffect>
                                  </p:childTnLst>
                                </p:cTn>
                              </p:par>
                              <p:par>
                                <p:cTn id="75" presetID="10" presetClass="entr" presetSubtype="0" fill="hold" nodeType="withEffect">
                                  <p:stCondLst>
                                    <p:cond delay="0"/>
                                  </p:stCondLst>
                                  <p:childTnLst>
                                    <p:set>
                                      <p:cBhvr>
                                        <p:cTn id="76" dur="1" fill="hold">
                                          <p:stCondLst>
                                            <p:cond delay="0"/>
                                          </p:stCondLst>
                                        </p:cTn>
                                        <p:tgtEl>
                                          <p:spTgt spid="11"/>
                                        </p:tgtEl>
                                        <p:attrNameLst>
                                          <p:attrName>style.visibility</p:attrName>
                                        </p:attrNameLst>
                                      </p:cBhvr>
                                      <p:to>
                                        <p:strVal val="visible"/>
                                      </p:to>
                                    </p:set>
                                    <p:animEffect transition="in" filter="fade">
                                      <p:cBhvr>
                                        <p:cTn id="77" dur="300"/>
                                        <p:tgtEl>
                                          <p:spTgt spid="11"/>
                                        </p:tgtEl>
                                      </p:cBhvr>
                                    </p:animEffect>
                                  </p:childTnLst>
                                </p:cTn>
                              </p:par>
                              <p:par>
                                <p:cTn id="79" presetID="10" presetClass="entr" presetSubtype="0" fill="hold"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fade">
                                      <p:cBhvr>
                                        <p:cTn id="81" dur="300"/>
                                        <p:tgtEl>
                                          <p:spTgt spid="12"/>
                                        </p:tgtEl>
                                      </p:cBhvr>
                                    </p:animEffect>
                                  </p:childTnLst>
                                </p:cTn>
                              </p:par>
                              <p:par>
                                <p:cTn id="83" presetID="10" presetClass="entr" presetSubtype="0" fill="hold" nodeType="withEffect">
                                  <p:stCondLst>
                                    <p:cond delay="0"/>
                                  </p:stCondLst>
                                  <p:childTnLst>
                                    <p:set>
                                      <p:cBhvr>
                                        <p:cTn id="84" dur="1" fill="hold">
                                          <p:stCondLst>
                                            <p:cond delay="0"/>
                                          </p:stCondLst>
                                        </p:cTn>
                                        <p:tgtEl>
                                          <p:spTgt spid="13"/>
                                        </p:tgtEl>
                                        <p:attrNameLst>
                                          <p:attrName>style.visibility</p:attrName>
                                        </p:attrNameLst>
                                      </p:cBhvr>
                                      <p:to>
                                        <p:strVal val="visible"/>
                                      </p:to>
                                    </p:set>
                                    <p:animEffect transition="in" filter="fade">
                                      <p:cBhvr>
                                        <p:cTn id="85" dur="300"/>
                                        <p:tgtEl>
                                          <p:spTgt spid="13"/>
                                        </p:tgtEl>
                                      </p:cBhvr>
                                    </p:animEffect>
                                  </p:childTnLst>
                                </p:cTn>
                              </p:par>
                              <p:par>
                                <p:cTn id="87" presetID="10" presetClass="entr" presetSubtype="0" fill="hold"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fade">
                                      <p:cBhvr>
                                        <p:cTn id="89" dur="300"/>
                                        <p:tgtEl>
                                          <p:spTgt spid="14"/>
                                        </p:tgtEl>
                                      </p:cBhvr>
                                    </p:animEffect>
                                  </p:childTnLst>
                                </p:cTn>
                              </p:par>
                              <p:par>
                                <p:cTn id="91" presetID="10" presetClass="entr" presetSubtype="0" fill="hold" nodeType="withEffect">
                                  <p:stCondLst>
                                    <p:cond delay="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300"/>
                                        <p:tgtEl>
                                          <p:spTgt spid="15"/>
                                        </p:tgtEl>
                                      </p:cBhvr>
                                    </p:animEffect>
                                  </p:childTnLst>
                                </p:cTn>
                              </p:par>
                              <p:par>
                                <p:cTn id="95" presetID="10" presetClass="entr" presetSubtype="0" fill="hold" nodeType="withEffect">
                                  <p:stCondLst>
                                    <p:cond delay="0"/>
                                  </p:stCondLst>
                                  <p:childTnLst>
                                    <p:set>
                                      <p:cBhvr>
                                        <p:cTn id="96" dur="1" fill="hold">
                                          <p:stCondLst>
                                            <p:cond delay="0"/>
                                          </p:stCondLst>
                                        </p:cTn>
                                        <p:tgtEl>
                                          <p:spTgt spid="16"/>
                                        </p:tgtEl>
                                        <p:attrNameLst>
                                          <p:attrName>style.visibility</p:attrName>
                                        </p:attrNameLst>
                                      </p:cBhvr>
                                      <p:to>
                                        <p:strVal val="visible"/>
                                      </p:to>
                                    </p:set>
                                    <p:animEffect transition="in" filter="fade">
                                      <p:cBhvr>
                                        <p:cTn id="97" dur="300"/>
                                        <p:tgtEl>
                                          <p:spTgt spid="16"/>
                                        </p:tgtEl>
                                      </p:cBhvr>
                                    </p:animEffect>
                                  </p:childTnLst>
                                </p:cTn>
                              </p:par>
                              <p:par>
                                <p:cTn id="99" presetID="10" presetClass="entr" presetSubtype="0" fill="hold" nodeType="withEffect">
                                  <p:stCondLst>
                                    <p:cond delay="0"/>
                                  </p:stCondLst>
                                  <p:childTnLst>
                                    <p:set>
                                      <p:cBhvr>
                                        <p:cTn id="100" dur="1" fill="hold">
                                          <p:stCondLst>
                                            <p:cond delay="0"/>
                                          </p:stCondLst>
                                        </p:cTn>
                                        <p:tgtEl>
                                          <p:spTgt spid="17"/>
                                        </p:tgtEl>
                                        <p:attrNameLst>
                                          <p:attrName>style.visibility</p:attrName>
                                        </p:attrNameLst>
                                      </p:cBhvr>
                                      <p:to>
                                        <p:strVal val="visible"/>
                                      </p:to>
                                    </p:set>
                                    <p:animEffect transition="in" filter="fade">
                                      <p:cBhvr>
                                        <p:cTn id="101" dur="300"/>
                                        <p:tgtEl>
                                          <p:spTgt spid="17"/>
                                        </p:tgtEl>
                                      </p:cBhvr>
                                    </p:animEffect>
                                  </p:childTnLst>
                                </p:cTn>
                              </p:par>
                              <p:par>
                                <p:cTn id="103" presetID="10" presetClass="entr" presetSubtype="0" fill="hold" nodeType="withEffect">
                                  <p:stCondLst>
                                    <p:cond delay="0"/>
                                  </p:stCondLst>
                                  <p:childTnLst>
                                    <p:set>
                                      <p:cBhvr>
                                        <p:cTn id="104" dur="1" fill="hold">
                                          <p:stCondLst>
                                            <p:cond delay="0"/>
                                          </p:stCondLst>
                                        </p:cTn>
                                        <p:tgtEl>
                                          <p:spTgt spid="18"/>
                                        </p:tgtEl>
                                        <p:attrNameLst>
                                          <p:attrName>style.visibility</p:attrName>
                                        </p:attrNameLst>
                                      </p:cBhvr>
                                      <p:to>
                                        <p:strVal val="visible"/>
                                      </p:to>
                                    </p:set>
                                    <p:animEffect transition="in" filter="fade">
                                      <p:cBhvr>
                                        <p:cTn id="105" dur="300"/>
                                        <p:tgtEl>
                                          <p:spTgt spid="18"/>
                                        </p:tgtEl>
                                      </p:cBhvr>
                                    </p:animEffect>
                                  </p:childTnLst>
                                </p:cTn>
                              </p:par>
                              <p:par>
                                <p:cTn id="107" presetID="10"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300"/>
                                        <p:tgtEl>
                                          <p:spTgt spid="19"/>
                                        </p:tgtEl>
                                      </p:cBhvr>
                                    </p:animEffect>
                                  </p:childTnLst>
                                </p:cTn>
                              </p:par>
                              <p:par>
                                <p:cTn id="111" presetID="10" presetClass="entr" presetSubtype="0" fill="hold"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300"/>
                                        <p:tgtEl>
                                          <p:spTgt spid="20"/>
                                        </p:tgtEl>
                                      </p:cBhvr>
                                    </p:animEffect>
                                  </p:childTnLst>
                                </p:cTn>
                              </p:par>
                              <p:par>
                                <p:cTn id="115" presetID="10" presetClass="entr" presetSubtype="0" fill="hold" nodeType="withEffect">
                                  <p:stCondLst>
                                    <p:cond delay="0"/>
                                  </p:stCondLst>
                                  <p:childTnLst>
                                    <p:set>
                                      <p:cBhvr>
                                        <p:cTn id="116" dur="1" fill="hold">
                                          <p:stCondLst>
                                            <p:cond delay="0"/>
                                          </p:stCondLst>
                                        </p:cTn>
                                        <p:tgtEl>
                                          <p:spTgt spid="21"/>
                                        </p:tgtEl>
                                        <p:attrNameLst>
                                          <p:attrName>style.visibility</p:attrName>
                                        </p:attrNameLst>
                                      </p:cBhvr>
                                      <p:to>
                                        <p:strVal val="visible"/>
                                      </p:to>
                                    </p:set>
                                    <p:animEffect transition="in" filter="fade">
                                      <p:cBhvr>
                                        <p:cTn id="117" dur="300"/>
                                        <p:tgtEl>
                                          <p:spTgt spid="21"/>
                                        </p:tgtEl>
                                      </p:cBhvr>
                                    </p:animEffect>
                                  </p:childTnLst>
                                </p:cTn>
                              </p:par>
                              <p:par>
                                <p:cTn id="119" presetID="10" presetClass="entr" presetSubtype="0" fill="hold" nodeType="withEffect">
                                  <p:stCondLst>
                                    <p:cond delay="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1" dur="300"/>
                                        <p:tgtEl>
                                          <p:spTgt spid="22"/>
                                        </p:tgtEl>
                                      </p:cBhvr>
                                    </p:animEffect>
                                  </p:childTnLst>
                                </p:cTn>
                              </p:par>
                              <p:par>
                                <p:cTn id="123" presetID="10" presetClass="entr" presetSubtype="0" fill="hold" nodeType="withEffect">
                                  <p:stCondLst>
                                    <p:cond delay="0"/>
                                  </p:stCondLst>
                                  <p:childTnLst>
                                    <p:set>
                                      <p:cBhvr>
                                        <p:cTn id="124" dur="1" fill="hold">
                                          <p:stCondLst>
                                            <p:cond delay="0"/>
                                          </p:stCondLst>
                                        </p:cTn>
                                        <p:tgtEl>
                                          <p:spTgt spid="23"/>
                                        </p:tgtEl>
                                        <p:attrNameLst>
                                          <p:attrName>style.visibility</p:attrName>
                                        </p:attrNameLst>
                                      </p:cBhvr>
                                      <p:to>
                                        <p:strVal val="visible"/>
                                      </p:to>
                                    </p:set>
                                    <p:animEffect transition="in" filter="fade">
                                      <p:cBhvr>
                                        <p:cTn id="125" dur="300"/>
                                        <p:tgtEl>
                                          <p:spTgt spid="23"/>
                                        </p:tgtEl>
                                      </p:cBhvr>
                                    </p:animEffect>
                                  </p:childTnLst>
                                </p:cTn>
                              </p:par>
                              <p:par>
                                <p:cTn id="127" presetID="10" presetClass="entr" presetSubtype="0" fill="hold" nodeType="withEffect">
                                  <p:stCondLst>
                                    <p:cond delay="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300"/>
                                        <p:tgtEl>
                                          <p:spTgt spid="24"/>
                                        </p:tgtEl>
                                      </p:cBhvr>
                                    </p:animEffect>
                                  </p:childTnLst>
                                </p:cTn>
                              </p:par>
                              <p:par>
                                <p:cTn id="131" presetID="10" presetClass="entr" presetSubtype="0" fill="hold" nodeType="withEffect">
                                  <p:stCondLst>
                                    <p:cond delay="0"/>
                                  </p:stCondLst>
                                  <p:childTnLst>
                                    <p:set>
                                      <p:cBhvr>
                                        <p:cTn id="132" dur="1" fill="hold">
                                          <p:stCondLst>
                                            <p:cond delay="0"/>
                                          </p:stCondLst>
                                        </p:cTn>
                                        <p:tgtEl>
                                          <p:spTgt spid="25"/>
                                        </p:tgtEl>
                                        <p:attrNameLst>
                                          <p:attrName>style.visibility</p:attrName>
                                        </p:attrNameLst>
                                      </p:cBhvr>
                                      <p:to>
                                        <p:strVal val="visible"/>
                                      </p:to>
                                    </p:set>
                                    <p:animEffect transition="in" filter="fade">
                                      <p:cBhvr>
                                        <p:cTn id="133" dur="300"/>
                                        <p:tgtEl>
                                          <p:spTgt spid="25"/>
                                        </p:tgtEl>
                                      </p:cBhvr>
                                    </p:animEffect>
                                  </p:childTnLst>
                                </p:cTn>
                              </p:par>
                              <p:par>
                                <p:cTn id="135" presetID="10" presetClass="entr" presetSubtype="0" fill="hold" nodeType="withEffect">
                                  <p:stCondLst>
                                    <p:cond delay="0"/>
                                  </p:stCondLst>
                                  <p:childTnLst>
                                    <p:set>
                                      <p:cBhvr>
                                        <p:cTn id="136" dur="1" fill="hold">
                                          <p:stCondLst>
                                            <p:cond delay="0"/>
                                          </p:stCondLst>
                                        </p:cTn>
                                        <p:tgtEl>
                                          <p:spTgt spid="26"/>
                                        </p:tgtEl>
                                        <p:attrNameLst>
                                          <p:attrName>style.visibility</p:attrName>
                                        </p:attrNameLst>
                                      </p:cBhvr>
                                      <p:to>
                                        <p:strVal val="visible"/>
                                      </p:to>
                                    </p:set>
                                    <p:animEffect transition="in" filter="fade">
                                      <p:cBhvr>
                                        <p:cTn id="137" dur="300"/>
                                        <p:tgtEl>
                                          <p:spTgt spid="26"/>
                                        </p:tgtEl>
                                      </p:cBhvr>
                                    </p:animEffect>
                                  </p:childTnLst>
                                </p:cTn>
                              </p:par>
                              <p:par>
                                <p:cTn id="139" presetID="10" presetClass="entr" presetSubtype="0" fill="hold" nodeType="withEffect">
                                  <p:stCondLst>
                                    <p:cond delay="0"/>
                                  </p:stCondLst>
                                  <p:childTnLst>
                                    <p:set>
                                      <p:cBhvr>
                                        <p:cTn id="140" dur="1" fill="hold">
                                          <p:stCondLst>
                                            <p:cond delay="0"/>
                                          </p:stCondLst>
                                        </p:cTn>
                                        <p:tgtEl>
                                          <p:spTgt spid="27"/>
                                        </p:tgtEl>
                                        <p:attrNameLst>
                                          <p:attrName>style.visibility</p:attrName>
                                        </p:attrNameLst>
                                      </p:cBhvr>
                                      <p:to>
                                        <p:strVal val="visible"/>
                                      </p:to>
                                    </p:set>
                                    <p:animEffect transition="in" filter="fade">
                                      <p:cBhvr>
                                        <p:cTn id="141" dur="300"/>
                                        <p:tgtEl>
                                          <p:spTgt spid="27"/>
                                        </p:tgtEl>
                                      </p:cBhvr>
                                    </p:animEffect>
                                  </p:childTnLst>
                                </p:cTn>
                              </p:par>
                              <p:par>
                                <p:cTn id="143" presetID="10" presetClass="entr" presetSubtype="0" fill="hold"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300"/>
                                        <p:tgtEl>
                                          <p:spTgt spid="28"/>
                                        </p:tgtEl>
                                      </p:cBhvr>
                                    </p:animEffect>
                                  </p:childTnLst>
                                </p:cTn>
                              </p:par>
                              <p:par>
                                <p:cTn id="147" presetID="10" presetClass="entr" presetSubtype="0" fill="hold" nodeType="withEffect">
                                  <p:stCondLst>
                                    <p:cond delay="0"/>
                                  </p:stCondLst>
                                  <p:childTnLst>
                                    <p:set>
                                      <p:cBhvr>
                                        <p:cTn id="148" dur="1" fill="hold">
                                          <p:stCondLst>
                                            <p:cond delay="0"/>
                                          </p:stCondLst>
                                        </p:cTn>
                                        <p:tgtEl>
                                          <p:spTgt spid="29"/>
                                        </p:tgtEl>
                                        <p:attrNameLst>
                                          <p:attrName>style.visibility</p:attrName>
                                        </p:attrNameLst>
                                      </p:cBhvr>
                                      <p:to>
                                        <p:strVal val="visible"/>
                                      </p:to>
                                    </p:set>
                                    <p:animEffect transition="in" filter="fade">
                                      <p:cBhvr>
                                        <p:cTn id="149" dur="300"/>
                                        <p:tgtEl>
                                          <p:spTgt spid="29"/>
                                        </p:tgtEl>
                                      </p:cBhvr>
                                    </p:animEffect>
                                  </p:childTnLst>
                                </p:cTn>
                              </p:par>
                              <p:par>
                                <p:cTn id="151" presetID="10" presetClass="entr" presetSubtype="0" fill="hold" nodeType="withEffect">
                                  <p:stCondLst>
                                    <p:cond delay="0"/>
                                  </p:stCondLst>
                                  <p:childTnLst>
                                    <p:set>
                                      <p:cBhvr>
                                        <p:cTn id="152" dur="1" fill="hold">
                                          <p:stCondLst>
                                            <p:cond delay="0"/>
                                          </p:stCondLst>
                                        </p:cTn>
                                        <p:tgtEl>
                                          <p:spTgt spid="30"/>
                                        </p:tgtEl>
                                        <p:attrNameLst>
                                          <p:attrName>style.visibility</p:attrName>
                                        </p:attrNameLst>
                                      </p:cBhvr>
                                      <p:to>
                                        <p:strVal val="visible"/>
                                      </p:to>
                                    </p:set>
                                    <p:animEffect transition="in" filter="fade">
                                      <p:cBhvr>
                                        <p:cTn id="153" dur="300"/>
                                        <p:tgtEl>
                                          <p:spTgt spid="30"/>
                                        </p:tgtEl>
                                      </p:cBhvr>
                                    </p:animEffect>
                                  </p:childTnLst>
                                </p:cTn>
                              </p:par>
                              <p:par>
                                <p:cTn id="155" presetID="10" presetClass="entr" presetSubtype="0" fill="hold" nodeType="withEffect">
                                  <p:stCondLst>
                                    <p:cond delay="0"/>
                                  </p:stCondLst>
                                  <p:childTnLst>
                                    <p:set>
                                      <p:cBhvr>
                                        <p:cTn id="156" dur="1" fill="hold">
                                          <p:stCondLst>
                                            <p:cond delay="0"/>
                                          </p:stCondLst>
                                        </p:cTn>
                                        <p:tgtEl>
                                          <p:spTgt spid="31"/>
                                        </p:tgtEl>
                                        <p:attrNameLst>
                                          <p:attrName>style.visibility</p:attrName>
                                        </p:attrNameLst>
                                      </p:cBhvr>
                                      <p:to>
                                        <p:strVal val="visible"/>
                                      </p:to>
                                    </p:set>
                                    <p:animEffect transition="in" filter="fade">
                                      <p:cBhvr>
                                        <p:cTn id="157" dur="300"/>
                                        <p:tgtEl>
                                          <p:spTgt spid="31"/>
                                        </p:tgtEl>
                                      </p:cBhvr>
                                    </p:animEffect>
                                  </p:childTnLst>
                                </p:cTn>
                              </p:par>
                              <p:par>
                                <p:cTn id="159" presetID="10" presetClass="entr" presetSubtype="0" fill="hold" nodeType="withEffect">
                                  <p:stCondLst>
                                    <p:cond delay="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300"/>
                                        <p:tgtEl>
                                          <p:spTgt spid="32"/>
                                        </p:tgtEl>
                                      </p:cBhvr>
                                    </p:animEffect>
                                  </p:childTnLst>
                                </p:cTn>
                              </p:par>
                              <p:par>
                                <p:cTn id="163" presetID="10" presetClass="entr" presetSubtype="0" fill="hold" nodeType="withEffect">
                                  <p:stCondLst>
                                    <p:cond delay="0"/>
                                  </p:stCondLst>
                                  <p:childTnLst>
                                    <p:set>
                                      <p:cBhvr>
                                        <p:cTn id="164" dur="1" fill="hold">
                                          <p:stCondLst>
                                            <p:cond delay="0"/>
                                          </p:stCondLst>
                                        </p:cTn>
                                        <p:tgtEl>
                                          <p:spTgt spid="33"/>
                                        </p:tgtEl>
                                        <p:attrNameLst>
                                          <p:attrName>style.visibility</p:attrName>
                                        </p:attrNameLst>
                                      </p:cBhvr>
                                      <p:to>
                                        <p:strVal val="visible"/>
                                      </p:to>
                                    </p:set>
                                    <p:animEffect transition="in" filter="fade">
                                      <p:cBhvr>
                                        <p:cTn id="165" dur="300"/>
                                        <p:tgtEl>
                                          <p:spTgt spid="33"/>
                                        </p:tgtEl>
                                      </p:cBhvr>
                                    </p:animEffect>
                                  </p:childTnLst>
                                </p:cTn>
                              </p:par>
                            </p:childTnLst>
                          </p:cTn>
                        </p:par>
                      </p:childTnLst>
                    </p:cTn>
                  </p:par>
                  <p:par>
                    <p:cTn id="167" fill="hold">
                      <p:stCondLst>
                        <p:cond delay="indefinite"/>
                      </p:stCondLst>
                      <p:childTnLst>
                        <p:par>
                          <p:cTn id="168" fill="hold">
                            <p:stCondLst>
                              <p:cond delay="0"/>
                            </p:stCondLst>
                            <p:childTnLst>
                              <p:par>
                                <p:cTn id="169" presetID="10" presetClass="entr" presetSubtype="0" fill="hold" nodeType="clickEffect">
                                  <p:stCondLst>
                                    <p:cond delay="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300"/>
                                        <p:tgtEl>
                                          <p:spTgt spid="42"/>
                                        </p:tgtEl>
                                      </p:cBhvr>
                                    </p:animEffect>
                                  </p:childTnLst>
                                </p:cTn>
                              </p:par>
                              <p:par>
                                <p:cTn id="173" presetID="10" presetClass="entr" presetSubtype="0" fill="hold" nodeType="withEffect">
                                  <p:stCondLst>
                                    <p:cond delay="0"/>
                                  </p:stCondLst>
                                  <p:childTnLst>
                                    <p:set>
                                      <p:cBhvr>
                                        <p:cTn id="174" dur="1" fill="hold">
                                          <p:stCondLst>
                                            <p:cond delay="0"/>
                                          </p:stCondLst>
                                        </p:cTn>
                                        <p:tgtEl>
                                          <p:spTgt spid="52"/>
                                        </p:tgtEl>
                                        <p:attrNameLst>
                                          <p:attrName>style.visibility</p:attrName>
                                        </p:attrNameLst>
                                      </p:cBhvr>
                                      <p:to>
                                        <p:strVal val="visible"/>
                                      </p:to>
                                    </p:set>
                                    <p:animEffect transition="in" filter="fade">
                                      <p:cBhvr>
                                        <p:cTn id="175" dur="3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Phần 2 — Nhà nước pháp quyền XHCN Việt Nam</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257550" y="5705475"/>
            <a:ext cx="0" cy="6000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57550" y="63055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257550" y="6438900"/>
            <a:ext cx="58054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063038" y="643890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0" y="643890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144000" y="5514975"/>
            <a:ext cx="0" cy="108585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030450" y="6324600"/>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030450" y="6381750"/>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9224962" y="6438900"/>
            <a:ext cx="58054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144000" y="643890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44000" y="643890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5030450" y="4343400"/>
            <a:ext cx="0" cy="5715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66750" y="3276600"/>
            <a:ext cx="518160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Điểm CHUNG</a:t>
            </a:r>
            <a:r>
              <a:rPr sz="2137" b="0" i="0">
                <a:solidFill>
                  <a:srgbClr val="2B2622"/>
                </a:solidFill>
                <a:latin typeface="Arial"/>
              </a:rPr>
              <a:t> với nhà nước pháp quyền nói chung: thượng tôn pháp luật, pháp luật nghiêm minh, phân công – phối hợp – kiểm soát quyền lực, tất cả vì phục vụ nhân dân</a:t>
            </a:r>
          </a:p>
        </p:txBody>
      </p:sp>
      <p:sp>
        <p:nvSpPr>
          <p:cNvPr id="22" name="Rounded Rectangle 21"/>
          <p:cNvSpPr/>
          <p:nvPr/>
        </p:nvSpPr>
        <p:spPr>
          <a:xfrm>
            <a:off x="6553200" y="3657600"/>
            <a:ext cx="51816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Điểm KHÁC thứ nhất:</a:t>
            </a:r>
            <a:r>
              <a:rPr sz="2137" b="0" i="0">
                <a:solidFill>
                  <a:srgbClr val="2B2622"/>
                </a:solidFill>
                <a:latin typeface="Arial"/>
              </a:rPr>
              <a:t> Nhà nước mang BẢN CHẤT GIAI CẤP CÔNG NHÂN, phục vụ lợi ích của nhân dân</a:t>
            </a:r>
          </a:p>
        </p:txBody>
      </p:sp>
      <p:sp>
        <p:nvSpPr>
          <p:cNvPr id="23" name="Rounded Rectangle 22"/>
          <p:cNvSpPr/>
          <p:nvPr/>
        </p:nvSpPr>
        <p:spPr>
          <a:xfrm>
            <a:off x="12439650" y="2847975"/>
            <a:ext cx="5181600"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Đặc điểm 4 (Đảng Cộng sản Việt Nam lãnh đạo) không có cặp trong quan niệm chung</a:t>
            </a:r>
          </a:p>
        </p:txBody>
      </p:sp>
      <p:sp>
        <p:nvSpPr>
          <p:cNvPr id="24" name="Rounded Rectangle 23"/>
          <p:cNvSpPr/>
          <p:nvPr/>
        </p:nvSpPr>
        <p:spPr>
          <a:xfrm>
            <a:off x="12439650" y="4467225"/>
            <a:ext cx="51816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Điểm KHÁC thứ hai:</a:t>
            </a:r>
            <a:r>
              <a:rPr sz="2137" b="0" i="0">
                <a:solidFill>
                  <a:srgbClr val="2B2622"/>
                </a:solidFill>
                <a:latin typeface="Arial"/>
              </a:rPr>
              <a:t> Nhà nước là công cụ chủ yếu để Đảng Cộng sản Việt Nam định hướng đi lên chủ nghĩa xã hội</a:t>
            </a:r>
          </a:p>
        </p:txBody>
      </p:sp>
      <p:sp>
        <p:nvSpPr>
          <p:cNvPr id="25" name="Rounded Rectangle 24"/>
          <p:cNvSpPr/>
          <p:nvPr/>
        </p:nvSpPr>
        <p:spPr>
          <a:xfrm>
            <a:off x="666750" y="6667500"/>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Vừa thể hiện tinh thần chung của nhà nước pháp quyền, vừa có sự khác biệt</a:t>
            </a:r>
          </a:p>
        </p:txBody>
      </p:sp>
      <p:sp>
        <p:nvSpPr>
          <p:cNvPr id="26" name="Rounded Rectangle 25"/>
          <p:cNvSpPr/>
          <p:nvPr/>
        </p:nvSpPr>
        <p:spPr>
          <a:xfrm>
            <a:off x="666750" y="6667500"/>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300"/>
                                        <p:tgtEl>
                                          <p:spTgt spid="21"/>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3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300"/>
                                        <p:tgtEl>
                                          <p:spTgt spid="22"/>
                                        </p:tgtEl>
                                      </p:cBhvr>
                                    </p:animEffect>
                                  </p:childTnLst>
                                </p:cTn>
                              </p:par>
                              <p:par>
                                <p:cTn id="41" presetID="10"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300"/>
                                        <p:tgtEl>
                                          <p:spTgt spid="24"/>
                                        </p:tgtEl>
                                      </p:cBhvr>
                                    </p:animEffect>
                                  </p:childTnLst>
                                </p:cTn>
                              </p:par>
                              <p:par>
                                <p:cTn id="51" presetID="10"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300"/>
                                        <p:tgtEl>
                                          <p:spTgt spid="15"/>
                                        </p:tgtEl>
                                      </p:cBhvr>
                                    </p:animEffect>
                                  </p:childTnLst>
                                </p:cTn>
                              </p:par>
                              <p:par>
                                <p:cTn id="55" presetID="10" presetClass="entr" presetSubtype="0" fill="hold"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300"/>
                                        <p:tgtEl>
                                          <p:spTgt spid="16"/>
                                        </p:tgtEl>
                                      </p:cBhvr>
                                    </p:animEffect>
                                  </p:childTnLst>
                                </p:cTn>
                              </p:par>
                              <p:par>
                                <p:cTn id="59" presetID="10" presetClass="entr" presetSubtype="0" fill="hold"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300"/>
                                        <p:tgtEl>
                                          <p:spTgt spid="17"/>
                                        </p:tgtEl>
                                      </p:cBhvr>
                                    </p:animEffect>
                                  </p:childTnLst>
                                </p:cTn>
                              </p:par>
                              <p:par>
                                <p:cTn id="63" presetID="10"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300"/>
                                        <p:tgtEl>
                                          <p:spTgt spid="18"/>
                                        </p:tgtEl>
                                      </p:cBhvr>
                                    </p:animEffect>
                                  </p:childTnLst>
                                </p:cTn>
                              </p:par>
                              <p:par>
                                <p:cTn id="67" presetID="10" presetClass="entr" presetSubtype="0" fill="hold"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300"/>
                                        <p:tgtEl>
                                          <p:spTgt spid="19"/>
                                        </p:tgtEl>
                                      </p:cBhvr>
                                    </p:animEffect>
                                  </p:childTnLst>
                                </p:cTn>
                              </p:par>
                              <p:par>
                                <p:cTn id="71" presetID="10"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00"/>
                                        <p:tgtEl>
                                          <p:spTgt spid="2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300"/>
                                        <p:tgtEl>
                                          <p:spTgt spid="25"/>
                                        </p:tgtEl>
                                      </p:cBhvr>
                                    </p:animEffect>
                                  </p:childTnLst>
                                </p:cTn>
                              </p:par>
                              <p:par>
                                <p:cTn id="81" presetID="1" presetClass="exit" presetSubtype="0" fill="hold" nodeType="withEffect">
                                  <p:stCondLst>
                                    <p:cond delay="0"/>
                                  </p:stCondLst>
                                  <p:childTnLst>
                                    <p:set>
                                      <p:cBhvr>
                                        <p:cTn id="82"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a) Phát huy dân chủ — Một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5886450" y="39862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76950" y="39862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10300" y="3986212"/>
            <a:ext cx="0" cy="19002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210300" y="58864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10300"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86450"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76950"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10300" y="5400675"/>
            <a:ext cx="0" cy="485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210300" y="58864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210300"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86450" y="68151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76950" y="68151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210300" y="6153150"/>
            <a:ext cx="0" cy="6619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210300" y="601980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10300"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211050" y="45958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2077700" y="45958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077700" y="4595812"/>
            <a:ext cx="0" cy="12906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077700" y="58864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801475"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170569" y="6205538"/>
            <a:ext cx="230981"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2077700" y="6205538"/>
            <a:ext cx="92869"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2077700" y="6112669"/>
            <a:ext cx="0" cy="92869"/>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2077700" y="6019800"/>
            <a:ext cx="0" cy="92869"/>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801475"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4819650"/>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66750" y="3267075"/>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Đa dạng hình thức sở hữu, thành phần kinh tế, loại hình doanh nghiệp; bảo hộ quyền chủ sở hữu</a:t>
            </a:r>
          </a:p>
        </p:txBody>
      </p:sp>
      <p:sp>
        <p:nvSpPr>
          <p:cNvPr id="36" name="Rounded Rectangle 35"/>
          <p:cNvSpPr/>
          <p:nvPr/>
        </p:nvSpPr>
        <p:spPr>
          <a:xfrm>
            <a:off x="666750" y="48768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Luật về tài sản mới: sở hữu trí tuệ, cổ phiếu, trái phiếu…</a:t>
            </a:r>
          </a:p>
        </p:txBody>
      </p:sp>
      <p:sp>
        <p:nvSpPr>
          <p:cNvPr id="37" name="Rounded Rectangle 36"/>
          <p:cNvSpPr/>
          <p:nvPr/>
        </p:nvSpPr>
        <p:spPr>
          <a:xfrm>
            <a:off x="666750" y="6096000"/>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Thể chế đồng bộ 3 khâu: ban hành → vận hành, thực thi → giám sát, xử lý vi phạm</a:t>
            </a:r>
          </a:p>
        </p:txBody>
      </p:sp>
      <p:sp>
        <p:nvSpPr>
          <p:cNvPr id="38" name="Rounded Rectangle 37"/>
          <p:cNvSpPr/>
          <p:nvPr/>
        </p:nvSpPr>
        <p:spPr>
          <a:xfrm>
            <a:off x="6553200" y="3714750"/>
            <a:ext cx="518160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Trở ngại: nền kinh tế kém phát triển</a:t>
            </a:r>
          </a:p>
        </p:txBody>
      </p:sp>
      <p:sp>
        <p:nvSpPr>
          <p:cNvPr id="39" name="Rounded Rectangle 38"/>
          <p:cNvSpPr/>
          <p:nvPr/>
        </p:nvSpPr>
        <p:spPr>
          <a:xfrm>
            <a:off x="6553200" y="4953000"/>
            <a:ext cx="518160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Hoàn thiện thể chế kinh tế thị trường định hướng XHCN → CƠ SỞ KINH TẾ VỮNG CHẮC cho dân chủ</a:t>
            </a:r>
          </a:p>
        </p:txBody>
      </p:sp>
      <p:sp>
        <p:nvSpPr>
          <p:cNvPr id="40" name="Rounded Rectangle 39"/>
          <p:cNvSpPr/>
          <p:nvPr/>
        </p:nvSpPr>
        <p:spPr>
          <a:xfrm>
            <a:off x="6553200" y="4953000"/>
            <a:ext cx="518160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1" name="Rounded Rectangle 40"/>
          <p:cNvSpPr/>
          <p:nvPr/>
        </p:nvSpPr>
        <p:spPr>
          <a:xfrm>
            <a:off x="12439650" y="3876675"/>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Cải cách hành chính: từ bộ máy đến thủ tục → cải thiện môi trường kinh doanh</a:t>
            </a:r>
          </a:p>
        </p:txBody>
      </p:sp>
      <p:sp>
        <p:nvSpPr>
          <p:cNvPr id="42" name="Rounded Rectangle 41"/>
          <p:cNvSpPr/>
          <p:nvPr/>
        </p:nvSpPr>
        <p:spPr>
          <a:xfrm>
            <a:off x="12439650" y="5486400"/>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Phát triển đồng bộ các yếu tố thị trường; hoàn thiện pháp luật kinh doanh phù hợp Việt Nam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300"/>
                                        <p:tgtEl>
                                          <p:spTgt spid="35"/>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6"/>
                                        </p:tgtEl>
                                        <p:attrNameLst>
                                          <p:attrName>style.visibility</p:attrName>
                                        </p:attrNameLst>
                                      </p:cBhvr>
                                      <p:to>
                                        <p:strVal val="visible"/>
                                      </p:to>
                                    </p:set>
                                    <p:animEffect transition="in" filter="fade">
                                      <p:cBhvr>
                                        <p:cTn id="33" dur="300"/>
                                        <p:tgtEl>
                                          <p:spTgt spid="36"/>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300"/>
                                        <p:tgtEl>
                                          <p:spTgt spid="37"/>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1"/>
                                        </p:tgtEl>
                                        <p:attrNameLst>
                                          <p:attrName>style.visibility</p:attrName>
                                        </p:attrNameLst>
                                      </p:cBhvr>
                                      <p:to>
                                        <p:strVal val="visible"/>
                                      </p:to>
                                    </p:set>
                                    <p:animEffect transition="in" filter="fade">
                                      <p:cBhvr>
                                        <p:cTn id="85" dur="300"/>
                                        <p:tgtEl>
                                          <p:spTgt spid="41"/>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par>
                                <p:cTn id="91" presetID="10" presetClass="entr" presetSubtype="0" fill="hold"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300"/>
                                        <p:tgtEl>
                                          <p:spTgt spid="25"/>
                                        </p:tgtEl>
                                      </p:cBhvr>
                                    </p:animEffect>
                                  </p:childTnLst>
                                </p:cTn>
                              </p:par>
                              <p:par>
                                <p:cTn id="95" presetID="10" presetClass="entr" presetSubtype="0" fill="hold" nodeType="withEffect">
                                  <p:stCondLst>
                                    <p:cond delay="0"/>
                                  </p:stCondLst>
                                  <p:childTnLst>
                                    <p:set>
                                      <p:cBhvr>
                                        <p:cTn id="96" dur="1" fill="hold">
                                          <p:stCondLst>
                                            <p:cond delay="0"/>
                                          </p:stCondLst>
                                        </p:cTn>
                                        <p:tgtEl>
                                          <p:spTgt spid="26"/>
                                        </p:tgtEl>
                                        <p:attrNameLst>
                                          <p:attrName>style.visibility</p:attrName>
                                        </p:attrNameLst>
                                      </p:cBhvr>
                                      <p:to>
                                        <p:strVal val="visible"/>
                                      </p:to>
                                    </p:set>
                                    <p:animEffect transition="in" filter="fade">
                                      <p:cBhvr>
                                        <p:cTn id="97" dur="300"/>
                                        <p:tgtEl>
                                          <p:spTgt spid="26"/>
                                        </p:tgtEl>
                                      </p:cBhvr>
                                    </p:animEffect>
                                  </p:childTnLst>
                                </p:cTn>
                              </p:par>
                              <p:par>
                                <p:cTn id="99" presetID="10" presetClass="entr" presetSubtype="0" fill="hold" nodeType="withEffect">
                                  <p:stCondLst>
                                    <p:cond delay="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300"/>
                                        <p:tgtEl>
                                          <p:spTgt spid="27"/>
                                        </p:tgtEl>
                                      </p:cBhvr>
                                    </p:animEffect>
                                  </p:childTnLst>
                                </p:cTn>
                              </p:par>
                              <p:par>
                                <p:cTn id="103" presetID="10" presetClass="entr" presetSubtype="0" fill="hold" nodeType="withEffect">
                                  <p:stCondLst>
                                    <p:cond delay="0"/>
                                  </p:stCondLst>
                                  <p:childTnLst>
                                    <p:set>
                                      <p:cBhvr>
                                        <p:cTn id="104" dur="1" fill="hold">
                                          <p:stCondLst>
                                            <p:cond delay="0"/>
                                          </p:stCondLst>
                                        </p:cTn>
                                        <p:tgtEl>
                                          <p:spTgt spid="28"/>
                                        </p:tgtEl>
                                        <p:attrNameLst>
                                          <p:attrName>style.visibility</p:attrName>
                                        </p:attrNameLst>
                                      </p:cBhvr>
                                      <p:to>
                                        <p:strVal val="visible"/>
                                      </p:to>
                                    </p:set>
                                    <p:animEffect transition="in" filter="fade">
                                      <p:cBhvr>
                                        <p:cTn id="105" dur="300"/>
                                        <p:tgtEl>
                                          <p:spTgt spid="28"/>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300"/>
                                        <p:tgtEl>
                                          <p:spTgt spid="42"/>
                                        </p:tgtEl>
                                      </p:cBhvr>
                                    </p:animEffect>
                                  </p:childTnLst>
                                </p:cTn>
                              </p:par>
                              <p:par>
                                <p:cTn id="113" presetID="10" presetClass="entr" presetSubtype="0" fill="hold"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300"/>
                                        <p:tgtEl>
                                          <p:spTgt spid="29"/>
                                        </p:tgtEl>
                                      </p:cBhvr>
                                    </p:animEffect>
                                  </p:childTnLst>
                                </p:cTn>
                              </p:par>
                              <p:par>
                                <p:cTn id="117" presetID="10" presetClass="entr" presetSubtype="0" fill="hold" nodeType="withEffect">
                                  <p:stCondLst>
                                    <p:cond delay="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300"/>
                                        <p:tgtEl>
                                          <p:spTgt spid="30"/>
                                        </p:tgtEl>
                                      </p:cBhvr>
                                    </p:animEffect>
                                  </p:childTnLst>
                                </p:cTn>
                              </p:par>
                              <p:par>
                                <p:cTn id="121" presetID="10" presetClass="entr" presetSubtype="0" fill="hold" nodeType="withEffect">
                                  <p:stCondLst>
                                    <p:cond delay="0"/>
                                  </p:stCondLst>
                                  <p:childTnLst>
                                    <p:set>
                                      <p:cBhvr>
                                        <p:cTn id="122" dur="1" fill="hold">
                                          <p:stCondLst>
                                            <p:cond delay="0"/>
                                          </p:stCondLst>
                                        </p:cTn>
                                        <p:tgtEl>
                                          <p:spTgt spid="31"/>
                                        </p:tgtEl>
                                        <p:attrNameLst>
                                          <p:attrName>style.visibility</p:attrName>
                                        </p:attrNameLst>
                                      </p:cBhvr>
                                      <p:to>
                                        <p:strVal val="visible"/>
                                      </p:to>
                                    </p:set>
                                    <p:animEffect transition="in" filter="fade">
                                      <p:cBhvr>
                                        <p:cTn id="123" dur="300"/>
                                        <p:tgtEl>
                                          <p:spTgt spid="31"/>
                                        </p:tgtEl>
                                      </p:cBhvr>
                                    </p:animEffect>
                                  </p:childTnLst>
                                </p:cTn>
                              </p:par>
                              <p:par>
                                <p:cTn id="125" presetID="10" presetClass="entr" presetSubtype="0" fill="hold" nodeType="withEffect">
                                  <p:stCondLst>
                                    <p:cond delay="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300"/>
                                        <p:tgtEl>
                                          <p:spTgt spid="32"/>
                                        </p:tgtEl>
                                      </p:cBhvr>
                                    </p:animEffect>
                                  </p:childTnLst>
                                </p:cTn>
                              </p:par>
                              <p:par>
                                <p:cTn id="129" presetID="10" presetClass="entr" presetSubtype="0" fill="hold" nodeType="withEffect">
                                  <p:stCondLst>
                                    <p:cond delay="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31" dur="300"/>
                                        <p:tgtEl>
                                          <p:spTgt spid="3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300"/>
                                        <p:tgtEl>
                                          <p:spTgt spid="38"/>
                                        </p:tgtEl>
                                      </p:cBhvr>
                                    </p:animEffect>
                                  </p:childTnLst>
                                </p:cTn>
                              </p:par>
                              <p:par>
                                <p:cTn id="139" presetID="10" presetClass="entr" presetSubtype="0" fill="hold" nodeType="withEffect">
                                  <p:stCondLst>
                                    <p:cond delay="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300"/>
                                        <p:tgtEl>
                                          <p:spTgt spid="34"/>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39"/>
                                        </p:tgtEl>
                                        <p:attrNameLst>
                                          <p:attrName>style.visibility</p:attrName>
                                        </p:attrNameLst>
                                      </p:cBhvr>
                                      <p:to>
                                        <p:strVal val="visible"/>
                                      </p:to>
                                    </p:set>
                                    <p:animEffect transition="in" filter="fade">
                                      <p:cBhvr>
                                        <p:cTn id="147" dur="300"/>
                                        <p:tgtEl>
                                          <p:spTgt spid="39"/>
                                        </p:tgtEl>
                                      </p:cBhvr>
                                    </p:animEffect>
                                  </p:childTnLst>
                                </p:cTn>
                              </p:par>
                              <p:par>
                                <p:cTn id="149" presetID="1" presetClass="exit" presetSubtype="0" fill="hold" nodeType="withEffect">
                                  <p:stCondLst>
                                    <p:cond delay="0"/>
                                  </p:stCondLst>
                                  <p:childTnLst>
                                    <p:set>
                                      <p:cBhvr>
                                        <p:cTn id="150" dur="1" fill="hold">
                                          <p:stCondLst>
                                            <p:cond delay="0"/>
                                          </p:stCondLst>
                                        </p:cTn>
                                        <p:tgtEl>
                                          <p:spTgt spid="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a) Phát huy dân chủ — Hai là, Ba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13258800" y="3924300"/>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258800" y="6657975"/>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66750" y="3009900"/>
            <a:ext cx="39052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Vững mạnh chính trị, tư tưởng, tổ chức; tự đổi mới, tự chỉnh đốn</a:t>
            </a:r>
          </a:p>
        </p:txBody>
      </p:sp>
      <p:sp>
        <p:nvSpPr>
          <p:cNvPr id="12" name="Rounded Rectangle 11"/>
          <p:cNvSpPr/>
          <p:nvPr/>
        </p:nvSpPr>
        <p:spPr>
          <a:xfrm>
            <a:off x="4991100" y="3009900"/>
            <a:ext cx="39052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trí tuệ, bản lĩnh chính trị, phẩm chất đạo đức, năng lực lãnh đạo</a:t>
            </a:r>
          </a:p>
        </p:txBody>
      </p:sp>
      <p:sp>
        <p:nvSpPr>
          <p:cNvPr id="13" name="Rounded Rectangle 12"/>
          <p:cNvSpPr/>
          <p:nvPr/>
        </p:nvSpPr>
        <p:spPr>
          <a:xfrm>
            <a:off x="9315450" y="3009900"/>
            <a:ext cx="39052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Dân chủ hóa sinh hoạt; tập trung dân chủ; tự phê bình và phê bình</a:t>
            </a:r>
          </a:p>
        </p:txBody>
      </p:sp>
      <p:sp>
        <p:nvSpPr>
          <p:cNvPr id="14" name="Rounded Rectangle 13"/>
          <p:cNvSpPr/>
          <p:nvPr/>
        </p:nvSpPr>
        <p:spPr>
          <a:xfrm>
            <a:off x="13925550" y="2857500"/>
            <a:ext cx="369570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Hai là: Đảng trong sạch, vững mạnh = ĐIỀU KIỆN TIÊN QUYẾT</a:t>
            </a:r>
          </a:p>
        </p:txBody>
      </p:sp>
      <p:sp>
        <p:nvSpPr>
          <p:cNvPr id="15" name="Rounded Rectangle 14"/>
          <p:cNvSpPr/>
          <p:nvPr/>
        </p:nvSpPr>
        <p:spPr>
          <a:xfrm>
            <a:off x="13925550" y="2857500"/>
            <a:ext cx="369570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16" name="Rounded Rectangle 15"/>
          <p:cNvSpPr/>
          <p:nvPr/>
        </p:nvSpPr>
        <p:spPr>
          <a:xfrm>
            <a:off x="666750" y="5362575"/>
            <a:ext cx="390525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Thực thi quyền dân chủ trên mọi lĩnh vực, bằng Hiến pháp, pháp luật</a:t>
            </a:r>
          </a:p>
        </p:txBody>
      </p:sp>
      <p:sp>
        <p:nvSpPr>
          <p:cNvPr id="17" name="Rounded Rectangle 16"/>
          <p:cNvSpPr/>
          <p:nvPr/>
        </p:nvSpPr>
        <p:spPr>
          <a:xfrm>
            <a:off x="4991100" y="5362575"/>
            <a:ext cx="390525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con người là GIÁ TRỊ CAO NHẤT</a:t>
            </a:r>
          </a:p>
        </p:txBody>
      </p:sp>
      <p:sp>
        <p:nvSpPr>
          <p:cNvPr id="18" name="Rounded Rectangle 17"/>
          <p:cNvSpPr/>
          <p:nvPr/>
        </p:nvSpPr>
        <p:spPr>
          <a:xfrm>
            <a:off x="9315450" y="5362575"/>
            <a:ext cx="390525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Chính sách, pháp luật dựa vào ý chí, nguyện vọng nhân dân; bảo đảm danh dự, nhân phẩm bằng pháp luật và trên thực tế</a:t>
            </a:r>
          </a:p>
        </p:txBody>
      </p:sp>
      <p:sp>
        <p:nvSpPr>
          <p:cNvPr id="19" name="Rounded Rectangle 18"/>
          <p:cNvSpPr/>
          <p:nvPr/>
        </p:nvSpPr>
        <p:spPr>
          <a:xfrm>
            <a:off x="13925550" y="5391150"/>
            <a:ext cx="3695700"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Ba là: Nhà nước pháp quyền vững mạnh = ĐIỀU KIỆN ĐỂ THỰC THI dân chủ</a:t>
            </a:r>
          </a:p>
        </p:txBody>
      </p:sp>
      <p:sp>
        <p:nvSpPr>
          <p:cNvPr id="20" name="Rounded Rectangle 19"/>
          <p:cNvSpPr/>
          <p:nvPr/>
        </p:nvSpPr>
        <p:spPr>
          <a:xfrm>
            <a:off x="13925550" y="5391150"/>
            <a:ext cx="3695700"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3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00"/>
                                        <p:tgtEl>
                                          <p:spTgt spid="14"/>
                                        </p:tgtEl>
                                      </p:cBhvr>
                                    </p:animEffect>
                                  </p:childTnLst>
                                </p:cTn>
                              </p:par>
                              <p:par>
                                <p:cTn id="31" presetID="1" presetClass="exit" presetSubtype="0" fill="hold" nodeType="withEffect">
                                  <p:stCondLst>
                                    <p:cond delay="0"/>
                                  </p:stCondLst>
                                  <p:childTnLst>
                                    <p:set>
                                      <p:cBhvr>
                                        <p:cTn id="32" dur="1" fill="hold">
                                          <p:stCondLst>
                                            <p:cond delay="0"/>
                                          </p:stCondLst>
                                        </p:cTn>
                                        <p:tgtEl>
                                          <p:spTgt spid="15"/>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300"/>
                                        <p:tgtEl>
                                          <p:spTgt spid="16"/>
                                        </p:tgtEl>
                                      </p:cBhvr>
                                    </p:animEffect>
                                  </p:childTnLst>
                                </p:cTn>
                              </p:par>
                              <p:par>
                                <p:cTn id="40" presetID="10" presetClass="entr" presetSubtype="0"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3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300"/>
                                        <p:tgtEl>
                                          <p:spTgt spid="1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300"/>
                                        <p:tgtEl>
                                          <p:spTgt spid="1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300"/>
                                        <p:tgtEl>
                                          <p:spTgt spid="19"/>
                                        </p:tgtEl>
                                      </p:cBhvr>
                                    </p:animEffect>
                                  </p:childTnLst>
                                </p:cTn>
                              </p:par>
                              <p:par>
                                <p:cTn id="62" presetID="1" presetClass="exit" presetSubtype="0" fill="hold" nodeType="withEffect">
                                  <p:stCondLst>
                                    <p:cond delay="0"/>
                                  </p:stCondLst>
                                  <p:childTnLst>
                                    <p:set>
                                      <p:cBhvr>
                                        <p:cTn id="63"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a) Phát huy dân chủ — Bốn là, Năm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11877675" y="3133725"/>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2896850" y="69294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087350" y="69294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220700" y="6929438"/>
            <a:ext cx="0" cy="6810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220700" y="76104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220700" y="7743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4514850" y="7939088"/>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597188" y="6343650"/>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6750" y="1790700"/>
            <a:ext cx="5372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Đổi mới mạnh mẽ phương thức hoạt động</a:t>
            </a:r>
          </a:p>
        </p:txBody>
      </p:sp>
      <p:sp>
        <p:nvSpPr>
          <p:cNvPr id="18" name="Rounded Rectangle 17"/>
          <p:cNvSpPr/>
          <p:nvPr/>
        </p:nvSpPr>
        <p:spPr>
          <a:xfrm>
            <a:off x="6457950" y="1790700"/>
            <a:ext cx="5372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Giám sát, phản biện đường lối, chính sách, pháp luật</a:t>
            </a:r>
          </a:p>
        </p:txBody>
      </p:sp>
      <p:sp>
        <p:nvSpPr>
          <p:cNvPr id="19" name="Rounded Rectangle 18"/>
          <p:cNvSpPr/>
          <p:nvPr/>
        </p:nvSpPr>
        <p:spPr>
          <a:xfrm>
            <a:off x="666750" y="3028950"/>
            <a:ext cx="5372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Khối đoàn kết toàn dân; chăm lo đời sống nhân dân</a:t>
            </a:r>
          </a:p>
        </p:txBody>
      </p:sp>
      <p:sp>
        <p:nvSpPr>
          <p:cNvPr id="20" name="Rounded Rectangle 19"/>
          <p:cNvSpPr/>
          <p:nvPr/>
        </p:nvSpPr>
        <p:spPr>
          <a:xfrm>
            <a:off x="6457950" y="3028950"/>
            <a:ext cx="5372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Bảo vệ chính quyền, xây dựng Đảng, bảo vệ quyền lợi chính đáng của nhân dân</a:t>
            </a:r>
          </a:p>
        </p:txBody>
      </p:sp>
      <p:sp>
        <p:nvSpPr>
          <p:cNvPr id="21" name="Rounded Rectangle 20"/>
          <p:cNvSpPr/>
          <p:nvPr/>
        </p:nvSpPr>
        <p:spPr>
          <a:xfrm>
            <a:off x="12544425" y="2476500"/>
            <a:ext cx="5076825" cy="1314450"/>
          </a:xfrm>
          <a:prstGeom prst="roundRect">
            <a:avLst>
              <a:gd name="adj" fmla="val 17391"/>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Bốn là: NÂNG CAO VAI TRÒ tổ chức chính trị – xã hội</a:t>
            </a:r>
          </a:p>
        </p:txBody>
      </p:sp>
      <p:sp>
        <p:nvSpPr>
          <p:cNvPr id="22" name="Rounded Rectangle 21"/>
          <p:cNvSpPr/>
          <p:nvPr/>
        </p:nvSpPr>
        <p:spPr>
          <a:xfrm>
            <a:off x="12544425" y="2476500"/>
            <a:ext cx="5076825" cy="1314450"/>
          </a:xfrm>
          <a:prstGeom prst="roundRect">
            <a:avLst>
              <a:gd name="adj" fmla="val 17391"/>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23" name="Rounded Rectangle 22"/>
          <p:cNvSpPr/>
          <p:nvPr/>
        </p:nvSpPr>
        <p:spPr>
          <a:xfrm>
            <a:off x="666750" y="5010150"/>
            <a:ext cx="37814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Giám sát, phản biện ảnh hưởng tới đời sống tâm lý nhân dân khi đánh giá chủ trương, chính sách</a:t>
            </a:r>
          </a:p>
        </p:txBody>
      </p:sp>
      <p:sp>
        <p:nvSpPr>
          <p:cNvPr id="24" name="Rounded Rectangle 23"/>
          <p:cNvSpPr/>
          <p:nvPr/>
        </p:nvSpPr>
        <p:spPr>
          <a:xfrm>
            <a:off x="4867275" y="5010150"/>
            <a:ext cx="37814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Công khai hóa · minh bạch hóa · dân chủ hóa thông tin</a:t>
            </a:r>
          </a:p>
        </p:txBody>
      </p:sp>
      <p:sp>
        <p:nvSpPr>
          <p:cNvPr id="25" name="Rounded Rectangle 24"/>
          <p:cNvSpPr/>
          <p:nvPr/>
        </p:nvSpPr>
        <p:spPr>
          <a:xfrm>
            <a:off x="9067800" y="5010150"/>
            <a:ext cx="37814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Cụ thể hóa quy chế tôn trọng, lắng nghe ý kiến nhân dân</a:t>
            </a:r>
          </a:p>
        </p:txBody>
      </p:sp>
      <p:sp>
        <p:nvSpPr>
          <p:cNvPr id="26" name="Rounded Rectangle 25"/>
          <p:cNvSpPr/>
          <p:nvPr/>
        </p:nvSpPr>
        <p:spPr>
          <a:xfrm>
            <a:off x="666750" y="7400925"/>
            <a:ext cx="3781425" cy="1457325"/>
          </a:xfrm>
          <a:prstGeom prst="roundRect">
            <a:avLst>
              <a:gd name="adj" fmla="val 7843"/>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a:t>
            </a:r>
            <a:r>
              <a:rPr sz="2137" b="1" i="0">
                <a:solidFill>
                  <a:srgbClr val="8C2F2B"/>
                </a:solidFill>
                <a:latin typeface="Arial"/>
              </a:rPr>
              <a:t>DÂN TRÍ</a:t>
            </a:r>
            <a:r>
              <a:rPr sz="2137" b="0" i="0">
                <a:solidFill>
                  <a:srgbClr val="2B2622"/>
                </a:solidFill>
                <a:latin typeface="Arial"/>
              </a:rPr>
              <a:t>, văn hóa pháp luật cho toàn xã hội</a:t>
            </a:r>
          </a:p>
        </p:txBody>
      </p:sp>
      <p:sp>
        <p:nvSpPr>
          <p:cNvPr id="27" name="Rounded Rectangle 26"/>
          <p:cNvSpPr/>
          <p:nvPr/>
        </p:nvSpPr>
        <p:spPr>
          <a:xfrm>
            <a:off x="4867275" y="7400925"/>
            <a:ext cx="3781425"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dân trí </a:t>
            </a:r>
            <a:r>
              <a:rPr sz="2137" b="1" i="0">
                <a:solidFill>
                  <a:srgbClr val="1F3A5F"/>
                </a:solidFill>
                <a:latin typeface="Arial"/>
              </a:rPr>
              <a:t>CHƯA</a:t>
            </a:r>
            <a:r>
              <a:rPr sz="2137" b="0" i="0">
                <a:solidFill>
                  <a:srgbClr val="1F3A5F"/>
                </a:solidFill>
                <a:latin typeface="Arial"/>
              </a:rPr>
              <a:t> được đặt đúng vị trí</a:t>
            </a:r>
          </a:p>
        </p:txBody>
      </p:sp>
      <p:sp>
        <p:nvSpPr>
          <p:cNvPr id="28" name="Rounded Rectangle 27"/>
          <p:cNvSpPr/>
          <p:nvPr/>
        </p:nvSpPr>
        <p:spPr>
          <a:xfrm>
            <a:off x="13563600" y="4848225"/>
            <a:ext cx="4067175"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Phương châm: dân biết, dân bàn, dân làm, dân kiểm tra</a:t>
            </a:r>
          </a:p>
        </p:txBody>
      </p:sp>
      <p:sp>
        <p:nvSpPr>
          <p:cNvPr id="29" name="Rounded Rectangle 28"/>
          <p:cNvSpPr/>
          <p:nvPr/>
        </p:nvSpPr>
        <p:spPr>
          <a:xfrm>
            <a:off x="13563600" y="6477000"/>
            <a:ext cx="4067175"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Năm là: hệ thống giám sát, phản biện xã hội → ĐỂ PHÁT HUY QUYỀN LÀM CHỦ của nhân dân</a:t>
            </a:r>
          </a:p>
        </p:txBody>
      </p:sp>
      <p:sp>
        <p:nvSpPr>
          <p:cNvPr id="30" name="Rounded Rectangle 29"/>
          <p:cNvSpPr/>
          <p:nvPr/>
        </p:nvSpPr>
        <p:spPr>
          <a:xfrm>
            <a:off x="13563600" y="6477000"/>
            <a:ext cx="4067175"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00"/>
                                        <p:tgtEl>
                                          <p:spTgt spid="17"/>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3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00"/>
                                        <p:tgtEl>
                                          <p:spTgt spid="1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00"/>
                                        <p:tgtEl>
                                          <p:spTgt spid="2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300"/>
                                        <p:tgtEl>
                                          <p:spTgt spid="21"/>
                                        </p:tgtEl>
                                      </p:cBhvr>
                                    </p:animEffect>
                                  </p:childTnLst>
                                </p:cTn>
                              </p:par>
                              <p:par>
                                <p:cTn id="37" presetID="1" presetClass="exit" presetSubtype="0" fill="hold" nodeType="withEffect">
                                  <p:stCondLst>
                                    <p:cond delay="0"/>
                                  </p:stCondLst>
                                  <p:childTnLst>
                                    <p:set>
                                      <p:cBhvr>
                                        <p:cTn id="38" dur="1" fill="hold">
                                          <p:stCondLst>
                                            <p:cond delay="0"/>
                                          </p:stCondLst>
                                        </p:cTn>
                                        <p:tgtEl>
                                          <p:spTgt spid="22"/>
                                        </p:tgtEl>
                                        <p:attrNameLst>
                                          <p:attrName>style.visibility</p:attrName>
                                        </p:attrNameLst>
                                      </p:cBhvr>
                                      <p:to>
                                        <p:strVal val="hidden"/>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300"/>
                                        <p:tgtEl>
                                          <p:spTgt spid="23"/>
                                        </p:tgtEl>
                                      </p:cBhvr>
                                    </p:animEffect>
                                  </p:childTnLst>
                                </p:cTn>
                              </p:par>
                              <p:par>
                                <p:cTn id="46" presetID="10" presetClass="entr" presetSubtype="0" fill="hold"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300"/>
                                        <p:tgtEl>
                                          <p:spTgt spid="24"/>
                                        </p:tgtEl>
                                      </p:cBhvr>
                                    </p:animEffect>
                                  </p:childTnLst>
                                </p:cTn>
                              </p:par>
                              <p:par>
                                <p:cTn id="50" presetID="10" presetClass="entr" presetSubtype="0" fill="hold"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300"/>
                                        <p:tgtEl>
                                          <p:spTgt spid="25"/>
                                        </p:tgtEl>
                                      </p:cBhvr>
                                    </p:animEffect>
                                  </p:childTnLst>
                                </p:cTn>
                              </p:par>
                              <p:par>
                                <p:cTn id="54" presetID="10" presetClass="entr" presetSubtype="0" fill="hold" nodeType="withEffect">
                                  <p:stCondLst>
                                    <p:cond delay="0"/>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300"/>
                                        <p:tgtEl>
                                          <p:spTgt spid="10"/>
                                        </p:tgtEl>
                                      </p:cBhvr>
                                    </p:animEffect>
                                  </p:childTnLst>
                                </p:cTn>
                              </p:par>
                              <p:par>
                                <p:cTn id="58" presetID="10" presetClass="entr" presetSubtype="0" fill="hold" nodeType="withEffect">
                                  <p:stCondLst>
                                    <p:cond delay="0"/>
                                  </p:stCondLst>
                                  <p:childTnLst>
                                    <p:set>
                                      <p:cBhvr>
                                        <p:cTn id="59" dur="1" fill="hold">
                                          <p:stCondLst>
                                            <p:cond delay="0"/>
                                          </p:stCondLst>
                                        </p:cTn>
                                        <p:tgtEl>
                                          <p:spTgt spid="11"/>
                                        </p:tgtEl>
                                        <p:attrNameLst>
                                          <p:attrName>style.visibility</p:attrName>
                                        </p:attrNameLst>
                                      </p:cBhvr>
                                      <p:to>
                                        <p:strVal val="visible"/>
                                      </p:to>
                                    </p:set>
                                    <p:animEffect transition="in" filter="fade">
                                      <p:cBhvr>
                                        <p:cTn id="60" dur="300"/>
                                        <p:tgtEl>
                                          <p:spTgt spid="11"/>
                                        </p:tgtEl>
                                      </p:cBhvr>
                                    </p:animEffect>
                                  </p:childTnLst>
                                </p:cTn>
                              </p:par>
                              <p:par>
                                <p:cTn id="62" presetID="10" presetClass="entr" presetSubtype="0" fill="hold" nodeType="withEffect">
                                  <p:stCondLst>
                                    <p:cond delay="0"/>
                                  </p:stCondLst>
                                  <p:childTnLst>
                                    <p:set>
                                      <p:cBhvr>
                                        <p:cTn id="63" dur="1" fill="hold">
                                          <p:stCondLst>
                                            <p:cond delay="0"/>
                                          </p:stCondLst>
                                        </p:cTn>
                                        <p:tgtEl>
                                          <p:spTgt spid="12"/>
                                        </p:tgtEl>
                                        <p:attrNameLst>
                                          <p:attrName>style.visibility</p:attrName>
                                        </p:attrNameLst>
                                      </p:cBhvr>
                                      <p:to>
                                        <p:strVal val="visible"/>
                                      </p:to>
                                    </p:set>
                                    <p:animEffect transition="in" filter="fade">
                                      <p:cBhvr>
                                        <p:cTn id="64" dur="300"/>
                                        <p:tgtEl>
                                          <p:spTgt spid="12"/>
                                        </p:tgtEl>
                                      </p:cBhvr>
                                    </p:animEffect>
                                  </p:childTnLst>
                                </p:cTn>
                              </p:par>
                              <p:par>
                                <p:cTn id="66" presetID="10" presetClass="entr" presetSubtype="0" fill="hold" nodeType="withEffect">
                                  <p:stCondLst>
                                    <p:cond delay="0"/>
                                  </p:stCondLst>
                                  <p:childTnLst>
                                    <p:set>
                                      <p:cBhvr>
                                        <p:cTn id="67" dur="1" fill="hold">
                                          <p:stCondLst>
                                            <p:cond delay="0"/>
                                          </p:stCondLst>
                                        </p:cTn>
                                        <p:tgtEl>
                                          <p:spTgt spid="13"/>
                                        </p:tgtEl>
                                        <p:attrNameLst>
                                          <p:attrName>style.visibility</p:attrName>
                                        </p:attrNameLst>
                                      </p:cBhvr>
                                      <p:to>
                                        <p:strVal val="visible"/>
                                      </p:to>
                                    </p:set>
                                    <p:animEffect transition="in" filter="fade">
                                      <p:cBhvr>
                                        <p:cTn id="68" dur="300"/>
                                        <p:tgtEl>
                                          <p:spTgt spid="13"/>
                                        </p:tgtEl>
                                      </p:cBhvr>
                                    </p:animEffect>
                                  </p:childTnLst>
                                </p:cTn>
                              </p:par>
                              <p:par>
                                <p:cTn id="70" presetID="10" presetClass="entr" presetSubtype="0" fill="hold"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fade">
                                      <p:cBhvr>
                                        <p:cTn id="72" dur="300"/>
                                        <p:tgtEl>
                                          <p:spTgt spid="14"/>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300"/>
                                        <p:tgtEl>
                                          <p:spTgt spid="26"/>
                                        </p:tgtEl>
                                      </p:cBhvr>
                                    </p:animEffect>
                                  </p:childTnLst>
                                </p:cTn>
                              </p:par>
                              <p:par>
                                <p:cTn id="80" presetID="10" presetClass="entr" presetSubtype="0" fill="hold"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00"/>
                                        <p:tgtEl>
                                          <p:spTgt spid="27"/>
                                        </p:tgtEl>
                                      </p:cBhvr>
                                    </p:animEffect>
                                  </p:childTnLst>
                                </p:cTn>
                              </p:par>
                              <p:par>
                                <p:cTn id="84" presetID="10" presetClass="entr" presetSubtype="0" fill="hold" nodeType="withEffect">
                                  <p:stCondLst>
                                    <p:cond delay="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300"/>
                                        <p:tgtEl>
                                          <p:spTgt spid="15"/>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300"/>
                                        <p:tgtEl>
                                          <p:spTgt spid="28"/>
                                        </p:tgtEl>
                                      </p:cBhvr>
                                    </p:animEffect>
                                  </p:childTnLst>
                                </p:cTn>
                              </p:par>
                              <p:par>
                                <p:cTn id="94" presetID="10" presetClass="entr" presetSubtype="0" fill="hold" nodeType="withEffect">
                                  <p:stCondLst>
                                    <p:cond delay="0"/>
                                  </p:stCondLst>
                                  <p:childTnLst>
                                    <p:set>
                                      <p:cBhvr>
                                        <p:cTn id="95" dur="1" fill="hold">
                                          <p:stCondLst>
                                            <p:cond delay="0"/>
                                          </p:stCondLst>
                                        </p:cTn>
                                        <p:tgtEl>
                                          <p:spTgt spid="16"/>
                                        </p:tgtEl>
                                        <p:attrNameLst>
                                          <p:attrName>style.visibility</p:attrName>
                                        </p:attrNameLst>
                                      </p:cBhvr>
                                      <p:to>
                                        <p:strVal val="visible"/>
                                      </p:to>
                                    </p:set>
                                    <p:animEffect transition="in" filter="fade">
                                      <p:cBhvr>
                                        <p:cTn id="96" dur="300"/>
                                        <p:tgtEl>
                                          <p:spTgt spid="16"/>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300"/>
                                        <p:tgtEl>
                                          <p:spTgt spid="29"/>
                                        </p:tgtEl>
                                      </p:cBhvr>
                                    </p:animEffect>
                                  </p:childTnLst>
                                </p:cTn>
                              </p:par>
                              <p:par>
                                <p:cTn id="104" presetID="1" presetClass="exit" presetSubtype="0" fill="hold" nodeType="withEffect">
                                  <p:stCondLst>
                                    <p:cond delay="0"/>
                                  </p:stCondLst>
                                  <p:childTnLst>
                                    <p:set>
                                      <p:cBhvr>
                                        <p:cTn id="105"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Mỗi giải pháp giữ vai trò gì?</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7781925" y="3286125"/>
            <a:ext cx="6477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429625" y="32861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62975" y="3286125"/>
            <a:ext cx="0" cy="7429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62975" y="40290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62975" y="4162425"/>
            <a:ext cx="12096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781925" y="4143375"/>
            <a:ext cx="7620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43925" y="41433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677275" y="4143375"/>
            <a:ext cx="0" cy="24003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77275" y="65436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77275" y="6677025"/>
            <a:ext cx="10953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81925" y="5000625"/>
            <a:ext cx="8763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58225" y="50006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791575" y="5000625"/>
            <a:ext cx="0" cy="7048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791575" y="57054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791575" y="5838825"/>
            <a:ext cx="981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781925" y="5857875"/>
            <a:ext cx="9906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72525" y="58578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05875" y="3457575"/>
            <a:ext cx="0" cy="24003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905875" y="33242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905875" y="3324225"/>
            <a:ext cx="8667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81925" y="6715125"/>
            <a:ext cx="11049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886825" y="67151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020175" y="5133975"/>
            <a:ext cx="0" cy="15811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20175" y="50006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20175" y="5000625"/>
            <a:ext cx="7524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3730288" y="7058025"/>
            <a:ext cx="0" cy="80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3730288" y="7138988"/>
            <a:ext cx="0" cy="809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9224962" y="7219950"/>
            <a:ext cx="4505326"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9144000" y="721995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144000" y="721995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629525" y="2066925"/>
            <a:ext cx="302895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Nối giải pháp với vai trò</a:t>
            </a:r>
          </a:p>
        </p:txBody>
      </p:sp>
      <p:sp>
        <p:nvSpPr>
          <p:cNvPr id="40" name="Rounded Rectangle 39"/>
          <p:cNvSpPr/>
          <p:nvPr/>
        </p:nvSpPr>
        <p:spPr>
          <a:xfrm>
            <a:off x="666750" y="294322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Một là — Thể chế kinh tế</a:t>
            </a:r>
          </a:p>
        </p:txBody>
      </p:sp>
      <p:sp>
        <p:nvSpPr>
          <p:cNvPr id="41" name="Rounded Rectangle 40"/>
          <p:cNvSpPr/>
          <p:nvPr/>
        </p:nvSpPr>
        <p:spPr>
          <a:xfrm>
            <a:off x="666750" y="380047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Hai là — Đảng</a:t>
            </a:r>
          </a:p>
        </p:txBody>
      </p:sp>
      <p:sp>
        <p:nvSpPr>
          <p:cNvPr id="42" name="Rounded Rectangle 41"/>
          <p:cNvSpPr/>
          <p:nvPr/>
        </p:nvSpPr>
        <p:spPr>
          <a:xfrm>
            <a:off x="666750" y="465772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Ba là — Nhà nước pháp quyền</a:t>
            </a:r>
          </a:p>
        </p:txBody>
      </p:sp>
      <p:sp>
        <p:nvSpPr>
          <p:cNvPr id="43" name="Rounded Rectangle 42"/>
          <p:cNvSpPr/>
          <p:nvPr/>
        </p:nvSpPr>
        <p:spPr>
          <a:xfrm>
            <a:off x="666750" y="551497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Bốn là — Tổ chức chính trị – xã hội</a:t>
            </a:r>
          </a:p>
        </p:txBody>
      </p:sp>
      <p:sp>
        <p:nvSpPr>
          <p:cNvPr id="44" name="Rounded Rectangle 43"/>
          <p:cNvSpPr/>
          <p:nvPr/>
        </p:nvSpPr>
        <p:spPr>
          <a:xfrm>
            <a:off x="666750" y="637222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Năm là — Giám sát, phản biện</a:t>
            </a:r>
          </a:p>
        </p:txBody>
      </p:sp>
      <p:sp>
        <p:nvSpPr>
          <p:cNvPr id="45" name="Rounded Rectangle 44"/>
          <p:cNvSpPr/>
          <p:nvPr/>
        </p:nvSpPr>
        <p:spPr>
          <a:xfrm>
            <a:off x="9839325" y="29908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vai trò</a:t>
            </a:r>
          </a:p>
        </p:txBody>
      </p:sp>
      <p:sp>
        <p:nvSpPr>
          <p:cNvPr id="46" name="Rounded Rectangle 45"/>
          <p:cNvSpPr/>
          <p:nvPr/>
        </p:nvSpPr>
        <p:spPr>
          <a:xfrm>
            <a:off x="9839325" y="38290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sở kinh tế vững chắc</a:t>
            </a:r>
          </a:p>
        </p:txBody>
      </p:sp>
      <p:sp>
        <p:nvSpPr>
          <p:cNvPr id="47" name="Rounded Rectangle 46"/>
          <p:cNvSpPr/>
          <p:nvPr/>
        </p:nvSpPr>
        <p:spPr>
          <a:xfrm>
            <a:off x="9839325" y="46672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để phát huy quyền làm chủ</a:t>
            </a:r>
          </a:p>
        </p:txBody>
      </p:sp>
      <p:sp>
        <p:nvSpPr>
          <p:cNvPr id="48" name="Rounded Rectangle 47"/>
          <p:cNvSpPr/>
          <p:nvPr/>
        </p:nvSpPr>
        <p:spPr>
          <a:xfrm>
            <a:off x="9839325" y="55054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điều kiện để thực thi</a:t>
            </a:r>
          </a:p>
        </p:txBody>
      </p:sp>
      <p:sp>
        <p:nvSpPr>
          <p:cNvPr id="49" name="Rounded Rectangle 48"/>
          <p:cNvSpPr/>
          <p:nvPr/>
        </p:nvSpPr>
        <p:spPr>
          <a:xfrm>
            <a:off x="9839325" y="63436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điều kiện tiên quyết</a:t>
            </a:r>
          </a:p>
        </p:txBody>
      </p:sp>
      <p:sp>
        <p:nvSpPr>
          <p:cNvPr id="50" name="Rounded Rectangle 49"/>
          <p:cNvSpPr/>
          <p:nvPr/>
        </p:nvSpPr>
        <p:spPr>
          <a:xfrm>
            <a:off x="666750" y="7448550"/>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a) PHÁT HUY DÂN CHỦ XHCN Ở VIỆT NAM HIỆN NAY</a:t>
            </a:r>
          </a:p>
        </p:txBody>
      </p:sp>
      <p:sp>
        <p:nvSpPr>
          <p:cNvPr id="51" name="Rounded Rectangle 50"/>
          <p:cNvSpPr/>
          <p:nvPr/>
        </p:nvSpPr>
        <p:spPr>
          <a:xfrm>
            <a:off x="666750" y="7448550"/>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300"/>
                                        <p:tgtEl>
                                          <p:spTgt spid="39"/>
                                        </p:tgtEl>
                                      </p:cBhvr>
                                    </p:animEffect>
                                  </p:childTnLst>
                                </p:cTn>
                              </p:par>
                              <p:par>
                                <p:cTn id="9" presetID="10" presetClass="entr" presetSubtype="0" fill="hold" nodeType="withEffect">
                                  <p:stCondLst>
                                    <p:cond delay="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300"/>
                                        <p:tgtEl>
                                          <p:spTgt spid="40"/>
                                        </p:tgtEl>
                                      </p:cBhvr>
                                    </p:animEffect>
                                  </p:childTnLst>
                                </p:cTn>
                              </p:par>
                              <p:par>
                                <p:cTn id="13" presetID="10" presetClass="entr" presetSubtype="0" fill="hold" nodeType="withEffect">
                                  <p:stCondLst>
                                    <p:cond delay="0"/>
                                  </p:stCondLst>
                                  <p:childTnLst>
                                    <p:set>
                                      <p:cBhvr>
                                        <p:cTn id="14" dur="1" fill="hold">
                                          <p:stCondLst>
                                            <p:cond delay="0"/>
                                          </p:stCondLst>
                                        </p:cTn>
                                        <p:tgtEl>
                                          <p:spTgt spid="41"/>
                                        </p:tgtEl>
                                        <p:attrNameLst>
                                          <p:attrName>style.visibility</p:attrName>
                                        </p:attrNameLst>
                                      </p:cBhvr>
                                      <p:to>
                                        <p:strVal val="visible"/>
                                      </p:to>
                                    </p:set>
                                    <p:animEffect transition="in" filter="fade">
                                      <p:cBhvr>
                                        <p:cTn id="15" dur="300"/>
                                        <p:tgtEl>
                                          <p:spTgt spid="41"/>
                                        </p:tgtEl>
                                      </p:cBhvr>
                                    </p:animEffect>
                                  </p:childTnLst>
                                </p:cTn>
                              </p:par>
                              <p:par>
                                <p:cTn id="17" presetID="10" presetClass="entr" presetSubtype="0" fill="hold" nodeType="withEffect">
                                  <p:stCondLst>
                                    <p:cond delay="0"/>
                                  </p:stCondLst>
                                  <p:childTnLst>
                                    <p:set>
                                      <p:cBhvr>
                                        <p:cTn id="18" dur="1" fill="hold">
                                          <p:stCondLst>
                                            <p:cond delay="0"/>
                                          </p:stCondLst>
                                        </p:cTn>
                                        <p:tgtEl>
                                          <p:spTgt spid="42"/>
                                        </p:tgtEl>
                                        <p:attrNameLst>
                                          <p:attrName>style.visibility</p:attrName>
                                        </p:attrNameLst>
                                      </p:cBhvr>
                                      <p:to>
                                        <p:strVal val="visible"/>
                                      </p:to>
                                    </p:set>
                                    <p:animEffect transition="in" filter="fade">
                                      <p:cBhvr>
                                        <p:cTn id="19" dur="300"/>
                                        <p:tgtEl>
                                          <p:spTgt spid="42"/>
                                        </p:tgtEl>
                                      </p:cBhvr>
                                    </p:animEffect>
                                  </p:childTnLst>
                                </p:cTn>
                              </p:par>
                              <p:par>
                                <p:cTn id="21" presetID="10" presetClass="entr" presetSubtype="0" fill="hold" nodeType="with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300"/>
                                        <p:tgtEl>
                                          <p:spTgt spid="43"/>
                                        </p:tgtEl>
                                      </p:cBhvr>
                                    </p:animEffect>
                                  </p:childTnLst>
                                </p:cTn>
                              </p:par>
                              <p:par>
                                <p:cTn id="25" presetID="10" presetClass="entr" presetSubtype="0" fill="hold" nodeType="withEffect">
                                  <p:stCondLst>
                                    <p:cond delay="0"/>
                                  </p:stCondLst>
                                  <p:childTnLst>
                                    <p:set>
                                      <p:cBhvr>
                                        <p:cTn id="26" dur="1" fill="hold">
                                          <p:stCondLst>
                                            <p:cond delay="0"/>
                                          </p:stCondLst>
                                        </p:cTn>
                                        <p:tgtEl>
                                          <p:spTgt spid="44"/>
                                        </p:tgtEl>
                                        <p:attrNameLst>
                                          <p:attrName>style.visibility</p:attrName>
                                        </p:attrNameLst>
                                      </p:cBhvr>
                                      <p:to>
                                        <p:strVal val="visible"/>
                                      </p:to>
                                    </p:set>
                                    <p:animEffect transition="in" filter="fade">
                                      <p:cBhvr>
                                        <p:cTn id="27" dur="3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5"/>
                                        </p:tgtEl>
                                        <p:attrNameLst>
                                          <p:attrName>style.visibility</p:attrName>
                                        </p:attrNameLst>
                                      </p:cBhvr>
                                      <p:to>
                                        <p:strVal val="visible"/>
                                      </p:to>
                                    </p:set>
                                    <p:animEffect transition="in" filter="fade">
                                      <p:cBhvr>
                                        <p:cTn id="31" dur="300"/>
                                        <p:tgtEl>
                                          <p:spTgt spid="45"/>
                                        </p:tgtEl>
                                      </p:cBhvr>
                                    </p:animEffect>
                                  </p:childTnLst>
                                </p:cTn>
                              </p:par>
                              <p:par>
                                <p:cTn id="33" presetID="10" presetClass="entr" presetSubtype="0" fill="hold"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00"/>
                                        <p:tgtEl>
                                          <p:spTgt spid="46"/>
                                        </p:tgtEl>
                                      </p:cBhvr>
                                    </p:animEffect>
                                  </p:childTnLst>
                                </p:cTn>
                              </p:par>
                              <p:par>
                                <p:cTn id="37" presetID="10" presetClass="entr" presetSubtype="0" fill="hold" nodeType="withEffect">
                                  <p:stCondLst>
                                    <p:cond delay="0"/>
                                  </p:stCondLst>
                                  <p:childTnLst>
                                    <p:set>
                                      <p:cBhvr>
                                        <p:cTn id="38" dur="1" fill="hold">
                                          <p:stCondLst>
                                            <p:cond delay="0"/>
                                          </p:stCondLst>
                                        </p:cTn>
                                        <p:tgtEl>
                                          <p:spTgt spid="47"/>
                                        </p:tgtEl>
                                        <p:attrNameLst>
                                          <p:attrName>style.visibility</p:attrName>
                                        </p:attrNameLst>
                                      </p:cBhvr>
                                      <p:to>
                                        <p:strVal val="visible"/>
                                      </p:to>
                                    </p:set>
                                    <p:animEffect transition="in" filter="fade">
                                      <p:cBhvr>
                                        <p:cTn id="39" dur="300"/>
                                        <p:tgtEl>
                                          <p:spTgt spid="47"/>
                                        </p:tgtEl>
                                      </p:cBhvr>
                                    </p:animEffect>
                                  </p:childTnLst>
                                </p:cTn>
                              </p:par>
                              <p:par>
                                <p:cTn id="41" presetID="10" presetClass="entr" presetSubtype="0" fill="hold" nodeType="withEffect">
                                  <p:stCondLst>
                                    <p:cond delay="0"/>
                                  </p:stCondLst>
                                  <p:childTnLst>
                                    <p:set>
                                      <p:cBhvr>
                                        <p:cTn id="42" dur="1" fill="hold">
                                          <p:stCondLst>
                                            <p:cond delay="0"/>
                                          </p:stCondLst>
                                        </p:cTn>
                                        <p:tgtEl>
                                          <p:spTgt spid="48"/>
                                        </p:tgtEl>
                                        <p:attrNameLst>
                                          <p:attrName>style.visibility</p:attrName>
                                        </p:attrNameLst>
                                      </p:cBhvr>
                                      <p:to>
                                        <p:strVal val="visible"/>
                                      </p:to>
                                    </p:set>
                                    <p:animEffect transition="in" filter="fade">
                                      <p:cBhvr>
                                        <p:cTn id="43" dur="300"/>
                                        <p:tgtEl>
                                          <p:spTgt spid="48"/>
                                        </p:tgtEl>
                                      </p:cBhvr>
                                    </p:animEffect>
                                  </p:childTnLst>
                                </p:cTn>
                              </p:par>
                              <p:par>
                                <p:cTn id="45" presetID="10"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300"/>
                                        <p:tgtEl>
                                          <p:spTgt spid="49"/>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3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300"/>
                                        <p:tgtEl>
                                          <p:spTgt spid="35"/>
                                        </p:tgtEl>
                                      </p:cBhvr>
                                    </p:animEffect>
                                  </p:childTnLst>
                                </p:cTn>
                              </p:par>
                              <p:par>
                                <p:cTn id="57" presetID="10"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3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30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300"/>
                                        <p:tgtEl>
                                          <p:spTgt spid="38"/>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300"/>
                                        <p:tgtEl>
                                          <p:spTgt spid="9"/>
                                        </p:tgtEl>
                                      </p:cBhvr>
                                    </p:animEffect>
                                  </p:childTnLst>
                                </p:cTn>
                              </p:par>
                              <p:par>
                                <p:cTn id="75" presetID="10" presetClass="entr" presetSubtype="0" fill="hold" nodeType="withEffect">
                                  <p:stCondLst>
                                    <p:cond delay="0"/>
                                  </p:stCondLst>
                                  <p:childTnLst>
                                    <p:set>
                                      <p:cBhvr>
                                        <p:cTn id="76" dur="1" fill="hold">
                                          <p:stCondLst>
                                            <p:cond delay="0"/>
                                          </p:stCondLst>
                                        </p:cTn>
                                        <p:tgtEl>
                                          <p:spTgt spid="10"/>
                                        </p:tgtEl>
                                        <p:attrNameLst>
                                          <p:attrName>style.visibility</p:attrName>
                                        </p:attrNameLst>
                                      </p:cBhvr>
                                      <p:to>
                                        <p:strVal val="visible"/>
                                      </p:to>
                                    </p:set>
                                    <p:animEffect transition="in" filter="fade">
                                      <p:cBhvr>
                                        <p:cTn id="77" dur="300"/>
                                        <p:tgtEl>
                                          <p:spTgt spid="10"/>
                                        </p:tgtEl>
                                      </p:cBhvr>
                                    </p:animEffect>
                                  </p:childTnLst>
                                </p:cTn>
                              </p:par>
                              <p:par>
                                <p:cTn id="79" presetID="10" presetClass="entr" presetSubtype="0" fill="hold" nodeType="withEffect">
                                  <p:stCondLst>
                                    <p:cond delay="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300"/>
                                        <p:tgtEl>
                                          <p:spTgt spid="11"/>
                                        </p:tgtEl>
                                      </p:cBhvr>
                                    </p:animEffect>
                                  </p:childTnLst>
                                </p:cTn>
                              </p:par>
                              <p:par>
                                <p:cTn id="83" presetID="10" presetClass="entr" presetSubtype="0" fill="hold" nodeType="with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fade">
                                      <p:cBhvr>
                                        <p:cTn id="85" dur="300"/>
                                        <p:tgtEl>
                                          <p:spTgt spid="12"/>
                                        </p:tgtEl>
                                      </p:cBhvr>
                                    </p:animEffect>
                                  </p:childTnLst>
                                </p:cTn>
                              </p:par>
                              <p:par>
                                <p:cTn id="87" presetID="10" presetClass="entr" presetSubtype="0" fill="hold" nodeType="withEffect">
                                  <p:stCondLst>
                                    <p:cond delay="0"/>
                                  </p:stCondLst>
                                  <p:childTnLst>
                                    <p:set>
                                      <p:cBhvr>
                                        <p:cTn id="88" dur="1" fill="hold">
                                          <p:stCondLst>
                                            <p:cond delay="0"/>
                                          </p:stCondLst>
                                        </p:cTn>
                                        <p:tgtEl>
                                          <p:spTgt spid="13"/>
                                        </p:tgtEl>
                                        <p:attrNameLst>
                                          <p:attrName>style.visibility</p:attrName>
                                        </p:attrNameLst>
                                      </p:cBhvr>
                                      <p:to>
                                        <p:strVal val="visible"/>
                                      </p:to>
                                    </p:set>
                                    <p:animEffect transition="in" filter="fade">
                                      <p:cBhvr>
                                        <p:cTn id="89" dur="300"/>
                                        <p:tgtEl>
                                          <p:spTgt spid="13"/>
                                        </p:tgtEl>
                                      </p:cBhvr>
                                    </p:animEffect>
                                  </p:childTnLst>
                                </p:cTn>
                              </p:par>
                              <p:par>
                                <p:cTn id="91" presetID="10" presetClass="entr" presetSubtype="0" fill="hold" nodeType="withEffect">
                                  <p:stCondLst>
                                    <p:cond delay="0"/>
                                  </p:stCondLst>
                                  <p:childTnLst>
                                    <p:set>
                                      <p:cBhvr>
                                        <p:cTn id="92" dur="1" fill="hold">
                                          <p:stCondLst>
                                            <p:cond delay="0"/>
                                          </p:stCondLst>
                                        </p:cTn>
                                        <p:tgtEl>
                                          <p:spTgt spid="14"/>
                                        </p:tgtEl>
                                        <p:attrNameLst>
                                          <p:attrName>style.visibility</p:attrName>
                                        </p:attrNameLst>
                                      </p:cBhvr>
                                      <p:to>
                                        <p:strVal val="visible"/>
                                      </p:to>
                                    </p:set>
                                    <p:animEffect transition="in" filter="fade">
                                      <p:cBhvr>
                                        <p:cTn id="93" dur="300"/>
                                        <p:tgtEl>
                                          <p:spTgt spid="14"/>
                                        </p:tgtEl>
                                      </p:cBhvr>
                                    </p:animEffect>
                                  </p:childTnLst>
                                </p:cTn>
                              </p:par>
                              <p:par>
                                <p:cTn id="95" presetID="10" presetClass="entr" presetSubtype="0" fill="hold" nodeType="withEffect">
                                  <p:stCondLst>
                                    <p:cond delay="0"/>
                                  </p:stCondLst>
                                  <p:childTnLst>
                                    <p:set>
                                      <p:cBhvr>
                                        <p:cTn id="96" dur="1" fill="hold">
                                          <p:stCondLst>
                                            <p:cond delay="0"/>
                                          </p:stCondLst>
                                        </p:cTn>
                                        <p:tgtEl>
                                          <p:spTgt spid="15"/>
                                        </p:tgtEl>
                                        <p:attrNameLst>
                                          <p:attrName>style.visibility</p:attrName>
                                        </p:attrNameLst>
                                      </p:cBhvr>
                                      <p:to>
                                        <p:strVal val="visible"/>
                                      </p:to>
                                    </p:set>
                                    <p:animEffect transition="in" filter="fade">
                                      <p:cBhvr>
                                        <p:cTn id="97" dur="300"/>
                                        <p:tgtEl>
                                          <p:spTgt spid="15"/>
                                        </p:tgtEl>
                                      </p:cBhvr>
                                    </p:animEffect>
                                  </p:childTnLst>
                                </p:cTn>
                              </p:par>
                              <p:par>
                                <p:cTn id="99" presetID="10" presetClass="entr" presetSubtype="0" fill="hold" nodeType="withEffect">
                                  <p:stCondLst>
                                    <p:cond delay="0"/>
                                  </p:stCondLst>
                                  <p:childTnLst>
                                    <p:set>
                                      <p:cBhvr>
                                        <p:cTn id="100" dur="1" fill="hold">
                                          <p:stCondLst>
                                            <p:cond delay="0"/>
                                          </p:stCondLst>
                                        </p:cTn>
                                        <p:tgtEl>
                                          <p:spTgt spid="16"/>
                                        </p:tgtEl>
                                        <p:attrNameLst>
                                          <p:attrName>style.visibility</p:attrName>
                                        </p:attrNameLst>
                                      </p:cBhvr>
                                      <p:to>
                                        <p:strVal val="visible"/>
                                      </p:to>
                                    </p:set>
                                    <p:animEffect transition="in" filter="fade">
                                      <p:cBhvr>
                                        <p:cTn id="101" dur="300"/>
                                        <p:tgtEl>
                                          <p:spTgt spid="16"/>
                                        </p:tgtEl>
                                      </p:cBhvr>
                                    </p:animEffect>
                                  </p:childTnLst>
                                </p:cTn>
                              </p:par>
                              <p:par>
                                <p:cTn id="103" presetID="10" presetClass="entr" presetSubtype="0" fill="hold" nodeType="withEffect">
                                  <p:stCondLst>
                                    <p:cond delay="0"/>
                                  </p:stCondLst>
                                  <p:childTnLst>
                                    <p:set>
                                      <p:cBhvr>
                                        <p:cTn id="104" dur="1" fill="hold">
                                          <p:stCondLst>
                                            <p:cond delay="0"/>
                                          </p:stCondLst>
                                        </p:cTn>
                                        <p:tgtEl>
                                          <p:spTgt spid="17"/>
                                        </p:tgtEl>
                                        <p:attrNameLst>
                                          <p:attrName>style.visibility</p:attrName>
                                        </p:attrNameLst>
                                      </p:cBhvr>
                                      <p:to>
                                        <p:strVal val="visible"/>
                                      </p:to>
                                    </p:set>
                                    <p:animEffect transition="in" filter="fade">
                                      <p:cBhvr>
                                        <p:cTn id="105" dur="300"/>
                                        <p:tgtEl>
                                          <p:spTgt spid="17"/>
                                        </p:tgtEl>
                                      </p:cBhvr>
                                    </p:animEffect>
                                  </p:childTnLst>
                                </p:cTn>
                              </p:par>
                              <p:par>
                                <p:cTn id="107" presetID="10" presetClass="entr" presetSubtype="0" fill="hold" nodeType="withEffect">
                                  <p:stCondLst>
                                    <p:cond delay="0"/>
                                  </p:stCondLst>
                                  <p:childTnLst>
                                    <p:set>
                                      <p:cBhvr>
                                        <p:cTn id="108" dur="1" fill="hold">
                                          <p:stCondLst>
                                            <p:cond delay="0"/>
                                          </p:stCondLst>
                                        </p:cTn>
                                        <p:tgtEl>
                                          <p:spTgt spid="18"/>
                                        </p:tgtEl>
                                        <p:attrNameLst>
                                          <p:attrName>style.visibility</p:attrName>
                                        </p:attrNameLst>
                                      </p:cBhvr>
                                      <p:to>
                                        <p:strVal val="visible"/>
                                      </p:to>
                                    </p:set>
                                    <p:animEffect transition="in" filter="fade">
                                      <p:cBhvr>
                                        <p:cTn id="109" dur="300"/>
                                        <p:tgtEl>
                                          <p:spTgt spid="18"/>
                                        </p:tgtEl>
                                      </p:cBhvr>
                                    </p:animEffect>
                                  </p:childTnLst>
                                </p:cTn>
                              </p:par>
                              <p:par>
                                <p:cTn id="111" presetID="10" presetClass="entr" presetSubtype="0" fill="hold" nodeType="withEffect">
                                  <p:stCondLst>
                                    <p:cond delay="0"/>
                                  </p:stCondLst>
                                  <p:childTnLst>
                                    <p:set>
                                      <p:cBhvr>
                                        <p:cTn id="112" dur="1" fill="hold">
                                          <p:stCondLst>
                                            <p:cond delay="0"/>
                                          </p:stCondLst>
                                        </p:cTn>
                                        <p:tgtEl>
                                          <p:spTgt spid="19"/>
                                        </p:tgtEl>
                                        <p:attrNameLst>
                                          <p:attrName>style.visibility</p:attrName>
                                        </p:attrNameLst>
                                      </p:cBhvr>
                                      <p:to>
                                        <p:strVal val="visible"/>
                                      </p:to>
                                    </p:set>
                                    <p:animEffect transition="in" filter="fade">
                                      <p:cBhvr>
                                        <p:cTn id="113" dur="300"/>
                                        <p:tgtEl>
                                          <p:spTgt spid="19"/>
                                        </p:tgtEl>
                                      </p:cBhvr>
                                    </p:animEffect>
                                  </p:childTnLst>
                                </p:cTn>
                              </p:par>
                              <p:par>
                                <p:cTn id="115" presetID="10" presetClass="entr" presetSubtype="0" fill="hold" nodeType="withEffect">
                                  <p:stCondLst>
                                    <p:cond delay="0"/>
                                  </p:stCondLst>
                                  <p:childTnLst>
                                    <p:set>
                                      <p:cBhvr>
                                        <p:cTn id="116" dur="1" fill="hold">
                                          <p:stCondLst>
                                            <p:cond delay="0"/>
                                          </p:stCondLst>
                                        </p:cTn>
                                        <p:tgtEl>
                                          <p:spTgt spid="20"/>
                                        </p:tgtEl>
                                        <p:attrNameLst>
                                          <p:attrName>style.visibility</p:attrName>
                                        </p:attrNameLst>
                                      </p:cBhvr>
                                      <p:to>
                                        <p:strVal val="visible"/>
                                      </p:to>
                                    </p:set>
                                    <p:animEffect transition="in" filter="fade">
                                      <p:cBhvr>
                                        <p:cTn id="117" dur="300"/>
                                        <p:tgtEl>
                                          <p:spTgt spid="20"/>
                                        </p:tgtEl>
                                      </p:cBhvr>
                                    </p:animEffect>
                                  </p:childTnLst>
                                </p:cTn>
                              </p:par>
                              <p:par>
                                <p:cTn id="119" presetID="10" presetClass="entr" presetSubtype="0" fill="hold"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300"/>
                                        <p:tgtEl>
                                          <p:spTgt spid="21"/>
                                        </p:tgtEl>
                                      </p:cBhvr>
                                    </p:animEffect>
                                  </p:childTnLst>
                                </p:cTn>
                              </p:par>
                              <p:par>
                                <p:cTn id="123" presetID="10" presetClass="entr" presetSubtype="0" fill="hold" nodeType="withEffect">
                                  <p:stCondLst>
                                    <p:cond delay="0"/>
                                  </p:stCondLst>
                                  <p:childTnLst>
                                    <p:set>
                                      <p:cBhvr>
                                        <p:cTn id="124" dur="1" fill="hold">
                                          <p:stCondLst>
                                            <p:cond delay="0"/>
                                          </p:stCondLst>
                                        </p:cTn>
                                        <p:tgtEl>
                                          <p:spTgt spid="22"/>
                                        </p:tgtEl>
                                        <p:attrNameLst>
                                          <p:attrName>style.visibility</p:attrName>
                                        </p:attrNameLst>
                                      </p:cBhvr>
                                      <p:to>
                                        <p:strVal val="visible"/>
                                      </p:to>
                                    </p:set>
                                    <p:animEffect transition="in" filter="fade">
                                      <p:cBhvr>
                                        <p:cTn id="125" dur="300"/>
                                        <p:tgtEl>
                                          <p:spTgt spid="22"/>
                                        </p:tgtEl>
                                      </p:cBhvr>
                                    </p:animEffect>
                                  </p:childTnLst>
                                </p:cTn>
                              </p:par>
                              <p:par>
                                <p:cTn id="127" presetID="10" presetClass="entr" presetSubtype="0" fill="hold" nodeType="withEffect">
                                  <p:stCondLst>
                                    <p:cond delay="0"/>
                                  </p:stCondLst>
                                  <p:childTnLst>
                                    <p:set>
                                      <p:cBhvr>
                                        <p:cTn id="128" dur="1" fill="hold">
                                          <p:stCondLst>
                                            <p:cond delay="0"/>
                                          </p:stCondLst>
                                        </p:cTn>
                                        <p:tgtEl>
                                          <p:spTgt spid="23"/>
                                        </p:tgtEl>
                                        <p:attrNameLst>
                                          <p:attrName>style.visibility</p:attrName>
                                        </p:attrNameLst>
                                      </p:cBhvr>
                                      <p:to>
                                        <p:strVal val="visible"/>
                                      </p:to>
                                    </p:set>
                                    <p:animEffect transition="in" filter="fade">
                                      <p:cBhvr>
                                        <p:cTn id="129" dur="300"/>
                                        <p:tgtEl>
                                          <p:spTgt spid="23"/>
                                        </p:tgtEl>
                                      </p:cBhvr>
                                    </p:animEffect>
                                  </p:childTnLst>
                                </p:cTn>
                              </p:par>
                              <p:par>
                                <p:cTn id="131" presetID="10" presetClass="entr" presetSubtype="0" fill="hold" nodeType="withEffect">
                                  <p:stCondLst>
                                    <p:cond delay="0"/>
                                  </p:stCondLst>
                                  <p:childTnLst>
                                    <p:set>
                                      <p:cBhvr>
                                        <p:cTn id="132" dur="1" fill="hold">
                                          <p:stCondLst>
                                            <p:cond delay="0"/>
                                          </p:stCondLst>
                                        </p:cTn>
                                        <p:tgtEl>
                                          <p:spTgt spid="24"/>
                                        </p:tgtEl>
                                        <p:attrNameLst>
                                          <p:attrName>style.visibility</p:attrName>
                                        </p:attrNameLst>
                                      </p:cBhvr>
                                      <p:to>
                                        <p:strVal val="visible"/>
                                      </p:to>
                                    </p:set>
                                    <p:animEffect transition="in" filter="fade">
                                      <p:cBhvr>
                                        <p:cTn id="133" dur="300"/>
                                        <p:tgtEl>
                                          <p:spTgt spid="24"/>
                                        </p:tgtEl>
                                      </p:cBhvr>
                                    </p:animEffect>
                                  </p:childTnLst>
                                </p:cTn>
                              </p:par>
                              <p:par>
                                <p:cTn id="135" presetID="10" presetClass="entr" presetSubtype="0" fill="hold" nodeType="withEffect">
                                  <p:stCondLst>
                                    <p:cond delay="0"/>
                                  </p:stCondLst>
                                  <p:childTnLst>
                                    <p:set>
                                      <p:cBhvr>
                                        <p:cTn id="136" dur="1" fill="hold">
                                          <p:stCondLst>
                                            <p:cond delay="0"/>
                                          </p:stCondLst>
                                        </p:cTn>
                                        <p:tgtEl>
                                          <p:spTgt spid="25"/>
                                        </p:tgtEl>
                                        <p:attrNameLst>
                                          <p:attrName>style.visibility</p:attrName>
                                        </p:attrNameLst>
                                      </p:cBhvr>
                                      <p:to>
                                        <p:strVal val="visible"/>
                                      </p:to>
                                    </p:set>
                                    <p:animEffect transition="in" filter="fade">
                                      <p:cBhvr>
                                        <p:cTn id="137" dur="300"/>
                                        <p:tgtEl>
                                          <p:spTgt spid="25"/>
                                        </p:tgtEl>
                                      </p:cBhvr>
                                    </p:animEffect>
                                  </p:childTnLst>
                                </p:cTn>
                              </p:par>
                              <p:par>
                                <p:cTn id="139" presetID="10" presetClass="entr" presetSubtype="0" fill="hold" nodeType="withEffect">
                                  <p:stCondLst>
                                    <p:cond delay="0"/>
                                  </p:stCondLst>
                                  <p:childTnLst>
                                    <p:set>
                                      <p:cBhvr>
                                        <p:cTn id="140" dur="1" fill="hold">
                                          <p:stCondLst>
                                            <p:cond delay="0"/>
                                          </p:stCondLst>
                                        </p:cTn>
                                        <p:tgtEl>
                                          <p:spTgt spid="26"/>
                                        </p:tgtEl>
                                        <p:attrNameLst>
                                          <p:attrName>style.visibility</p:attrName>
                                        </p:attrNameLst>
                                      </p:cBhvr>
                                      <p:to>
                                        <p:strVal val="visible"/>
                                      </p:to>
                                    </p:set>
                                    <p:animEffect transition="in" filter="fade">
                                      <p:cBhvr>
                                        <p:cTn id="141" dur="300"/>
                                        <p:tgtEl>
                                          <p:spTgt spid="26"/>
                                        </p:tgtEl>
                                      </p:cBhvr>
                                    </p:animEffect>
                                  </p:childTnLst>
                                </p:cTn>
                              </p:par>
                              <p:par>
                                <p:cTn id="143" presetID="10" presetClass="entr" presetSubtype="0" fill="hold" nodeType="withEffect">
                                  <p:stCondLst>
                                    <p:cond delay="0"/>
                                  </p:stCondLst>
                                  <p:childTnLst>
                                    <p:set>
                                      <p:cBhvr>
                                        <p:cTn id="144" dur="1" fill="hold">
                                          <p:stCondLst>
                                            <p:cond delay="0"/>
                                          </p:stCondLst>
                                        </p:cTn>
                                        <p:tgtEl>
                                          <p:spTgt spid="27"/>
                                        </p:tgtEl>
                                        <p:attrNameLst>
                                          <p:attrName>style.visibility</p:attrName>
                                        </p:attrNameLst>
                                      </p:cBhvr>
                                      <p:to>
                                        <p:strVal val="visible"/>
                                      </p:to>
                                    </p:set>
                                    <p:animEffect transition="in" filter="fade">
                                      <p:cBhvr>
                                        <p:cTn id="145" dur="300"/>
                                        <p:tgtEl>
                                          <p:spTgt spid="27"/>
                                        </p:tgtEl>
                                      </p:cBhvr>
                                    </p:animEffect>
                                  </p:childTnLst>
                                </p:cTn>
                              </p:par>
                              <p:par>
                                <p:cTn id="147" presetID="10" presetClass="entr" presetSubtype="0" fill="hold" nodeType="withEffect">
                                  <p:stCondLst>
                                    <p:cond delay="0"/>
                                  </p:stCondLst>
                                  <p:childTnLst>
                                    <p:set>
                                      <p:cBhvr>
                                        <p:cTn id="148" dur="1" fill="hold">
                                          <p:stCondLst>
                                            <p:cond delay="0"/>
                                          </p:stCondLst>
                                        </p:cTn>
                                        <p:tgtEl>
                                          <p:spTgt spid="28"/>
                                        </p:tgtEl>
                                        <p:attrNameLst>
                                          <p:attrName>style.visibility</p:attrName>
                                        </p:attrNameLst>
                                      </p:cBhvr>
                                      <p:to>
                                        <p:strVal val="visible"/>
                                      </p:to>
                                    </p:set>
                                    <p:animEffect transition="in" filter="fade">
                                      <p:cBhvr>
                                        <p:cTn id="149" dur="300"/>
                                        <p:tgtEl>
                                          <p:spTgt spid="28"/>
                                        </p:tgtEl>
                                      </p:cBhvr>
                                    </p:animEffect>
                                  </p:childTnLst>
                                </p:cTn>
                              </p:par>
                              <p:par>
                                <p:cTn id="151" presetID="10" presetClass="entr" presetSubtype="0" fill="hold" nodeType="withEffect">
                                  <p:stCondLst>
                                    <p:cond delay="0"/>
                                  </p:stCondLst>
                                  <p:childTnLst>
                                    <p:set>
                                      <p:cBhvr>
                                        <p:cTn id="152" dur="1" fill="hold">
                                          <p:stCondLst>
                                            <p:cond delay="0"/>
                                          </p:stCondLst>
                                        </p:cTn>
                                        <p:tgtEl>
                                          <p:spTgt spid="29"/>
                                        </p:tgtEl>
                                        <p:attrNameLst>
                                          <p:attrName>style.visibility</p:attrName>
                                        </p:attrNameLst>
                                      </p:cBhvr>
                                      <p:to>
                                        <p:strVal val="visible"/>
                                      </p:to>
                                    </p:set>
                                    <p:animEffect transition="in" filter="fade">
                                      <p:cBhvr>
                                        <p:cTn id="153" dur="300"/>
                                        <p:tgtEl>
                                          <p:spTgt spid="29"/>
                                        </p:tgtEl>
                                      </p:cBhvr>
                                    </p:animEffect>
                                  </p:childTnLst>
                                </p:cTn>
                              </p:par>
                              <p:par>
                                <p:cTn id="155" presetID="10" presetClass="entr" presetSubtype="0" fill="hold" nodeType="withEffect">
                                  <p:stCondLst>
                                    <p:cond delay="0"/>
                                  </p:stCondLst>
                                  <p:childTnLst>
                                    <p:set>
                                      <p:cBhvr>
                                        <p:cTn id="156" dur="1" fill="hold">
                                          <p:stCondLst>
                                            <p:cond delay="0"/>
                                          </p:stCondLst>
                                        </p:cTn>
                                        <p:tgtEl>
                                          <p:spTgt spid="30"/>
                                        </p:tgtEl>
                                        <p:attrNameLst>
                                          <p:attrName>style.visibility</p:attrName>
                                        </p:attrNameLst>
                                      </p:cBhvr>
                                      <p:to>
                                        <p:strVal val="visible"/>
                                      </p:to>
                                    </p:set>
                                    <p:animEffect transition="in" filter="fade">
                                      <p:cBhvr>
                                        <p:cTn id="157" dur="300"/>
                                        <p:tgtEl>
                                          <p:spTgt spid="30"/>
                                        </p:tgtEl>
                                      </p:cBhvr>
                                    </p:animEffect>
                                  </p:childTnLst>
                                </p:cTn>
                              </p:par>
                              <p:par>
                                <p:cTn id="159" presetID="10" presetClass="entr" presetSubtype="0" fill="hold" nodeType="withEffect">
                                  <p:stCondLst>
                                    <p:cond delay="0"/>
                                  </p:stCondLst>
                                  <p:childTnLst>
                                    <p:set>
                                      <p:cBhvr>
                                        <p:cTn id="160" dur="1" fill="hold">
                                          <p:stCondLst>
                                            <p:cond delay="0"/>
                                          </p:stCondLst>
                                        </p:cTn>
                                        <p:tgtEl>
                                          <p:spTgt spid="31"/>
                                        </p:tgtEl>
                                        <p:attrNameLst>
                                          <p:attrName>style.visibility</p:attrName>
                                        </p:attrNameLst>
                                      </p:cBhvr>
                                      <p:to>
                                        <p:strVal val="visible"/>
                                      </p:to>
                                    </p:set>
                                    <p:animEffect transition="in" filter="fade">
                                      <p:cBhvr>
                                        <p:cTn id="161" dur="300"/>
                                        <p:tgtEl>
                                          <p:spTgt spid="31"/>
                                        </p:tgtEl>
                                      </p:cBhvr>
                                    </p:animEffect>
                                  </p:childTnLst>
                                </p:cTn>
                              </p:par>
                              <p:par>
                                <p:cTn id="163" presetID="10" presetClass="entr" presetSubtype="0" fill="hold" nodeType="withEffect">
                                  <p:stCondLst>
                                    <p:cond delay="0"/>
                                  </p:stCondLst>
                                  <p:childTnLst>
                                    <p:set>
                                      <p:cBhvr>
                                        <p:cTn id="164" dur="1" fill="hold">
                                          <p:stCondLst>
                                            <p:cond delay="0"/>
                                          </p:stCondLst>
                                        </p:cTn>
                                        <p:tgtEl>
                                          <p:spTgt spid="32"/>
                                        </p:tgtEl>
                                        <p:attrNameLst>
                                          <p:attrName>style.visibility</p:attrName>
                                        </p:attrNameLst>
                                      </p:cBhvr>
                                      <p:to>
                                        <p:strVal val="visible"/>
                                      </p:to>
                                    </p:set>
                                    <p:animEffect transition="in" filter="fade">
                                      <p:cBhvr>
                                        <p:cTn id="165" dur="300"/>
                                        <p:tgtEl>
                                          <p:spTgt spid="32"/>
                                        </p:tgtEl>
                                      </p:cBhvr>
                                    </p:animEffect>
                                  </p:childTnLst>
                                </p:cTn>
                              </p:par>
                              <p:par>
                                <p:cTn id="167" presetID="10" presetClass="entr" presetSubtype="0" fill="hold" nodeType="withEffect">
                                  <p:stCondLst>
                                    <p:cond delay="0"/>
                                  </p:stCondLst>
                                  <p:childTnLst>
                                    <p:set>
                                      <p:cBhvr>
                                        <p:cTn id="168" dur="1" fill="hold">
                                          <p:stCondLst>
                                            <p:cond delay="0"/>
                                          </p:stCondLst>
                                        </p:cTn>
                                        <p:tgtEl>
                                          <p:spTgt spid="33"/>
                                        </p:tgtEl>
                                        <p:attrNameLst>
                                          <p:attrName>style.visibility</p:attrName>
                                        </p:attrNameLst>
                                      </p:cBhvr>
                                      <p:to>
                                        <p:strVal val="visible"/>
                                      </p:to>
                                    </p:set>
                                    <p:animEffect transition="in" filter="fade">
                                      <p:cBhvr>
                                        <p:cTn id="169" dur="300"/>
                                        <p:tgtEl>
                                          <p:spTgt spid="33"/>
                                        </p:tgtEl>
                                      </p:cBhvr>
                                    </p:animEffect>
                                  </p:childTnLst>
                                </p:cTn>
                              </p:par>
                            </p:childTnLst>
                          </p:cTn>
                        </p:par>
                      </p:childTnLst>
                    </p:cTn>
                  </p:par>
                  <p:par>
                    <p:cTn id="171" fill="hold">
                      <p:stCondLst>
                        <p:cond delay="indefinite"/>
                      </p:stCondLst>
                      <p:childTnLst>
                        <p:par>
                          <p:cTn id="172" fill="hold">
                            <p:stCondLst>
                              <p:cond delay="0"/>
                            </p:stCondLst>
                            <p:childTnLst>
                              <p:par>
                                <p:cTn id="173" presetID="10" presetClass="entr" presetSubtype="0" fill="hold" nodeType="clickEffect">
                                  <p:stCondLst>
                                    <p:cond delay="0"/>
                                  </p:stCondLst>
                                  <p:childTnLst>
                                    <p:set>
                                      <p:cBhvr>
                                        <p:cTn id="174" dur="1" fill="hold">
                                          <p:stCondLst>
                                            <p:cond delay="0"/>
                                          </p:stCondLst>
                                        </p:cTn>
                                        <p:tgtEl>
                                          <p:spTgt spid="50"/>
                                        </p:tgtEl>
                                        <p:attrNameLst>
                                          <p:attrName>style.visibility</p:attrName>
                                        </p:attrNameLst>
                                      </p:cBhvr>
                                      <p:to>
                                        <p:strVal val="visible"/>
                                      </p:to>
                                    </p:set>
                                    <p:animEffect transition="in" filter="fade">
                                      <p:cBhvr>
                                        <p:cTn id="175" dur="300"/>
                                        <p:tgtEl>
                                          <p:spTgt spid="50"/>
                                        </p:tgtEl>
                                      </p:cBhvr>
                                    </p:animEffect>
                                  </p:childTnLst>
                                </p:cTn>
                              </p:par>
                              <p:par>
                                <p:cTn id="177" presetID="1" presetClass="exit" presetSubtype="0" fill="hold" nodeType="withEffect">
                                  <p:stCondLst>
                                    <p:cond delay="0"/>
                                  </p:stCondLst>
                                  <p:childTnLst>
                                    <p:set>
                                      <p:cBhvr>
                                        <p:cTn id="178" dur="1" fill="hold">
                                          <p:stCondLst>
                                            <p:cond delay="0"/>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b) Hoàn thiện Nhà nước pháp quyền — Một là, Hai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6229350" y="22955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29350" y="3738562"/>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552950" y="5938838"/>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2172950" y="3109912"/>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087350" y="6938962"/>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66750" y="1762125"/>
            <a:ext cx="552450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Nhà nước mang bản chất giai cấp công nhân</a:t>
            </a:r>
          </a:p>
        </p:txBody>
      </p:sp>
      <p:sp>
        <p:nvSpPr>
          <p:cNvPr id="15" name="Rounded Rectangle 14"/>
          <p:cNvSpPr/>
          <p:nvPr/>
        </p:nvSpPr>
        <p:spPr>
          <a:xfrm>
            <a:off x="6610350" y="1762125"/>
            <a:ext cx="5524500"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Bản chất giai cấp công nhân; gắn bó chặt chẽ với dân tộc, nhân dân</a:t>
            </a:r>
          </a:p>
        </p:txBody>
      </p:sp>
      <p:sp>
        <p:nvSpPr>
          <p:cNvPr id="16" name="Rounded Rectangle 15"/>
          <p:cNvSpPr/>
          <p:nvPr/>
        </p:nvSpPr>
        <p:spPr>
          <a:xfrm>
            <a:off x="666750" y="3019425"/>
            <a:ext cx="5524500" cy="1438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Kiểm soát quyền lực nhà nước</a:t>
            </a:r>
          </a:p>
        </p:txBody>
      </p:sp>
      <p:sp>
        <p:nvSpPr>
          <p:cNvPr id="17" name="Rounded Rectangle 16"/>
          <p:cNvSpPr/>
          <p:nvPr/>
        </p:nvSpPr>
        <p:spPr>
          <a:xfrm>
            <a:off x="6610350" y="3019425"/>
            <a:ext cx="55245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lực thống nhất; phân công, phối hợp: lập pháp – hành pháp – tư pháp</a:t>
            </a:r>
          </a:p>
        </p:txBody>
      </p:sp>
      <p:sp>
        <p:nvSpPr>
          <p:cNvPr id="18" name="Rounded Rectangle 17"/>
          <p:cNvSpPr/>
          <p:nvPr/>
        </p:nvSpPr>
        <p:spPr>
          <a:xfrm>
            <a:off x="12839700" y="2247900"/>
            <a:ext cx="47815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Một là: xây dựng Nhà nước pháp quyền DƯỚI SỰ LÃNH ĐẠO CỦA ĐẢNG</a:t>
            </a:r>
          </a:p>
        </p:txBody>
      </p:sp>
      <p:sp>
        <p:nvSpPr>
          <p:cNvPr id="19" name="Rounded Rectangle 18"/>
          <p:cNvSpPr/>
          <p:nvPr/>
        </p:nvSpPr>
        <p:spPr>
          <a:xfrm>
            <a:off x="12839700" y="2247900"/>
            <a:ext cx="47815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20" name="Rounded Rectangle 19"/>
          <p:cNvSpPr/>
          <p:nvPr/>
        </p:nvSpPr>
        <p:spPr>
          <a:xfrm>
            <a:off x="666750" y="4838700"/>
            <a:ext cx="3848100" cy="2200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Quốc hội là cơ quan quyền lực nhà nước cao nhất</a:t>
            </a:r>
          </a:p>
        </p:txBody>
      </p:sp>
      <p:sp>
        <p:nvSpPr>
          <p:cNvPr id="21" name="Rounded Rectangle 20"/>
          <p:cNvSpPr/>
          <p:nvPr/>
        </p:nvSpPr>
        <p:spPr>
          <a:xfrm>
            <a:off x="4933950" y="4838700"/>
            <a:ext cx="3848100"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Quốc hội: cơ quan quyền lực cao nhất; lập hiến, lập pháp; một số nhiệm vụ hành pháp, tư pháp; giám sát tối cao</a:t>
            </a:r>
          </a:p>
        </p:txBody>
      </p:sp>
      <p:sp>
        <p:nvSpPr>
          <p:cNvPr id="22" name="Rounded Rectangle 21"/>
          <p:cNvSpPr/>
          <p:nvPr/>
        </p:nvSpPr>
        <p:spPr>
          <a:xfrm>
            <a:off x="9201150" y="4838700"/>
            <a:ext cx="3848100"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Hành chính: dân chủ, trong sạch, vững mạnh, từng bước hiện đại hóa</a:t>
            </a:r>
          </a:p>
        </p:txBody>
      </p:sp>
      <p:sp>
        <p:nvSpPr>
          <p:cNvPr id="23" name="Rounded Rectangle 22"/>
          <p:cNvSpPr/>
          <p:nvPr/>
        </p:nvSpPr>
        <p:spPr>
          <a:xfrm>
            <a:off x="666750" y="72294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Giảm mạnh, bãi bỏ thủ tục gây phiền hà; nâng cao năng lực thực hiện cơ chế, chính sách</a:t>
            </a:r>
          </a:p>
        </p:txBody>
      </p:sp>
      <p:sp>
        <p:nvSpPr>
          <p:cNvPr id="24" name="Rounded Rectangle 23"/>
          <p:cNvSpPr/>
          <p:nvPr/>
        </p:nvSpPr>
        <p:spPr>
          <a:xfrm>
            <a:off x="4933950" y="72294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Xã hội hóa dịch vụ công</a:t>
            </a:r>
          </a:p>
        </p:txBody>
      </p:sp>
      <p:sp>
        <p:nvSpPr>
          <p:cNvPr id="25" name="Rounded Rectangle 24"/>
          <p:cNvSpPr/>
          <p:nvPr/>
        </p:nvSpPr>
        <p:spPr>
          <a:xfrm>
            <a:off x="13754100" y="6076950"/>
            <a:ext cx="38671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Hai là: CẢI CÁCH THỂ CHẾ và phương thức hoạt động</a:t>
            </a:r>
          </a:p>
        </p:txBody>
      </p:sp>
      <p:sp>
        <p:nvSpPr>
          <p:cNvPr id="26" name="Rounded Rectangle 25"/>
          <p:cNvSpPr/>
          <p:nvPr/>
        </p:nvSpPr>
        <p:spPr>
          <a:xfrm>
            <a:off x="13754100" y="6076950"/>
            <a:ext cx="38671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00"/>
                                        <p:tgtEl>
                                          <p:spTgt spid="14"/>
                                        </p:tgtEl>
                                      </p:cBhvr>
                                    </p:animEffect>
                                  </p:childTnLst>
                                </p:cTn>
                              </p:par>
                              <p:par>
                                <p:cTn id="9" presetID="10"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00"/>
                                        <p:tgtEl>
                                          <p:spTgt spid="15"/>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3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00"/>
                                        <p:tgtEl>
                                          <p:spTgt spid="17"/>
                                        </p:tgtEl>
                                      </p:cBhvr>
                                    </p:animEffect>
                                  </p:childTnLst>
                                </p:cTn>
                              </p:par>
                              <p:par>
                                <p:cTn id="31" presetID="10"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00"/>
                                        <p:tgtEl>
                                          <p:spTgt spid="18"/>
                                        </p:tgtEl>
                                      </p:cBhvr>
                                    </p:animEffec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00"/>
                                        <p:tgtEl>
                                          <p:spTgt spid="21"/>
                                        </p:tgtEl>
                                      </p:cBhvr>
                                    </p:animEffect>
                                  </p:childTnLst>
                                </p:cTn>
                              </p:par>
                              <p:par>
                                <p:cTn id="54" presetID="10" presetClass="entr" presetSubtype="0" fill="hold"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300"/>
                                        <p:tgtEl>
                                          <p:spTgt spid="11"/>
                                        </p:tgtEl>
                                      </p:cBhvr>
                                    </p:animEffect>
                                  </p:childTnLst>
                                </p:cTn>
                              </p:par>
                              <p:par>
                                <p:cTn id="58" presetID="10" presetClass="entr" presetSubtype="0" fill="hold"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300"/>
                                        <p:tgtEl>
                                          <p:spTgt spid="1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300"/>
                                        <p:tgtEl>
                                          <p:spTgt spid="2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300"/>
                                        <p:tgtEl>
                                          <p:spTgt spid="23"/>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300"/>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300"/>
                                        <p:tgtEl>
                                          <p:spTgt spid="25"/>
                                        </p:tgtEl>
                                      </p:cBhvr>
                                    </p:animEffect>
                                  </p:childTnLst>
                                </p:cTn>
                              </p:par>
                              <p:par>
                                <p:cTn id="86" presetID="1" presetClass="exit" presetSubtype="0" fill="hold" nodeType="withEffect">
                                  <p:stCondLst>
                                    <p:cond delay="0"/>
                                  </p:stCondLst>
                                  <p:childTnLst>
                                    <p:set>
                                      <p:cBhvr>
                                        <p:cTn id="87"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b) Hoàn thiện Nhà nước pháp quyền — Ba là, Bốn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13087350" y="3524250"/>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087350" y="66532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277850" y="66532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411200" y="6653212"/>
            <a:ext cx="0" cy="4905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411200" y="71437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411200" y="72771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687675" y="6076950"/>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66750" y="26193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Bản lĩnh chính trị, phẩm chất đạo đức, năng lực lãnh đạo, điều hành</a:t>
            </a:r>
          </a:p>
        </p:txBody>
      </p:sp>
      <p:sp>
        <p:nvSpPr>
          <p:cNvPr id="17" name="Rounded Rectangle 16"/>
          <p:cNvSpPr/>
          <p:nvPr/>
        </p:nvSpPr>
        <p:spPr>
          <a:xfrm>
            <a:off x="4933950" y="26193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Đãi ngộ, động viên, khuyến khích người hoàn thành tốt nhiệm vụ</a:t>
            </a:r>
          </a:p>
        </p:txBody>
      </p:sp>
      <p:sp>
        <p:nvSpPr>
          <p:cNvPr id="18" name="Rounded Rectangle 17"/>
          <p:cNvSpPr/>
          <p:nvPr/>
        </p:nvSpPr>
        <p:spPr>
          <a:xfrm>
            <a:off x="9201150" y="26193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Loại bỏ, miễn nhiệm người không hoàn thành nhiệm vụ, vi phạm kỷ luật, đạo đức công vụ</a:t>
            </a:r>
          </a:p>
        </p:txBody>
      </p:sp>
      <p:sp>
        <p:nvSpPr>
          <p:cNvPr id="19" name="Rounded Rectangle 18"/>
          <p:cNvSpPr/>
          <p:nvPr/>
        </p:nvSpPr>
        <p:spPr>
          <a:xfrm>
            <a:off x="13754100" y="2457450"/>
            <a:ext cx="38671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Ba là: đội ngũ cán bộ, công chức TRONG SẠCH, CÓ NĂNG LỰC</a:t>
            </a:r>
          </a:p>
        </p:txBody>
      </p:sp>
      <p:sp>
        <p:nvSpPr>
          <p:cNvPr id="20" name="Rounded Rectangle 19"/>
          <p:cNvSpPr/>
          <p:nvPr/>
        </p:nvSpPr>
        <p:spPr>
          <a:xfrm>
            <a:off x="13754100" y="2457450"/>
            <a:ext cx="3867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21" name="Rounded Rectangle 20"/>
          <p:cNvSpPr/>
          <p:nvPr/>
        </p:nvSpPr>
        <p:spPr>
          <a:xfrm>
            <a:off x="666750" y="5314950"/>
            <a:ext cx="3848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Hoàn thiện thể chế + cải cách hành chính</a:t>
            </a:r>
          </a:p>
        </p:txBody>
      </p:sp>
      <p:sp>
        <p:nvSpPr>
          <p:cNvPr id="22" name="Rounded Rectangle 21"/>
          <p:cNvSpPr/>
          <p:nvPr/>
        </p:nvSpPr>
        <p:spPr>
          <a:xfrm>
            <a:off x="4933950" y="5314950"/>
            <a:ext cx="3848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Khuyến khích và bảo vệ người đấu tranh chống tham nhũng</a:t>
            </a:r>
          </a:p>
        </p:txBody>
      </p:sp>
      <p:sp>
        <p:nvSpPr>
          <p:cNvPr id="23" name="Rounded Rectangle 22"/>
          <p:cNvSpPr/>
          <p:nvPr/>
        </p:nvSpPr>
        <p:spPr>
          <a:xfrm>
            <a:off x="9201150" y="5314950"/>
            <a:ext cx="3848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Chế tài xử lý cá nhân, tổ chức vi phạm</a:t>
            </a:r>
          </a:p>
        </p:txBody>
      </p:sp>
      <p:sp>
        <p:nvSpPr>
          <p:cNvPr id="24" name="Rounded Rectangle 23"/>
          <p:cNvSpPr/>
          <p:nvPr/>
        </p:nvSpPr>
        <p:spPr>
          <a:xfrm>
            <a:off x="666750" y="6943725"/>
            <a:ext cx="3848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Toàn Đảng, toàn dân thực hành tiết kiệm</a:t>
            </a:r>
          </a:p>
        </p:txBody>
      </p:sp>
      <p:sp>
        <p:nvSpPr>
          <p:cNvPr id="25" name="Rounded Rectangle 24"/>
          <p:cNvSpPr/>
          <p:nvPr/>
        </p:nvSpPr>
        <p:spPr>
          <a:xfrm>
            <a:off x="13754100" y="4972050"/>
            <a:ext cx="38671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ngăn ngừa và trừng trị tham nhũng</a:t>
            </a:r>
          </a:p>
        </p:txBody>
      </p:sp>
      <p:sp>
        <p:nvSpPr>
          <p:cNvPr id="26" name="Rounded Rectangle 25"/>
          <p:cNvSpPr/>
          <p:nvPr/>
        </p:nvSpPr>
        <p:spPr>
          <a:xfrm>
            <a:off x="13754100" y="6210300"/>
            <a:ext cx="38671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Bốn là: phòng, chống tham nhũng, lãng phí — nhiệm vụ CẤP BÁCH, LÂU DÀI</a:t>
            </a:r>
          </a:p>
        </p:txBody>
      </p:sp>
      <p:sp>
        <p:nvSpPr>
          <p:cNvPr id="27" name="Rounded Rectangle 26"/>
          <p:cNvSpPr/>
          <p:nvPr/>
        </p:nvSpPr>
        <p:spPr>
          <a:xfrm>
            <a:off x="13754100" y="6210300"/>
            <a:ext cx="3867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300"/>
                                        <p:tgtEl>
                                          <p:spTgt spid="16"/>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300"/>
                                        <p:tgtEl>
                                          <p:spTgt spid="19"/>
                                        </p:tgtEl>
                                      </p:cBhvr>
                                    </p:animEffect>
                                  </p:childTnLst>
                                </p:cTn>
                              </p:par>
                              <p:par>
                                <p:cTn id="31" presetID="1" presetClass="exit" presetSubtype="0" fill="hold" nodeType="withEffect">
                                  <p:stCondLst>
                                    <p:cond delay="0"/>
                                  </p:stCondLst>
                                  <p:childTnLst>
                                    <p:set>
                                      <p:cBhvr>
                                        <p:cTn id="32" dur="1" fill="hold">
                                          <p:stCondLst>
                                            <p:cond delay="0"/>
                                          </p:stCondLst>
                                        </p:cTn>
                                        <p:tgtEl>
                                          <p:spTgt spid="2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3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300"/>
                                        <p:tgtEl>
                                          <p:spTgt spid="10"/>
                                        </p:tgtEl>
                                      </p:cBhvr>
                                    </p:animEffect>
                                  </p:childTnLst>
                                </p:cTn>
                              </p:par>
                              <p:par>
                                <p:cTn id="44" presetID="10" presetClass="entr" presetSubtype="0" fill="hold" nodeType="with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300"/>
                                        <p:tgtEl>
                                          <p:spTgt spid="11"/>
                                        </p:tgtEl>
                                      </p:cBhvr>
                                    </p:animEffect>
                                  </p:childTnLst>
                                </p:cTn>
                              </p:par>
                              <p:par>
                                <p:cTn id="48" presetID="10"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300"/>
                                        <p:tgtEl>
                                          <p:spTgt spid="12"/>
                                        </p:tgtEl>
                                      </p:cBhvr>
                                    </p:animEffect>
                                  </p:childTnLst>
                                </p:cTn>
                              </p:par>
                              <p:par>
                                <p:cTn id="52" presetID="10" presetClass="entr" presetSubtype="0" fill="hold"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00"/>
                                        <p:tgtEl>
                                          <p:spTgt spid="13"/>
                                        </p:tgtEl>
                                      </p:cBhvr>
                                    </p:animEffect>
                                  </p:childTnLst>
                                </p:cTn>
                              </p:par>
                              <p:par>
                                <p:cTn id="56" presetID="10" presetClass="entr" presetSubtype="0" fill="hold"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300"/>
                                        <p:tgtEl>
                                          <p:spTgt spid="1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300"/>
                                        <p:tgtEl>
                                          <p:spTgt spid="2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00"/>
                                        <p:tgtEl>
                                          <p:spTgt spid="2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300"/>
                                        <p:tgtEl>
                                          <p:spTgt spid="2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300"/>
                                        <p:tgtEl>
                                          <p:spTgt spid="25"/>
                                        </p:tgtEl>
                                      </p:cBhvr>
                                    </p:animEffect>
                                  </p:childTnLst>
                                </p:cTn>
                              </p:par>
                              <p:par>
                                <p:cTn id="84" presetID="10" presetClass="entr" presetSubtype="0" fill="hold" nodeType="withEffect">
                                  <p:stCondLst>
                                    <p:cond delay="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300"/>
                                        <p:tgtEl>
                                          <p:spTgt spid="15"/>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6"/>
                                        </p:tgtEl>
                                        <p:attrNameLst>
                                          <p:attrName>style.visibility</p:attrName>
                                        </p:attrNameLst>
                                      </p:cBhvr>
                                      <p:to>
                                        <p:strVal val="visible"/>
                                      </p:to>
                                    </p:set>
                                    <p:animEffect transition="in" filter="fade">
                                      <p:cBhvr>
                                        <p:cTn id="92" dur="300"/>
                                        <p:tgtEl>
                                          <p:spTgt spid="26"/>
                                        </p:tgtEl>
                                      </p:cBhvr>
                                    </p:animEffect>
                                  </p:childTnLst>
                                </p:cTn>
                              </p:par>
                              <p:par>
                                <p:cTn id="94" presetID="1" presetClass="exit" presetSubtype="0" fill="hold" nodeType="withEffect">
                                  <p:stCondLst>
                                    <p:cond delay="0"/>
                                  </p:stCondLst>
                                  <p:childTnLst>
                                    <p:set>
                                      <p:cBhvr>
                                        <p:cTn id="95" dur="1" fill="hold">
                                          <p:stCondLst>
                                            <p:cond delay="0"/>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Phần 3 — Mỗi giải pháp nối về đâu?</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6772275" y="2819400"/>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72275" y="3695700"/>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72275" y="47720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772275" y="60293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72275" y="70961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72275" y="7981950"/>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0"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3449300"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3582650" y="3829050"/>
            <a:ext cx="0" cy="15716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3582650" y="369570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582650" y="36957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0"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449300"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582650" y="5400675"/>
            <a:ext cx="0" cy="11715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3582650" y="65722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582650" y="67056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6750" y="2476500"/>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Trở ngại: kinh tế kém phát triển</a:t>
            </a:r>
          </a:p>
        </p:txBody>
      </p:sp>
      <p:sp>
        <p:nvSpPr>
          <p:cNvPr id="26" name="Rounded Rectangle 25"/>
          <p:cNvSpPr/>
          <p:nvPr/>
        </p:nvSpPr>
        <p:spPr>
          <a:xfrm>
            <a:off x="7153275" y="2476500"/>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sở kinh tế vững chắc</a:t>
            </a:r>
          </a:p>
        </p:txBody>
      </p:sp>
      <p:sp>
        <p:nvSpPr>
          <p:cNvPr id="27" name="Rounded Rectangle 26"/>
          <p:cNvSpPr/>
          <p:nvPr/>
        </p:nvSpPr>
        <p:spPr>
          <a:xfrm>
            <a:off x="666750" y="3352800"/>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dân trí chưa đúng vị trí</a:t>
            </a:r>
          </a:p>
        </p:txBody>
      </p:sp>
      <p:sp>
        <p:nvSpPr>
          <p:cNvPr id="28" name="Rounded Rectangle 27"/>
          <p:cNvSpPr/>
          <p:nvPr/>
        </p:nvSpPr>
        <p:spPr>
          <a:xfrm>
            <a:off x="7153275" y="3352800"/>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dân trí</a:t>
            </a:r>
          </a:p>
        </p:txBody>
      </p:sp>
      <p:sp>
        <p:nvSpPr>
          <p:cNvPr id="29" name="Rounded Rectangle 28"/>
          <p:cNvSpPr/>
          <p:nvPr/>
        </p:nvSpPr>
        <p:spPr>
          <a:xfrm>
            <a:off x="666750" y="4238625"/>
            <a:ext cx="606742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Phương châm: dân biết, bàn, làm, kiểm tra</a:t>
            </a:r>
          </a:p>
        </p:txBody>
      </p:sp>
      <p:sp>
        <p:nvSpPr>
          <p:cNvPr id="30" name="Rounded Rectangle 29"/>
          <p:cNvSpPr/>
          <p:nvPr/>
        </p:nvSpPr>
        <p:spPr>
          <a:xfrm>
            <a:off x="7153275" y="4238625"/>
            <a:ext cx="6067425"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Giám sát, phản biện</a:t>
            </a:r>
          </a:p>
        </p:txBody>
      </p:sp>
      <p:sp>
        <p:nvSpPr>
          <p:cNvPr id="31" name="Rounded Rectangle 30"/>
          <p:cNvSpPr/>
          <p:nvPr/>
        </p:nvSpPr>
        <p:spPr>
          <a:xfrm>
            <a:off x="666750" y="5495925"/>
            <a:ext cx="606742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Nhà nước pháp quyền: bản chất giai cấp công nhân</a:t>
            </a:r>
          </a:p>
        </p:txBody>
      </p:sp>
      <p:sp>
        <p:nvSpPr>
          <p:cNvPr id="32" name="Rounded Rectangle 31"/>
          <p:cNvSpPr/>
          <p:nvPr/>
        </p:nvSpPr>
        <p:spPr>
          <a:xfrm>
            <a:off x="7153275" y="5495925"/>
            <a:ext cx="6067425"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Dưới sự lãnh đạo của Đảng</a:t>
            </a:r>
          </a:p>
        </p:txBody>
      </p:sp>
      <p:sp>
        <p:nvSpPr>
          <p:cNvPr id="33" name="Rounded Rectangle 32"/>
          <p:cNvSpPr/>
          <p:nvPr/>
        </p:nvSpPr>
        <p:spPr>
          <a:xfrm>
            <a:off x="666750" y="6753225"/>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Dân chủ gián tiếp: Quốc hội cao nhất</a:t>
            </a:r>
          </a:p>
        </p:txBody>
      </p:sp>
      <p:sp>
        <p:nvSpPr>
          <p:cNvPr id="34" name="Rounded Rectangle 33"/>
          <p:cNvSpPr/>
          <p:nvPr/>
        </p:nvSpPr>
        <p:spPr>
          <a:xfrm>
            <a:off x="7153275" y="6753225"/>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Cải cách Quốc hội</a:t>
            </a:r>
          </a:p>
        </p:txBody>
      </p:sp>
      <p:sp>
        <p:nvSpPr>
          <p:cNvPr id="35" name="Rounded Rectangle 34"/>
          <p:cNvSpPr/>
          <p:nvPr/>
        </p:nvSpPr>
        <p:spPr>
          <a:xfrm>
            <a:off x="666750" y="7639050"/>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trừng trị tham nhũng</a:t>
            </a:r>
          </a:p>
        </p:txBody>
      </p:sp>
      <p:sp>
        <p:nvSpPr>
          <p:cNvPr id="36" name="Rounded Rectangle 35"/>
          <p:cNvSpPr/>
          <p:nvPr/>
        </p:nvSpPr>
        <p:spPr>
          <a:xfrm>
            <a:off x="7153275" y="7639050"/>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Phòng, chống tham nhũng</a:t>
            </a:r>
          </a:p>
        </p:txBody>
      </p:sp>
      <p:sp>
        <p:nvSpPr>
          <p:cNvPr id="37" name="Rounded Rectangle 36"/>
          <p:cNvSpPr/>
          <p:nvPr/>
        </p:nvSpPr>
        <p:spPr>
          <a:xfrm>
            <a:off x="13925550" y="2933700"/>
            <a:ext cx="369570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a) Phát huy dân chủ XHCN — 5 giải pháp</a:t>
            </a:r>
          </a:p>
        </p:txBody>
      </p:sp>
      <p:sp>
        <p:nvSpPr>
          <p:cNvPr id="38" name="Rounded Rectangle 37"/>
          <p:cNvSpPr/>
          <p:nvPr/>
        </p:nvSpPr>
        <p:spPr>
          <a:xfrm>
            <a:off x="13925550" y="2933700"/>
            <a:ext cx="369570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9" name="Rounded Rectangle 38"/>
          <p:cNvSpPr/>
          <p:nvPr/>
        </p:nvSpPr>
        <p:spPr>
          <a:xfrm>
            <a:off x="13925550" y="5734050"/>
            <a:ext cx="369570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 Hoàn thiện Nhà nước pháp quyền XHCN — 4 giải pháp</a:t>
            </a:r>
          </a:p>
        </p:txBody>
      </p:sp>
      <p:sp>
        <p:nvSpPr>
          <p:cNvPr id="40" name="Rounded Rectangle 39"/>
          <p:cNvSpPr/>
          <p:nvPr/>
        </p:nvSpPr>
        <p:spPr>
          <a:xfrm>
            <a:off x="13925550" y="5734050"/>
            <a:ext cx="369570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300"/>
                                        <p:tgtEl>
                                          <p:spTgt spid="25"/>
                                        </p:tgtEl>
                                      </p:cBhvr>
                                    </p:animEffect>
                                  </p:childTnLst>
                                </p:cTn>
                              </p:par>
                              <p:par>
                                <p:cTn id="9" presetID="10"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300"/>
                                        <p:tgtEl>
                                          <p:spTgt spid="26"/>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00"/>
                                        <p:tgtEl>
                                          <p:spTgt spid="15"/>
                                        </p:tgtEl>
                                      </p:cBhvr>
                                    </p:animEffect>
                                  </p:childTnLst>
                                </p:cTn>
                              </p:par>
                              <p:par>
                                <p:cTn id="21" presetID="10"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00"/>
                                        <p:tgtEl>
                                          <p:spTgt spid="16"/>
                                        </p:tgtEl>
                                      </p:cBhvr>
                                    </p:animEffect>
                                  </p:childTnLst>
                                </p:cTn>
                              </p:par>
                              <p:par>
                                <p:cTn id="25" presetID="10"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300"/>
                                        <p:tgtEl>
                                          <p:spTgt spid="17"/>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3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3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3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300"/>
                                        <p:tgtEl>
                                          <p:spTgt spid="28"/>
                                        </p:tgtEl>
                                      </p:cBhvr>
                                    </p:animEffect>
                                  </p:childTnLst>
                                </p:cTn>
                              </p:par>
                              <p:par>
                                <p:cTn id="47" presetID="10" presetClass="entr" presetSubtype="0" fill="hold" nodeType="withEffect">
                                  <p:stCondLst>
                                    <p:cond delay="0"/>
                                  </p:stCondLst>
                                  <p:childTnLst>
                                    <p:set>
                                      <p:cBhvr>
                                        <p:cTn id="48" dur="1" fill="hold">
                                          <p:stCondLst>
                                            <p:cond delay="0"/>
                                          </p:stCondLst>
                                        </p:cTn>
                                        <p:tgtEl>
                                          <p:spTgt spid="10"/>
                                        </p:tgtEl>
                                        <p:attrNameLst>
                                          <p:attrName>style.visibility</p:attrName>
                                        </p:attrNameLst>
                                      </p:cBhvr>
                                      <p:to>
                                        <p:strVal val="visible"/>
                                      </p:to>
                                    </p:set>
                                    <p:animEffect transition="in" filter="fade">
                                      <p:cBhvr>
                                        <p:cTn id="49" dur="300"/>
                                        <p:tgtEl>
                                          <p:spTgt spid="1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300"/>
                                        <p:tgtEl>
                                          <p:spTgt spid="29"/>
                                        </p:tgtEl>
                                      </p:cBhvr>
                                    </p:animEffect>
                                  </p:childTnLst>
                                </p:cTn>
                              </p:par>
                              <p:par>
                                <p:cTn id="57" presetID="10" presetClass="entr" presetSubtype="0" fill="hold" nodeType="with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300"/>
                                        <p:tgtEl>
                                          <p:spTgt spid="30"/>
                                        </p:tgtEl>
                                      </p:cBhvr>
                                    </p:animEffect>
                                  </p:childTnLst>
                                </p:cTn>
                              </p:par>
                              <p:par>
                                <p:cTn id="61" presetID="10" presetClass="entr" presetSubtype="0" fill="hold" nodeType="with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fade">
                                      <p:cBhvr>
                                        <p:cTn id="63" dur="300"/>
                                        <p:tgtEl>
                                          <p:spTgt spid="11"/>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300"/>
                                        <p:tgtEl>
                                          <p:spTgt spid="31"/>
                                        </p:tgtEl>
                                      </p:cBhvr>
                                    </p:animEffect>
                                  </p:childTnLst>
                                </p:cTn>
                              </p:par>
                              <p:par>
                                <p:cTn id="71" presetID="10" presetClass="entr" presetSubtype="0" fill="hold"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300"/>
                                        <p:tgtEl>
                                          <p:spTgt spid="32"/>
                                        </p:tgtEl>
                                      </p:cBhvr>
                                    </p:animEffect>
                                  </p:childTnLst>
                                </p:cTn>
                              </p:par>
                              <p:par>
                                <p:cTn id="75" presetID="10" presetClass="entr" presetSubtype="0" fill="hold" nodeType="withEffect">
                                  <p:stCondLst>
                                    <p:cond delay="0"/>
                                  </p:stCondLst>
                                  <p:childTnLst>
                                    <p:set>
                                      <p:cBhvr>
                                        <p:cTn id="76" dur="1" fill="hold">
                                          <p:stCondLst>
                                            <p:cond delay="0"/>
                                          </p:stCondLst>
                                        </p:cTn>
                                        <p:tgtEl>
                                          <p:spTgt spid="12"/>
                                        </p:tgtEl>
                                        <p:attrNameLst>
                                          <p:attrName>style.visibility</p:attrName>
                                        </p:attrNameLst>
                                      </p:cBhvr>
                                      <p:to>
                                        <p:strVal val="visible"/>
                                      </p:to>
                                    </p:set>
                                    <p:animEffect transition="in" filter="fade">
                                      <p:cBhvr>
                                        <p:cTn id="77" dur="300"/>
                                        <p:tgtEl>
                                          <p:spTgt spid="12"/>
                                        </p:tgtEl>
                                      </p:cBhvr>
                                    </p:animEffect>
                                  </p:childTnLst>
                                </p:cTn>
                              </p:par>
                              <p:par>
                                <p:cTn id="79" presetID="10" presetClass="entr" presetSubtype="0"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3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300"/>
                                        <p:tgtEl>
                                          <p:spTgt spid="21"/>
                                        </p:tgtEl>
                                      </p:cBhvr>
                                    </p:animEffect>
                                  </p:childTnLst>
                                </p:cTn>
                              </p:par>
                              <p:par>
                                <p:cTn id="87" presetID="10" presetClass="entr" presetSubtype="0" fill="hold" nodeType="withEffect">
                                  <p:stCondLst>
                                    <p:cond delay="0"/>
                                  </p:stCondLst>
                                  <p:childTnLst>
                                    <p:set>
                                      <p:cBhvr>
                                        <p:cTn id="88" dur="1" fill="hold">
                                          <p:stCondLst>
                                            <p:cond delay="0"/>
                                          </p:stCondLst>
                                        </p:cTn>
                                        <p:tgtEl>
                                          <p:spTgt spid="22"/>
                                        </p:tgtEl>
                                        <p:attrNameLst>
                                          <p:attrName>style.visibility</p:attrName>
                                        </p:attrNameLst>
                                      </p:cBhvr>
                                      <p:to>
                                        <p:strVal val="visible"/>
                                      </p:to>
                                    </p:set>
                                    <p:animEffect transition="in" filter="fade">
                                      <p:cBhvr>
                                        <p:cTn id="89" dur="300"/>
                                        <p:tgtEl>
                                          <p:spTgt spid="22"/>
                                        </p:tgtEl>
                                      </p:cBhvr>
                                    </p:animEffect>
                                  </p:childTnLst>
                                </p:cTn>
                              </p:par>
                              <p:par>
                                <p:cTn id="91" presetID="10" presetClass="entr" presetSubtype="0" fill="hold" nodeType="with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300"/>
                                        <p:tgtEl>
                                          <p:spTgt spid="23"/>
                                        </p:tgtEl>
                                      </p:cBhvr>
                                    </p:animEffect>
                                  </p:childTnLst>
                                </p:cTn>
                              </p:par>
                              <p:par>
                                <p:cTn id="95" presetID="10" presetClass="entr" presetSubtype="0" fill="hold" nodeType="withEffect">
                                  <p:stCondLst>
                                    <p:cond delay="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300"/>
                                        <p:tgtEl>
                                          <p:spTgt spid="24"/>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33"/>
                                        </p:tgtEl>
                                        <p:attrNameLst>
                                          <p:attrName>style.visibility</p:attrName>
                                        </p:attrNameLst>
                                      </p:cBhvr>
                                      <p:to>
                                        <p:strVal val="visible"/>
                                      </p:to>
                                    </p:set>
                                    <p:animEffect transition="in" filter="fade">
                                      <p:cBhvr>
                                        <p:cTn id="103" dur="300"/>
                                        <p:tgtEl>
                                          <p:spTgt spid="33"/>
                                        </p:tgtEl>
                                      </p:cBhvr>
                                    </p:animEffect>
                                  </p:childTnLst>
                                </p:cTn>
                              </p:par>
                              <p:par>
                                <p:cTn id="105" presetID="10" presetClass="entr" presetSubtype="0" fill="hold" nodeType="with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300"/>
                                        <p:tgtEl>
                                          <p:spTgt spid="34"/>
                                        </p:tgtEl>
                                      </p:cBhvr>
                                    </p:animEffect>
                                  </p:childTnLst>
                                </p:cTn>
                              </p:par>
                              <p:par>
                                <p:cTn id="109" presetID="10" presetClass="entr" presetSubtype="0" fill="hold" nodeType="withEffect">
                                  <p:stCondLst>
                                    <p:cond delay="0"/>
                                  </p:stCondLst>
                                  <p:childTnLst>
                                    <p:set>
                                      <p:cBhvr>
                                        <p:cTn id="110" dur="1" fill="hold">
                                          <p:stCondLst>
                                            <p:cond delay="0"/>
                                          </p:stCondLst>
                                        </p:cTn>
                                        <p:tgtEl>
                                          <p:spTgt spid="13"/>
                                        </p:tgtEl>
                                        <p:attrNameLst>
                                          <p:attrName>style.visibility</p:attrName>
                                        </p:attrNameLst>
                                      </p:cBhvr>
                                      <p:to>
                                        <p:strVal val="visible"/>
                                      </p:to>
                                    </p:set>
                                    <p:animEffect transition="in" filter="fade">
                                      <p:cBhvr>
                                        <p:cTn id="111" dur="300"/>
                                        <p:tgtEl>
                                          <p:spTgt spid="13"/>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nodeType="click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300"/>
                                        <p:tgtEl>
                                          <p:spTgt spid="35"/>
                                        </p:tgtEl>
                                      </p:cBhvr>
                                    </p:animEffect>
                                  </p:childTnLst>
                                </p:cTn>
                              </p:par>
                              <p:par>
                                <p:cTn id="119" presetID="10" presetClass="entr" presetSubtype="0" fill="hold" nodeType="withEffect">
                                  <p:stCondLst>
                                    <p:cond delay="0"/>
                                  </p:stCondLst>
                                  <p:childTnLst>
                                    <p:set>
                                      <p:cBhvr>
                                        <p:cTn id="120" dur="1" fill="hold">
                                          <p:stCondLst>
                                            <p:cond delay="0"/>
                                          </p:stCondLst>
                                        </p:cTn>
                                        <p:tgtEl>
                                          <p:spTgt spid="36"/>
                                        </p:tgtEl>
                                        <p:attrNameLst>
                                          <p:attrName>style.visibility</p:attrName>
                                        </p:attrNameLst>
                                      </p:cBhvr>
                                      <p:to>
                                        <p:strVal val="visible"/>
                                      </p:to>
                                    </p:set>
                                    <p:animEffect transition="in" filter="fade">
                                      <p:cBhvr>
                                        <p:cTn id="121" dur="300"/>
                                        <p:tgtEl>
                                          <p:spTgt spid="36"/>
                                        </p:tgtEl>
                                      </p:cBhvr>
                                    </p:animEffect>
                                  </p:childTnLst>
                                </p:cTn>
                              </p:par>
                              <p:par>
                                <p:cTn id="123" presetID="10" presetClass="entr" presetSubtype="0" fill="hold" nodeType="withEffect">
                                  <p:stCondLst>
                                    <p:cond delay="0"/>
                                  </p:stCondLst>
                                  <p:childTnLst>
                                    <p:set>
                                      <p:cBhvr>
                                        <p:cTn id="124" dur="1" fill="hold">
                                          <p:stCondLst>
                                            <p:cond delay="0"/>
                                          </p:stCondLst>
                                        </p:cTn>
                                        <p:tgtEl>
                                          <p:spTgt spid="14"/>
                                        </p:tgtEl>
                                        <p:attrNameLst>
                                          <p:attrName>style.visibility</p:attrName>
                                        </p:attrNameLst>
                                      </p:cBhvr>
                                      <p:to>
                                        <p:strVal val="visible"/>
                                      </p:to>
                                    </p:set>
                                    <p:animEffect transition="in" filter="fade">
                                      <p:cBhvr>
                                        <p:cTn id="125" dur="300"/>
                                        <p:tgtEl>
                                          <p:spTgt spid="14"/>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300"/>
                                        <p:tgtEl>
                                          <p:spTgt spid="37"/>
                                        </p:tgtEl>
                                      </p:cBhvr>
                                    </p:animEffect>
                                  </p:childTnLst>
                                </p:cTn>
                              </p:par>
                              <p:par>
                                <p:cTn id="133" presetID="10" presetClass="entr" presetSubtype="0" fill="hold" nodeType="withEffect">
                                  <p:stCondLst>
                                    <p:cond delay="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300"/>
                                        <p:tgtEl>
                                          <p:spTgt spid="39"/>
                                        </p:tgtEl>
                                      </p:cBhvr>
                                    </p:animEffect>
                                  </p:childTnLst>
                                </p:cTn>
                              </p:par>
                              <p:par>
                                <p:cTn id="137" presetID="1" presetClass="exit" presetSubtype="0" fill="hold" nodeType="withEffect">
                                  <p:stCondLst>
                                    <p:cond delay="0"/>
                                  </p:stCondLst>
                                  <p:childTnLst>
                                    <p:set>
                                      <p:cBhvr>
                                        <p:cTn id="138" dur="1" fill="hold">
                                          <p:stCondLst>
                                            <p:cond delay="0"/>
                                          </p:stCondLst>
                                        </p:cTn>
                                        <p:tgtEl>
                                          <p:spTgt spid="38"/>
                                        </p:tgtEl>
                                        <p:attrNameLst>
                                          <p:attrName>style.visibility</p:attrName>
                                        </p:attrNameLst>
                                      </p:cBhvr>
                                      <p:to>
                                        <p:strVal val="hidden"/>
                                      </p:to>
                                    </p:set>
                                  </p:childTnLst>
                                </p:cTn>
                              </p:par>
                              <p:par>
                                <p:cTn id="140" presetID="1" presetClass="exit" presetSubtype="0" fill="hold" nodeType="withEffect">
                                  <p:stCondLst>
                                    <p:cond delay="0"/>
                                  </p:stCondLst>
                                  <p:childTnLst>
                                    <p:set>
                                      <p:cBhvr>
                                        <p:cTn id="141" dur="1" fill="hold">
                                          <p:stCondLst>
                                            <p:cond delay="0"/>
                                          </p:stCondLst>
                                        </p:cTn>
                                        <p:tgtEl>
                                          <p:spTgt spid="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Dân chủ XHCN và Nhà nước pháp quyền XHCN ở Việt Nam</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9144000" y="7820025"/>
            <a:ext cx="0" cy="619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144000" y="7881938"/>
            <a:ext cx="0" cy="619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0" y="7943850"/>
            <a:ext cx="50101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154150" y="794385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235112" y="794385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182225" y="8815388"/>
            <a:ext cx="60007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66750" y="1447800"/>
            <a:ext cx="5800725" cy="1733550"/>
          </a:xfrm>
          <a:prstGeom prst="roundRect">
            <a:avLst>
              <a:gd name="adj" fmla="val 6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152400" rIns="152400" tIns="95250" bIns="95250"/>
          <a:lstStyle/>
          <a:p>
            <a:pPr algn="l"/>
            <a:r>
              <a:rPr sz="1567" b="1" i="0">
                <a:solidFill>
                  <a:srgbClr val="8C2F2B"/>
                </a:solidFill>
                <a:latin typeface="Arial"/>
              </a:rPr>
              <a:t>1 · Dân chủ XHCN ở Việt Nam</a:t>
            </a:r>
          </a:p>
          <a:p>
            <a:pPr algn="l"/>
            <a:r>
              <a:rPr sz="1211" b="0" i="0">
                <a:solidFill>
                  <a:srgbClr val="2B2622"/>
                </a:solidFill>
                <a:latin typeface="Arial"/>
              </a:rPr>
              <a:t>Một dữ kiện mở đầu   ·   </a:t>
            </a:r>
            <a:r>
              <a:rPr sz="1211" b="0" i="0">
                <a:solidFill>
                  <a:srgbClr val="2B2622"/>
                </a:solidFill>
                <a:latin typeface="Arial"/>
              </a:rPr>
              <a:t>Trước Đổi mới   ·   </a:t>
            </a:r>
            <a:r>
              <a:rPr sz="1211" b="0" i="0">
                <a:solidFill>
                  <a:srgbClr val="2B2622"/>
                </a:solidFill>
                <a:latin typeface="Arial"/>
              </a:rPr>
              <a:t>Đại hội VI   ·   </a:t>
            </a:r>
            <a:r>
              <a:rPr sz="1211" b="0" i="0">
                <a:solidFill>
                  <a:srgbClr val="2B2622"/>
                </a:solidFill>
                <a:latin typeface="Arial"/>
              </a:rPr>
              <a:t>Ba mươi lăm năm đổi mới   ·   </a:t>
            </a:r>
            <a:r>
              <a:rPr sz="1211" b="0" i="0">
                <a:solidFill>
                  <a:srgbClr val="2B2622"/>
                </a:solidFill>
                <a:latin typeface="Arial"/>
              </a:rPr>
              <a:t>Bảy chữ “dân”   ·   </a:t>
            </a:r>
            <a:r>
              <a:rPr sz="1211" b="0" i="0">
                <a:solidFill>
                  <a:srgbClr val="2B2622"/>
                </a:solidFill>
                <a:latin typeface="Arial"/>
              </a:rPr>
              <a:t>Bốn nội dung   ·   </a:t>
            </a:r>
            <a:r>
              <a:rPr sz="1211" b="0" i="0">
                <a:solidFill>
                  <a:srgbClr val="2B2622"/>
                </a:solidFill>
                <a:latin typeface="Arial"/>
              </a:rPr>
              <a:t>Hai hình thức   ·   </a:t>
            </a:r>
            <a:r>
              <a:rPr sz="1211" b="0" i="0">
                <a:solidFill>
                  <a:srgbClr val="2B2622"/>
                </a:solidFill>
                <a:latin typeface="Arial"/>
              </a:rPr>
              <a:t>Thực tiễn   ·   </a:t>
            </a:r>
            <a:r>
              <a:rPr sz="1211" b="0" i="0">
                <a:solidFill>
                  <a:srgbClr val="2B2622"/>
                </a:solidFill>
                <a:latin typeface="Arial"/>
              </a:rPr>
              <a:t>Trở ngại   ·   </a:t>
            </a:r>
            <a:r>
              <a:rPr sz="1211" b="0" i="0">
                <a:solidFill>
                  <a:srgbClr val="2B2622"/>
                </a:solidFill>
                <a:latin typeface="Arial"/>
              </a:rPr>
              <a:t>Khái quát phần 1</a:t>
            </a:r>
          </a:p>
        </p:txBody>
      </p:sp>
      <p:sp>
        <p:nvSpPr>
          <p:cNvPr id="16" name="Rounded Rectangle 15"/>
          <p:cNvSpPr/>
          <p:nvPr/>
        </p:nvSpPr>
        <p:spPr>
          <a:xfrm>
            <a:off x="7172325" y="1257300"/>
            <a:ext cx="4638675" cy="2105025"/>
          </a:xfrm>
          <a:prstGeom prst="roundRect">
            <a:avLst>
              <a:gd name="adj" fmla="val 6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152400" rIns="152400" tIns="95250" bIns="95250"/>
          <a:lstStyle/>
          <a:p>
            <a:pPr algn="l"/>
            <a:r>
              <a:rPr sz="1567" b="1" i="0">
                <a:solidFill>
                  <a:srgbClr val="8C2F2B"/>
                </a:solidFill>
                <a:latin typeface="Arial"/>
              </a:rPr>
              <a:t>2 · Nhà nước pháp quyền XHCN</a:t>
            </a:r>
          </a:p>
          <a:p>
            <a:pPr algn="l"/>
            <a:r>
              <a:rPr sz="1211" b="0" i="0">
                <a:solidFill>
                  <a:srgbClr val="2B2622"/>
                </a:solidFill>
                <a:latin typeface="Arial"/>
              </a:rPr>
              <a:t>Quan niệm chung   ·   </a:t>
            </a:r>
            <a:r>
              <a:rPr sz="1211" b="0" i="0">
                <a:solidFill>
                  <a:srgbClr val="2B2622"/>
                </a:solidFill>
                <a:latin typeface="Arial"/>
              </a:rPr>
              <a:t>Cương lĩnh   ·   </a:t>
            </a:r>
            <a:r>
              <a:rPr sz="1211" b="0" i="0">
                <a:solidFill>
                  <a:srgbClr val="2B2622"/>
                </a:solidFill>
                <a:latin typeface="Arial"/>
              </a:rPr>
              <a:t>Qua các kỳ Đại hội   ·   </a:t>
            </a:r>
            <a:r>
              <a:rPr sz="1211" b="0" i="0">
                <a:solidFill>
                  <a:srgbClr val="2B2622"/>
                </a:solidFill>
                <a:latin typeface="Arial"/>
              </a:rPr>
              <a:t>Đặc điểm 1–3   ·   </a:t>
            </a:r>
            <a:r>
              <a:rPr sz="1211" b="0" i="0">
                <a:solidFill>
                  <a:srgbClr val="2B2622"/>
                </a:solidFill>
                <a:latin typeface="Arial"/>
              </a:rPr>
              <a:t>Đặc điểm 4–6   ·   </a:t>
            </a:r>
            <a:r>
              <a:rPr sz="1211" b="0" i="0">
                <a:solidFill>
                  <a:srgbClr val="2B2622"/>
                </a:solidFill>
                <a:latin typeface="Arial"/>
              </a:rPr>
              <a:t>Đối chiếu quan niệm chung   ·   </a:t>
            </a:r>
            <a:r>
              <a:rPr sz="1211" b="0" i="0">
                <a:solidFill>
                  <a:srgbClr val="2B2622"/>
                </a:solidFill>
                <a:latin typeface="Arial"/>
              </a:rPr>
              <a:t>Khái quát phần 2</a:t>
            </a:r>
          </a:p>
        </p:txBody>
      </p:sp>
      <p:sp>
        <p:nvSpPr>
          <p:cNvPr id="17" name="Rounded Rectangle 16"/>
          <p:cNvSpPr/>
          <p:nvPr/>
        </p:nvSpPr>
        <p:spPr>
          <a:xfrm>
            <a:off x="12515850" y="1447800"/>
            <a:ext cx="5105400" cy="1733550"/>
          </a:xfrm>
          <a:prstGeom prst="roundRect">
            <a:avLst>
              <a:gd name="adj" fmla="val 6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152400" rIns="152400" tIns="95250" bIns="95250"/>
          <a:lstStyle/>
          <a:p>
            <a:pPr algn="l"/>
            <a:r>
              <a:rPr sz="1567" b="1" i="0">
                <a:solidFill>
                  <a:srgbClr val="8C2F2B"/>
                </a:solidFill>
                <a:latin typeface="Arial"/>
              </a:rPr>
              <a:t>3 · Phát huy &amp; xây dựng hiện nay</a:t>
            </a:r>
          </a:p>
          <a:p>
            <a:pPr algn="l"/>
            <a:r>
              <a:rPr sz="1211" b="0" i="0">
                <a:solidFill>
                  <a:srgbClr val="2B2622"/>
                </a:solidFill>
                <a:latin typeface="Arial"/>
              </a:rPr>
              <a:t>Một là: kinh tế   ·   </a:t>
            </a:r>
            <a:r>
              <a:rPr sz="1211" b="0" i="0">
                <a:solidFill>
                  <a:srgbClr val="2B2622"/>
                </a:solidFill>
                <a:latin typeface="Arial"/>
              </a:rPr>
              <a:t>Hai là, Ba là   ·   </a:t>
            </a:r>
            <a:r>
              <a:rPr sz="1211" b="0" i="0">
                <a:solidFill>
                  <a:srgbClr val="2B2622"/>
                </a:solidFill>
                <a:latin typeface="Arial"/>
              </a:rPr>
              <a:t>Bốn là, Năm là   ·   </a:t>
            </a:r>
            <a:r>
              <a:rPr sz="1211" b="0" i="0">
                <a:solidFill>
                  <a:srgbClr val="2B2622"/>
                </a:solidFill>
                <a:latin typeface="Arial"/>
              </a:rPr>
              <a:t>Ghép vai trò   ·   </a:t>
            </a:r>
            <a:r>
              <a:rPr sz="1211" b="0" i="0">
                <a:solidFill>
                  <a:srgbClr val="2B2622"/>
                </a:solidFill>
                <a:latin typeface="Arial"/>
              </a:rPr>
              <a:t>b) Một là, Hai là   ·   </a:t>
            </a:r>
            <a:r>
              <a:rPr sz="1211" b="0" i="0">
                <a:solidFill>
                  <a:srgbClr val="2B2622"/>
                </a:solidFill>
                <a:latin typeface="Arial"/>
              </a:rPr>
              <a:t>b) Ba là, Bốn là   ·   </a:t>
            </a:r>
            <a:r>
              <a:rPr sz="1211" b="0" i="0">
                <a:solidFill>
                  <a:srgbClr val="2B2622"/>
                </a:solidFill>
                <a:latin typeface="Arial"/>
              </a:rPr>
              <a:t>Khái quát phần 3</a:t>
            </a:r>
          </a:p>
        </p:txBody>
      </p:sp>
      <p:sp>
        <p:nvSpPr>
          <p:cNvPr id="18" name="Rounded Rectangle 17"/>
          <p:cNvSpPr/>
          <p:nvPr/>
        </p:nvSpPr>
        <p:spPr>
          <a:xfrm>
            <a:off x="666750"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Quyền lực thuộc về nhân dân</a:t>
            </a:r>
          </a:p>
          <a:p>
            <a:pPr algn="l"/>
            <a:r>
              <a:rPr sz="1139" b="0" i="0">
                <a:solidFill>
                  <a:srgbClr val="6B6B6B"/>
                </a:solidFill>
                <a:latin typeface="Arial"/>
              </a:rPr>
              <a:t>Bảy chữ “dân” → Hai hình thức · Đặc điểm 1–3 · Kết luận</a:t>
            </a:r>
          </a:p>
        </p:txBody>
      </p:sp>
      <p:sp>
        <p:nvSpPr>
          <p:cNvPr id="19" name="Rounded Rectangle 18"/>
          <p:cNvSpPr/>
          <p:nvPr/>
        </p:nvSpPr>
        <p:spPr>
          <a:xfrm>
            <a:off x="4143375"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Dân chủ gắn với pháp luật, kỷ cương</a:t>
            </a:r>
          </a:p>
          <a:p>
            <a:pPr algn="l"/>
            <a:r>
              <a:rPr sz="1139" b="0" i="0">
                <a:solidFill>
                  <a:srgbClr val="6B6B6B"/>
                </a:solidFill>
                <a:latin typeface="Arial"/>
              </a:rPr>
              <a:t>Ba mươi lăm năm đổi mới → Bốn nội dung · Thực tiễn · Đặc điểm 1–3 · Đối chiếu</a:t>
            </a:r>
          </a:p>
        </p:txBody>
      </p:sp>
      <p:sp>
        <p:nvSpPr>
          <p:cNvPr id="20" name="Rounded Rectangle 19"/>
          <p:cNvSpPr/>
          <p:nvPr/>
        </p:nvSpPr>
        <p:spPr>
          <a:xfrm>
            <a:off x="7620000"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Phân công – phối hợp – kiểm soát quyền lực</a:t>
            </a:r>
          </a:p>
          <a:p>
            <a:pPr algn="l"/>
            <a:r>
              <a:rPr sz="1139" b="0" i="0">
                <a:solidFill>
                  <a:srgbClr val="6B6B6B"/>
                </a:solidFill>
                <a:latin typeface="Arial"/>
              </a:rPr>
              <a:t>Hai hình thức → Quan niệm chung · Cương lĩnh · Các kỳ Đại hội · Đặc điểm 1–6 · Hoàn thiện Nhà nước</a:t>
            </a:r>
          </a:p>
        </p:txBody>
      </p:sp>
      <p:sp>
        <p:nvSpPr>
          <p:cNvPr id="21" name="Rounded Rectangle 20"/>
          <p:cNvSpPr/>
          <p:nvPr/>
        </p:nvSpPr>
        <p:spPr>
          <a:xfrm>
            <a:off x="11087100"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Dân biết, dân bàn, dân làm, dân kiểm tra</a:t>
            </a:r>
          </a:p>
          <a:p>
            <a:pPr algn="l"/>
            <a:r>
              <a:rPr sz="1139" b="0" i="0">
                <a:solidFill>
                  <a:srgbClr val="6B6B6B"/>
                </a:solidFill>
                <a:latin typeface="Arial"/>
              </a:rPr>
              <a:t>Thực tiễn → Đặc điểm 4–6 · Giám sát, phản biện · Kết luận</a:t>
            </a:r>
          </a:p>
        </p:txBody>
      </p:sp>
      <p:sp>
        <p:nvSpPr>
          <p:cNvPr id="22" name="Rounded Rectangle 21"/>
          <p:cNvSpPr/>
          <p:nvPr/>
        </p:nvSpPr>
        <p:spPr>
          <a:xfrm>
            <a:off x="14563725"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Kinh tế</a:t>
            </a:r>
          </a:p>
          <a:p>
            <a:pPr algn="l"/>
            <a:r>
              <a:rPr sz="1139" b="0" i="0">
                <a:solidFill>
                  <a:srgbClr val="6B6B6B"/>
                </a:solidFill>
                <a:latin typeface="Arial"/>
              </a:rPr>
              <a:t>Trở ngại → Một là: thể chế kinh tế</a:t>
            </a:r>
          </a:p>
        </p:txBody>
      </p:sp>
      <p:sp>
        <p:nvSpPr>
          <p:cNvPr id="23" name="Rounded Rectangle 22"/>
          <p:cNvSpPr/>
          <p:nvPr/>
        </p:nvSpPr>
        <p:spPr>
          <a:xfrm>
            <a:off x="666750"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Dân trí</a:t>
            </a:r>
          </a:p>
          <a:p>
            <a:pPr algn="l"/>
            <a:r>
              <a:rPr sz="1139" b="0" i="0">
                <a:solidFill>
                  <a:srgbClr val="6B6B6B"/>
                </a:solidFill>
                <a:latin typeface="Arial"/>
              </a:rPr>
              <a:t>Trước Đổi mới → Nâng cao dân trí</a:t>
            </a:r>
          </a:p>
        </p:txBody>
      </p:sp>
      <p:sp>
        <p:nvSpPr>
          <p:cNvPr id="24" name="Rounded Rectangle 23"/>
          <p:cNvSpPr/>
          <p:nvPr/>
        </p:nvSpPr>
        <p:spPr>
          <a:xfrm>
            <a:off x="4143375"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Tham nhũng</a:t>
            </a:r>
          </a:p>
          <a:p>
            <a:pPr algn="l"/>
            <a:r>
              <a:rPr sz="1139" b="0" i="0">
                <a:solidFill>
                  <a:srgbClr val="6B6B6B"/>
                </a:solidFill>
                <a:latin typeface="Arial"/>
              </a:rPr>
              <a:t>Cương lĩnh → Phòng, chống tham nhũng</a:t>
            </a:r>
          </a:p>
        </p:txBody>
      </p:sp>
      <p:sp>
        <p:nvSpPr>
          <p:cNvPr id="25" name="Rounded Rectangle 24"/>
          <p:cNvSpPr/>
          <p:nvPr/>
        </p:nvSpPr>
        <p:spPr>
          <a:xfrm>
            <a:off x="7620000"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Lấy dân làm gốc</a:t>
            </a:r>
          </a:p>
          <a:p>
            <a:pPr algn="l"/>
            <a:r>
              <a:rPr sz="1139" b="0" i="0">
                <a:solidFill>
                  <a:srgbClr val="6B6B6B"/>
                </a:solidFill>
                <a:latin typeface="Arial"/>
              </a:rPr>
              <a:t>Đại hội VI → Khái quát phần 1 · Kết luận</a:t>
            </a:r>
          </a:p>
        </p:txBody>
      </p:sp>
      <p:sp>
        <p:nvSpPr>
          <p:cNvPr id="26" name="Rounded Rectangle 25"/>
          <p:cNvSpPr/>
          <p:nvPr/>
        </p:nvSpPr>
        <p:spPr>
          <a:xfrm>
            <a:off x="11087100"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Bản chất giai cấp công nhân</a:t>
            </a:r>
          </a:p>
          <a:p>
            <a:pPr algn="l"/>
            <a:r>
              <a:rPr sz="1139" b="0" i="0">
                <a:solidFill>
                  <a:srgbClr val="6B6B6B"/>
                </a:solidFill>
                <a:latin typeface="Arial"/>
              </a:rPr>
              <a:t>Khái quát phần 2 → Dưới sự lãnh đạo của Đảng</a:t>
            </a:r>
          </a:p>
        </p:txBody>
      </p:sp>
      <p:sp>
        <p:nvSpPr>
          <p:cNvPr id="27" name="Rounded Rectangle 26"/>
          <p:cNvSpPr/>
          <p:nvPr/>
        </p:nvSpPr>
        <p:spPr>
          <a:xfrm>
            <a:off x="14563725"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Quốc hội – cơ quan quyền lực cao nhất</a:t>
            </a:r>
          </a:p>
          <a:p>
            <a:pPr algn="l"/>
            <a:r>
              <a:rPr sz="1139" b="0" i="0">
                <a:solidFill>
                  <a:srgbClr val="6B6B6B"/>
                </a:solidFill>
                <a:latin typeface="Arial"/>
              </a:rPr>
              <a:t>Dân chủ gián tiếp → Cải cách Quốc hội</a:t>
            </a:r>
          </a:p>
        </p:txBody>
      </p:sp>
      <p:sp>
        <p:nvSpPr>
          <p:cNvPr id="28" name="Rounded Rectangle 27"/>
          <p:cNvSpPr/>
          <p:nvPr/>
        </p:nvSpPr>
        <p:spPr>
          <a:xfrm>
            <a:off x="6667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Bản chất:</a:t>
            </a:r>
            <a:r>
              <a:rPr sz="997" b="0" i="0">
                <a:solidFill>
                  <a:srgbClr val="2B2622"/>
                </a:solidFill>
                <a:latin typeface="Arial"/>
              </a:rPr>
              <a:t> tất cả quyền lực thuộc về nhân dân — dân là gốc, là chủ, dân làm chủ</a:t>
            </a:r>
          </a:p>
        </p:txBody>
      </p:sp>
      <p:sp>
        <p:nvSpPr>
          <p:cNvPr id="29" name="Rounded Rectangle 28"/>
          <p:cNvSpPr/>
          <p:nvPr/>
        </p:nvSpPr>
        <p:spPr>
          <a:xfrm>
            <a:off x="50101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Nhà nước pháp quyền XHCN:</a:t>
            </a:r>
            <a:r>
              <a:rPr sz="997" b="0" i="0">
                <a:solidFill>
                  <a:srgbClr val="2B2622"/>
                </a:solidFill>
                <a:latin typeface="Arial"/>
              </a:rPr>
              <a:t> sáu đặc điểm; vừa chung, vừa khác</a:t>
            </a:r>
          </a:p>
        </p:txBody>
      </p:sp>
      <p:sp>
        <p:nvSpPr>
          <p:cNvPr id="30" name="Rounded Rectangle 29"/>
          <p:cNvSpPr/>
          <p:nvPr/>
        </p:nvSpPr>
        <p:spPr>
          <a:xfrm>
            <a:off x="93535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Định hướng:</a:t>
            </a:r>
            <a:r>
              <a:rPr sz="997" b="0" i="0">
                <a:solidFill>
                  <a:srgbClr val="2B2622"/>
                </a:solidFill>
                <a:latin typeface="Arial"/>
              </a:rPr>
              <a:t> 5 giải pháp phát huy dân chủ + 4 giải pháp hoàn thiện Nhà nước</a:t>
            </a:r>
          </a:p>
        </p:txBody>
      </p:sp>
      <p:sp>
        <p:nvSpPr>
          <p:cNvPr id="31" name="Rounded Rectangle 30"/>
          <p:cNvSpPr/>
          <p:nvPr/>
        </p:nvSpPr>
        <p:spPr>
          <a:xfrm>
            <a:off x="136969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Trách nhiệm công dân:</a:t>
            </a:r>
            <a:r>
              <a:rPr sz="997" b="0" i="0">
                <a:solidFill>
                  <a:srgbClr val="2B2622"/>
                </a:solidFill>
                <a:latin typeface="Arial"/>
              </a:rPr>
              <a:t> hiểu biết, tuân thủ pháp luật · tham gia quản lý xã hội tùy trách nhiệm, nghĩa vụ · dân biết, bàn, làm, kiểm tra · nâng cao văn hóa pháp luật</a:t>
            </a:r>
          </a:p>
        </p:txBody>
      </p:sp>
      <p:sp>
        <p:nvSpPr>
          <p:cNvPr id="32" name="Rounded Rectangle 31"/>
          <p:cNvSpPr/>
          <p:nvPr/>
        </p:nvSpPr>
        <p:spPr>
          <a:xfrm>
            <a:off x="666750" y="8658225"/>
            <a:ext cx="9477375" cy="4857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0" i="0">
                <a:solidFill>
                  <a:srgbClr val="1F3A5F"/>
                </a:solidFill>
                <a:latin typeface="Arial"/>
              </a:rPr>
              <a:t>Câu hỏi mở đầu: cụm từ “dân chủ XHCN” được xác định thế nào, từ khi nào?</a:t>
            </a:r>
          </a:p>
        </p:txBody>
      </p:sp>
      <p:sp>
        <p:nvSpPr>
          <p:cNvPr id="33" name="Rounded Rectangle 32"/>
          <p:cNvSpPr/>
          <p:nvPr/>
        </p:nvSpPr>
        <p:spPr>
          <a:xfrm>
            <a:off x="10848975" y="8258175"/>
            <a:ext cx="6772275"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1152" b="1" i="0">
                <a:solidFill>
                  <a:srgbClr val="FFFFFF"/>
                </a:solidFill>
                <a:latin typeface="Arial"/>
              </a:rPr>
              <a:t>LẤY DÂN LÀM GỐC</a:t>
            </a:r>
          </a:p>
        </p:txBody>
      </p:sp>
      <p:sp>
        <p:nvSpPr>
          <p:cNvPr id="34" name="Rounded Rectangle 33"/>
          <p:cNvSpPr/>
          <p:nvPr/>
        </p:nvSpPr>
        <p:spPr>
          <a:xfrm>
            <a:off x="10848975" y="8258175"/>
            <a:ext cx="6772275"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par>
                                <p:cTn id="9" presetID="10"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3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3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00"/>
                                        <p:tgtEl>
                                          <p:spTgt spid="1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3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3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3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3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3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300"/>
                                        <p:tgtEl>
                                          <p:spTgt spid="2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300"/>
                                        <p:tgtEl>
                                          <p:spTgt spid="26"/>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300"/>
                                        <p:tgtEl>
                                          <p:spTgt spid="27"/>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300"/>
                                        <p:tgtEl>
                                          <p:spTgt spid="28"/>
                                        </p:tgtEl>
                                      </p:cBhvr>
                                    </p:animEffect>
                                  </p:childTnLst>
                                </p:cTn>
                              </p:par>
                              <p:par>
                                <p:cTn id="83" presetID="10" presetClass="entr" presetSubtype="0" fill="hold" nodeType="withEffect">
                                  <p:stCondLst>
                                    <p:cond delay="0"/>
                                  </p:stCondLst>
                                  <p:childTnLst>
                                    <p:set>
                                      <p:cBhvr>
                                        <p:cTn id="84" dur="1" fill="hold">
                                          <p:stCondLst>
                                            <p:cond delay="0"/>
                                          </p:stCondLst>
                                        </p:cTn>
                                        <p:tgtEl>
                                          <p:spTgt spid="9"/>
                                        </p:tgtEl>
                                        <p:attrNameLst>
                                          <p:attrName>style.visibility</p:attrName>
                                        </p:attrNameLst>
                                      </p:cBhvr>
                                      <p:to>
                                        <p:strVal val="visible"/>
                                      </p:to>
                                    </p:set>
                                    <p:animEffect transition="in" filter="fade">
                                      <p:cBhvr>
                                        <p:cTn id="85" dur="300"/>
                                        <p:tgtEl>
                                          <p:spTgt spid="9"/>
                                        </p:tgtEl>
                                      </p:cBhvr>
                                    </p:animEffect>
                                  </p:childTnLst>
                                </p:cTn>
                              </p:par>
                              <p:par>
                                <p:cTn id="87" presetID="10" presetClass="entr" presetSubtype="0" fill="hold" nodeType="withEffect">
                                  <p:stCondLst>
                                    <p:cond delay="0"/>
                                  </p:stCondLst>
                                  <p:childTnLst>
                                    <p:set>
                                      <p:cBhvr>
                                        <p:cTn id="88" dur="1" fill="hold">
                                          <p:stCondLst>
                                            <p:cond delay="0"/>
                                          </p:stCondLst>
                                        </p:cTn>
                                        <p:tgtEl>
                                          <p:spTgt spid="10"/>
                                        </p:tgtEl>
                                        <p:attrNameLst>
                                          <p:attrName>style.visibility</p:attrName>
                                        </p:attrNameLst>
                                      </p:cBhvr>
                                      <p:to>
                                        <p:strVal val="visible"/>
                                      </p:to>
                                    </p:set>
                                    <p:animEffect transition="in" filter="fade">
                                      <p:cBhvr>
                                        <p:cTn id="89" dur="300"/>
                                        <p:tgtEl>
                                          <p:spTgt spid="10"/>
                                        </p:tgtEl>
                                      </p:cBhvr>
                                    </p:animEffect>
                                  </p:childTnLst>
                                </p:cTn>
                              </p:par>
                              <p:par>
                                <p:cTn id="91" presetID="10" presetClass="entr" presetSubtype="0" fill="hold" nodeType="withEffect">
                                  <p:stCondLst>
                                    <p:cond delay="0"/>
                                  </p:stCondLst>
                                  <p:childTnLst>
                                    <p:set>
                                      <p:cBhvr>
                                        <p:cTn id="92" dur="1" fill="hold">
                                          <p:stCondLst>
                                            <p:cond delay="0"/>
                                          </p:stCondLst>
                                        </p:cTn>
                                        <p:tgtEl>
                                          <p:spTgt spid="11"/>
                                        </p:tgtEl>
                                        <p:attrNameLst>
                                          <p:attrName>style.visibility</p:attrName>
                                        </p:attrNameLst>
                                      </p:cBhvr>
                                      <p:to>
                                        <p:strVal val="visible"/>
                                      </p:to>
                                    </p:set>
                                    <p:animEffect transition="in" filter="fade">
                                      <p:cBhvr>
                                        <p:cTn id="93" dur="300"/>
                                        <p:tgtEl>
                                          <p:spTgt spid="11"/>
                                        </p:tgtEl>
                                      </p:cBhvr>
                                    </p:animEffect>
                                  </p:childTnLst>
                                </p:cTn>
                              </p:par>
                              <p:par>
                                <p:cTn id="95" presetID="10" presetClass="entr" presetSubtype="0" fill="hold" nodeType="withEffect">
                                  <p:stCondLst>
                                    <p:cond delay="0"/>
                                  </p:stCondLst>
                                  <p:childTnLst>
                                    <p:set>
                                      <p:cBhvr>
                                        <p:cTn id="96" dur="1" fill="hold">
                                          <p:stCondLst>
                                            <p:cond delay="0"/>
                                          </p:stCondLst>
                                        </p:cTn>
                                        <p:tgtEl>
                                          <p:spTgt spid="12"/>
                                        </p:tgtEl>
                                        <p:attrNameLst>
                                          <p:attrName>style.visibility</p:attrName>
                                        </p:attrNameLst>
                                      </p:cBhvr>
                                      <p:to>
                                        <p:strVal val="visible"/>
                                      </p:to>
                                    </p:set>
                                    <p:animEffect transition="in" filter="fade">
                                      <p:cBhvr>
                                        <p:cTn id="97" dur="300"/>
                                        <p:tgtEl>
                                          <p:spTgt spid="12"/>
                                        </p:tgtEl>
                                      </p:cBhvr>
                                    </p:animEffect>
                                  </p:childTnLst>
                                </p:cTn>
                              </p:par>
                              <p:par>
                                <p:cTn id="99" presetID="10" presetClass="entr" presetSubtype="0" fill="hold" nodeType="withEffect">
                                  <p:stCondLst>
                                    <p:cond delay="0"/>
                                  </p:stCondLst>
                                  <p:childTnLst>
                                    <p:set>
                                      <p:cBhvr>
                                        <p:cTn id="100" dur="1" fill="hold">
                                          <p:stCondLst>
                                            <p:cond delay="0"/>
                                          </p:stCondLst>
                                        </p:cTn>
                                        <p:tgtEl>
                                          <p:spTgt spid="13"/>
                                        </p:tgtEl>
                                        <p:attrNameLst>
                                          <p:attrName>style.visibility</p:attrName>
                                        </p:attrNameLst>
                                      </p:cBhvr>
                                      <p:to>
                                        <p:strVal val="visible"/>
                                      </p:to>
                                    </p:set>
                                    <p:animEffect transition="in" filter="fade">
                                      <p:cBhvr>
                                        <p:cTn id="101" dur="300"/>
                                        <p:tgtEl>
                                          <p:spTgt spid="13"/>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29"/>
                                        </p:tgtEl>
                                        <p:attrNameLst>
                                          <p:attrName>style.visibility</p:attrName>
                                        </p:attrNameLst>
                                      </p:cBhvr>
                                      <p:to>
                                        <p:strVal val="visible"/>
                                      </p:to>
                                    </p:set>
                                    <p:animEffect transition="in" filter="fade">
                                      <p:cBhvr>
                                        <p:cTn id="107" dur="300"/>
                                        <p:tgtEl>
                                          <p:spTgt spid="29"/>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nodeType="clickEffect">
                                  <p:stCondLst>
                                    <p:cond delay="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300"/>
                                        <p:tgtEl>
                                          <p:spTgt spid="30"/>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1"/>
                                        </p:tgtEl>
                                        <p:attrNameLst>
                                          <p:attrName>style.visibility</p:attrName>
                                        </p:attrNameLst>
                                      </p:cBhvr>
                                      <p:to>
                                        <p:strVal val="visible"/>
                                      </p:to>
                                    </p:set>
                                    <p:animEffect transition="in" filter="fade">
                                      <p:cBhvr>
                                        <p:cTn id="119" dur="300"/>
                                        <p:tgtEl>
                                          <p:spTgt spid="31"/>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32"/>
                                        </p:tgtEl>
                                        <p:attrNameLst>
                                          <p:attrName>style.visibility</p:attrName>
                                        </p:attrNameLst>
                                      </p:cBhvr>
                                      <p:to>
                                        <p:strVal val="visible"/>
                                      </p:to>
                                    </p:set>
                                    <p:animEffect transition="in" filter="fade">
                                      <p:cBhvr>
                                        <p:cTn id="125" dur="300"/>
                                        <p:tgtEl>
                                          <p:spTgt spid="32"/>
                                        </p:tgtEl>
                                      </p:cBhvr>
                                    </p:animEffect>
                                  </p:childTnLst>
                                </p:cTn>
                              </p:par>
                              <p:par>
                                <p:cTn id="127" presetID="10" presetClass="entr" presetSubtype="0" fill="hold" nodeType="withEffect">
                                  <p:stCondLst>
                                    <p:cond delay="0"/>
                                  </p:stCondLst>
                                  <p:childTnLst>
                                    <p:set>
                                      <p:cBhvr>
                                        <p:cTn id="128" dur="1" fill="hold">
                                          <p:stCondLst>
                                            <p:cond delay="0"/>
                                          </p:stCondLst>
                                        </p:cTn>
                                        <p:tgtEl>
                                          <p:spTgt spid="14"/>
                                        </p:tgtEl>
                                        <p:attrNameLst>
                                          <p:attrName>style.visibility</p:attrName>
                                        </p:attrNameLst>
                                      </p:cBhvr>
                                      <p:to>
                                        <p:strVal val="visible"/>
                                      </p:to>
                                    </p:set>
                                    <p:animEffect transition="in" filter="fade">
                                      <p:cBhvr>
                                        <p:cTn id="129" dur="300"/>
                                        <p:tgtEl>
                                          <p:spTgt spid="14"/>
                                        </p:tgtEl>
                                      </p:cBhvr>
                                    </p:animEffect>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00"/>
                                        <p:tgtEl>
                                          <p:spTgt spid="33"/>
                                        </p:tgtEl>
                                      </p:cBhvr>
                                    </p:animEffect>
                                  </p:childTnLst>
                                </p:cTn>
                              </p:par>
                              <p:par>
                                <p:cTn id="137" presetID="1" presetClass="exit" presetSubtype="0" fill="hold" nodeType="withEffect">
                                  <p:stCondLst>
                                    <p:cond delay="0"/>
                                  </p:stCondLst>
                                  <p:childTnLst>
                                    <p:set>
                                      <p:cBhvr>
                                        <p:cTn id="138" dur="1" fill="hold">
                                          <p:stCondLst>
                                            <p:cond delay="0"/>
                                          </p:stCondLst>
                                        </p:cTn>
                                        <p:tgtEl>
                                          <p:spTgt spid="3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14500" y="2857500"/>
            <a:ext cx="14859000" cy="3619500"/>
          </a:xfrm>
          <a:prstGeom prst="rect">
            <a:avLst/>
          </a:prstGeom>
          <a:noFill/>
        </p:spPr>
        <p:txBody>
          <a:bodyPr wrap="square" lIns="0" rIns="0" tIns="0" bIns="0" anchor="ctr">
            <a:spAutoFit/>
          </a:bodyPr>
          <a:lstStyle/>
          <a:p>
            <a:pPr algn="ctr"/>
            <a:r>
              <a:rPr sz="5415" b="1" i="0">
                <a:solidFill>
                  <a:srgbClr val="8C2F2B"/>
                </a:solidFill>
                <a:latin typeface="Georgia"/>
              </a:rPr>
              <a:t>Cảm ơn thầy/cô và các bạn — Mời đặt câu hỏi</a:t>
            </a:r>
          </a:p>
        </p:txBody>
      </p:sp>
      <p:sp>
        <p:nvSpPr>
          <p:cNvPr id="4" name="Rectangle 3"/>
          <p:cNvSpPr/>
          <p:nvPr/>
        </p:nvSpPr>
        <p:spPr>
          <a:xfrm>
            <a:off x="7429500" y="6667500"/>
            <a:ext cx="3429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6" name="Rounded Rectangle 5"/>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7" name="Rounded Rectangle 6"/>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sp>
        <p:nvSpPr>
          <p:cNvPr id="8" name="Rectangle 7"/>
          <p:cNvSpPr/>
          <p:nvPr/>
        </p:nvSpPr>
        <p:spPr>
          <a:xfrm>
            <a:off x="2476500" y="6734175"/>
            <a:ext cx="13335000" cy="6477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9550" rIns="209550" tIns="133350" bIns="133350"/>
          <a:lstStyle/>
          <a:p>
            <a:pPr algn="ctr"/>
            <a:r>
              <a:rPr sz="2137" b="0" i="0">
                <a:solidFill>
                  <a:srgbClr val="6B6B6B"/>
                </a:solidFill>
                <a:latin typeface="Arial"/>
              </a:rPr>
              <a:t>Tài liệu tham khảo: Bộ GD&amp;ĐT (2021), Chủ nghĩa xã hội khoa học, Nxb. Chính trị quốc gia Sự thật, tr.149–164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