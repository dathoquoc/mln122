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M0 · không có hiệu ứng.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M1 · 4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A1 · 6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A2 · 6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A3 · 7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A4 · chừa chỗ trống · 2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A4 · đáp án · 2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A5 · 6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A6 · phân nhóm · 1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A6 · đáp án · 4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A7 · 8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A8 · 7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A9 · 8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B1 · 8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B2 · 6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B3 · 4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B4 · 4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B5 · 4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B6 · 5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C1 · 7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C2 · 8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C3 · 9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C4 · 3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C5 · 8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C6 · 10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C7 · 7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K1 · 17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K2 · không có hiệu ứng.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714500" y="2857500"/>
            <a:ext cx="14859000" cy="3619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700" b="1" i="0">
                <a:solidFill>
                  <a:srgbClr val="8C2F2B"/>
                </a:solidFill>
                <a:latin typeface="Georgia"/>
              </a:rPr>
              <a:t>Dân chủ xã hội chủ nghĩa và Nhà nước pháp quyền xã hội chủ nghĩa ở Việt Nam</a:t>
            </a:r>
          </a:p>
        </p:txBody>
      </p:sp>
      <p:sp>
        <p:nvSpPr>
          <p:cNvPr id="4" name="Rectangle 3"/>
          <p:cNvSpPr/>
          <p:nvPr/>
        </p:nvSpPr>
        <p:spPr>
          <a:xfrm>
            <a:off x="7429500" y="6667500"/>
            <a:ext cx="3429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sp>
        <p:nvSpPr>
          <p:cNvPr id="8" name="Rectangle 7"/>
          <p:cNvSpPr/>
          <p:nvPr/>
        </p:nvSpPr>
        <p:spPr>
          <a:xfrm>
            <a:off x="2476500" y="6762750"/>
            <a:ext cx="13335000" cy="6477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9550" rIns="209550" tIns="133350" bIns="133350"/>
          <a:lstStyle/>
          <a:p>
            <a:pPr algn="ctr"/>
            <a:r>
              <a:rPr sz="2137" b="0" i="0">
                <a:solidFill>
                  <a:srgbClr val="6B6B6B"/>
                </a:solidFill>
                <a:latin typeface="Arial"/>
              </a:rPr>
              <a:t>MLN131 · Chương 4 · Mục III · Nhóm [..]</a:t>
            </a:r>
          </a:p>
        </p:txBody>
      </p:sp>
      <p:sp>
        <p:nvSpPr>
          <p:cNvPr id="9" name="Rectangle 8"/>
          <p:cNvSpPr/>
          <p:nvPr/>
        </p:nvSpPr>
        <p:spPr>
          <a:xfrm>
            <a:off x="2476500" y="7581900"/>
            <a:ext cx="13335000" cy="6477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9550" rIns="209550" tIns="133350" bIns="133350"/>
          <a:lstStyle/>
          <a:p>
            <a:pPr algn="ctr"/>
            <a:r>
              <a:rPr sz="2137" b="0" i="0">
                <a:solidFill>
                  <a:srgbClr val="6B6B6B"/>
                </a:solidFill>
                <a:latin typeface="Arial"/>
              </a:rPr>
              <a:t>[Họ tên – MSSV] ×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Một chi tiết đáng chú 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886450" y="4562475"/>
            <a:ext cx="60007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772900" y="4562475"/>
            <a:ext cx="60007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5030450" y="5124450"/>
            <a:ext cx="0" cy="61912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5030450" y="5186362"/>
            <a:ext cx="0" cy="61913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9224962" y="5248275"/>
            <a:ext cx="5805488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9144000" y="5248275"/>
            <a:ext cx="80962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144000" y="5248275"/>
            <a:ext cx="0" cy="161925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66750" y="4038600"/>
            <a:ext cx="5181600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1945 — Chế độ dân chủ nhân dân được xác lập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53200" y="4038600"/>
            <a:ext cx="5181600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1976 — Tên nước: Cộng hòa xã hội chủ nghĩa Việt Nam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439650" y="4038600"/>
            <a:ext cx="5181600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Văn kiện hầu như chưa dùng cụm từ “dân chủ xã hội chủ nghĩa”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6750" y="5476875"/>
            <a:ext cx="16954500" cy="1285875"/>
          </a:xfrm>
          <a:prstGeom prst="roundRect">
            <a:avLst>
              <a:gd name="adj" fmla="val 17777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Cụm từ ấy được xác định thế nào, từ khi nào?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6750" y="5476875"/>
            <a:ext cx="16954500" cy="1285875"/>
          </a:xfrm>
          <a:prstGeom prst="roundRect">
            <a:avLst>
              <a:gd name="adj" fmla="val 17777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Trước Đổi mới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348038" y="5353050"/>
            <a:ext cx="0" cy="66675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67425" y="6205538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257925" y="6205538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6391275" y="5862638"/>
            <a:ext cx="0" cy="34290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6391275" y="5729288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391275" y="5729288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12030075" y="4786312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11896725" y="4786312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1896725" y="4786312"/>
            <a:ext cx="0" cy="809626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1896725" y="5595938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11620500" y="5729288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12030075" y="6391275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11896725" y="6391275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11896725" y="5862638"/>
            <a:ext cx="0" cy="528637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11896725" y="5729288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11620500" y="5729288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66750" y="3876675"/>
            <a:ext cx="5362575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Văn kiện dùng: “làm chủ tập thể XHCN” + “nắm vững chuyên chính vô sản”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6750" y="5486400"/>
            <a:ext cx="5362575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Bản chất dân chủ XHCN, quan hệ với nhà nước pháp quyền XHCN — </a:t>
            </a:r>
            <a:r>
              <a:rPr sz="2137" b="1" i="0">
                <a:solidFill>
                  <a:srgbClr val="8C2F2B"/>
                </a:solidFill>
                <a:latin typeface="Arial"/>
              </a:rPr>
              <a:t>CHƯA</a:t>
            </a:r>
            <a:r>
              <a:rPr sz="2137" b="0" i="0">
                <a:solidFill>
                  <a:srgbClr val="2B2622"/>
                </a:solidFill>
                <a:latin typeface="Arial"/>
              </a:rPr>
              <a:t> xác định rõ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29525" y="4210050"/>
            <a:ext cx="3019425" cy="4857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B6B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38100" bIns="38100"/>
          <a:lstStyle/>
          <a:p>
            <a:pPr algn="ctr"/>
            <a:r>
              <a:rPr sz="1500" b="0" i="0">
                <a:solidFill>
                  <a:srgbClr val="6B6B6B"/>
                </a:solidFill>
                <a:latin typeface="Arial"/>
              </a:rPr>
              <a:t>Ba ý có chung chữ nào?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34175" y="4867275"/>
            <a:ext cx="4819650" cy="1724025"/>
          </a:xfrm>
          <a:prstGeom prst="roundRect">
            <a:avLst>
              <a:gd name="adj" fmla="val 13259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Dân chủ đã có, nhưng NHẬN THỨC về dân chủ XHCN chưa được xác định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34175" y="4867275"/>
            <a:ext cx="4819650" cy="1724025"/>
          </a:xfrm>
          <a:prstGeom prst="roundRect">
            <a:avLst>
              <a:gd name="adj" fmla="val 13259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258675" y="3876675"/>
            <a:ext cx="5362575" cy="1819275"/>
          </a:xfrm>
          <a:prstGeom prst="roundRect">
            <a:avLst>
              <a:gd name="adj" fmla="val 628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Thực hiện dân chủ phù hợp kinh tế, xã hội, văn hóa, đạo đức VN; gắn pháp luật, kỷ cương — </a:t>
            </a:r>
            <a:r>
              <a:rPr sz="2137" b="1" i="0">
                <a:solidFill>
                  <a:srgbClr val="8C2F2B"/>
                </a:solidFill>
                <a:latin typeface="Arial"/>
              </a:rPr>
              <a:t>CHƯA</a:t>
            </a:r>
            <a:r>
              <a:rPr sz="2137" b="0" i="0">
                <a:solidFill>
                  <a:srgbClr val="2B2622"/>
                </a:solidFill>
                <a:latin typeface="Arial"/>
              </a:rPr>
              <a:t> đặt ra cụ thể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2258675" y="5867400"/>
            <a:ext cx="5362575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Dân sinh · dân trí · dân quyền — </a:t>
            </a:r>
            <a:r>
              <a:rPr sz="2137" b="1" i="0">
                <a:solidFill>
                  <a:srgbClr val="8C2F2B"/>
                </a:solidFill>
                <a:latin typeface="Arial"/>
              </a:rPr>
              <a:t>CHƯA</a:t>
            </a:r>
            <a:r>
              <a:rPr sz="2137" b="0" i="0">
                <a:solidFill>
                  <a:srgbClr val="2B2622"/>
                </a:solidFill>
                <a:latin typeface="Arial"/>
              </a:rPr>
              <a:t> đặt đúng vị trí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Đại hội VI (1986)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214688" y="4543425"/>
            <a:ext cx="0" cy="66675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800725" y="5200650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991225" y="5200650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124575" y="5200650"/>
            <a:ext cx="0" cy="542925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124575" y="5743575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124575" y="5876925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11534775" y="3786188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11401425" y="3786188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1401425" y="3786188"/>
            <a:ext cx="0" cy="1957387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1401425" y="5743575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11125200" y="5876925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4692312" y="5962650"/>
            <a:ext cx="0" cy="66675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11534775" y="6881812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11401425" y="6881812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11401425" y="6010275"/>
            <a:ext cx="0" cy="871537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11401425" y="5876925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11125200" y="5876925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3214688" y="5791200"/>
            <a:ext cx="0" cy="66675"/>
          </a:xfrm>
          <a:prstGeom prst="line">
            <a:avLst/>
          </a:prstGeom>
          <a:ln w="28575">
            <a:solidFill>
              <a:srgbClr val="6B6B6B"/>
            </a:solidFill>
            <a:prstDash val="sysDot"/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66750" y="3838575"/>
            <a:ext cx="5095875" cy="666750"/>
          </a:xfrm>
          <a:prstGeom prst="roundRect">
            <a:avLst>
              <a:gd name="adj" fmla="val 1714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Đường lối đổi mới toàn diện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6750" y="4676775"/>
            <a:ext cx="5095875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Phát huy dân chủ → tạo động lực mạnh mẽ cho phát triển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6750" y="5895975"/>
            <a:ext cx="5095875" cy="1066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Trước Đổi mới: vị trí của dân chủ </a:t>
            </a:r>
            <a:r>
              <a:rPr sz="2137" b="1" i="0">
                <a:solidFill>
                  <a:srgbClr val="1F3A5F"/>
                </a:solidFill>
                <a:latin typeface="Arial"/>
              </a:rPr>
              <a:t>CHƯA</a:t>
            </a:r>
            <a:r>
              <a:rPr sz="2137" b="0" i="0">
                <a:solidFill>
                  <a:srgbClr val="1F3A5F"/>
                </a:solidFill>
                <a:latin typeface="Arial"/>
              </a:rPr>
              <a:t> được xác định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67475" y="4267200"/>
            <a:ext cx="4591050" cy="7905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B6B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38100" bIns="38100"/>
          <a:lstStyle/>
          <a:p>
            <a:pPr algn="ctr"/>
            <a:r>
              <a:rPr sz="1500" b="0" i="0">
                <a:solidFill>
                  <a:srgbClr val="6B6B6B"/>
                </a:solidFill>
                <a:latin typeface="Arial"/>
              </a:rPr>
              <a:t>So với trước: dân chủ được gọi tên là gì?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67475" y="5219700"/>
            <a:ext cx="4591050" cy="1314450"/>
          </a:xfrm>
          <a:prstGeom prst="roundRect">
            <a:avLst>
              <a:gd name="adj" fmla="val 17391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Dân chủ = ĐỘNG LỰC · Lấy dân làm gốc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67475" y="5219700"/>
            <a:ext cx="4591050" cy="1314450"/>
          </a:xfrm>
          <a:prstGeom prst="roundRect">
            <a:avLst>
              <a:gd name="adj" fmla="val 17391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  <p:sp>
        <p:nvSpPr>
          <p:cNvPr id="33" name="Rounded Rectangular Callout 32"/>
          <p:cNvSpPr/>
          <p:nvPr/>
        </p:nvSpPr>
        <p:spPr>
          <a:xfrm>
            <a:off x="11763375" y="3000375"/>
            <a:ext cx="5857875" cy="1571625"/>
          </a:xfrm>
          <a:prstGeom prst="wedgeRoundRectCallout">
            <a:avLst>
              <a:gd name="adj1" fmla="val -41544"/>
              <a:gd name="adj2" fmla="val 59696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“…quán triệt tư tưởng ‘lấy dân làm gốc’, xây dựng và phát huy quyền làm chủ của nhân dân lao động”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1991975" y="2857500"/>
            <a:ext cx="1190625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Đại hội VI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763375" y="4876800"/>
            <a:ext cx="5857875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Bài học: “cách mạng là sự nghiệp của quần chúng”</a:t>
            </a:r>
          </a:p>
        </p:txBody>
      </p:sp>
      <p:sp>
        <p:nvSpPr>
          <p:cNvPr id="36" name="Rounded Rectangular Callout 35"/>
          <p:cNvSpPr/>
          <p:nvPr/>
        </p:nvSpPr>
        <p:spPr>
          <a:xfrm>
            <a:off x="11763375" y="6096000"/>
            <a:ext cx="5857875" cy="1571625"/>
          </a:xfrm>
          <a:prstGeom prst="wedgeRoundRectCallout">
            <a:avLst>
              <a:gd name="adj1" fmla="val -41544"/>
              <a:gd name="adj2" fmla="val 59696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“ở đâu, nhân dân lao động có ý thức làm chủ và được làm chủ thật sự, thì ở đấy xuất hiện phong trào cách mạng”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991975" y="5953125"/>
            <a:ext cx="1190625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Đại hội VI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Qua mỗi kỳ đại hội thời kỳ đổi mới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33775" y="4033838"/>
            <a:ext cx="60007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067550" y="4033838"/>
            <a:ext cx="166688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234238" y="4033838"/>
            <a:ext cx="33337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267575" y="4000500"/>
            <a:ext cx="0" cy="33338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7267575" y="3967162"/>
            <a:ext cx="0" cy="33338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267575" y="3967162"/>
            <a:ext cx="400050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601325" y="3967162"/>
            <a:ext cx="276225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0877550" y="3967162"/>
            <a:ext cx="33338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910888" y="3967162"/>
            <a:ext cx="0" cy="33338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910888" y="4000500"/>
            <a:ext cx="0" cy="33338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910888" y="4033838"/>
            <a:ext cx="280987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4125575" y="4033838"/>
            <a:ext cx="60007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6206788" y="5362575"/>
            <a:ext cx="0" cy="10477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6206788" y="6410325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9224962" y="6543675"/>
            <a:ext cx="6981826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9144000" y="6543675"/>
            <a:ext cx="80962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9144000" y="6543675"/>
            <a:ext cx="0" cy="161925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6800850" y="5543550"/>
            <a:ext cx="0" cy="123825"/>
          </a:xfrm>
          <a:prstGeom prst="line">
            <a:avLst/>
          </a:prstGeom>
          <a:ln w="28575">
            <a:solidFill>
              <a:srgbClr val="6B6B6B"/>
            </a:solidFill>
            <a:prstDash val="sysDot"/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6800850" y="5419725"/>
            <a:ext cx="0" cy="123825"/>
          </a:xfrm>
          <a:prstGeom prst="line">
            <a:avLst/>
          </a:prstGeom>
          <a:ln w="28575">
            <a:solidFill>
              <a:srgbClr val="6B6B6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800850" y="5419725"/>
            <a:ext cx="2238375" cy="0"/>
          </a:xfrm>
          <a:prstGeom prst="line">
            <a:avLst/>
          </a:prstGeom>
          <a:ln w="28575">
            <a:solidFill>
              <a:srgbClr val="6B6B6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9039225" y="5419725"/>
            <a:ext cx="109537" cy="0"/>
          </a:xfrm>
          <a:prstGeom prst="line">
            <a:avLst/>
          </a:prstGeom>
          <a:ln w="28575">
            <a:solidFill>
              <a:srgbClr val="6B6B6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9148762" y="5200650"/>
            <a:ext cx="0" cy="219075"/>
          </a:xfrm>
          <a:prstGeom prst="line">
            <a:avLst/>
          </a:prstGeom>
          <a:ln w="28575">
            <a:solidFill>
              <a:srgbClr val="6B6B6B"/>
            </a:solidFill>
            <a:prstDash val="sysDot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2973050" y="6048375"/>
            <a:ext cx="528638" cy="0"/>
          </a:xfrm>
          <a:prstGeom prst="line">
            <a:avLst/>
          </a:prstGeom>
          <a:ln w="28575">
            <a:solidFill>
              <a:srgbClr val="6B6B6B"/>
            </a:solidFill>
            <a:prstDash val="sysDot"/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3501688" y="6048375"/>
            <a:ext cx="133350" cy="0"/>
          </a:xfrm>
          <a:prstGeom prst="line">
            <a:avLst/>
          </a:prstGeom>
          <a:ln w="28575">
            <a:solidFill>
              <a:srgbClr val="6B6B6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13635038" y="4167188"/>
            <a:ext cx="0" cy="1881187"/>
          </a:xfrm>
          <a:prstGeom prst="line">
            <a:avLst/>
          </a:prstGeom>
          <a:ln w="28575">
            <a:solidFill>
              <a:srgbClr val="6B6B6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13635038" y="4033838"/>
            <a:ext cx="0" cy="133350"/>
          </a:xfrm>
          <a:prstGeom prst="line">
            <a:avLst/>
          </a:prstGeom>
          <a:ln w="28575">
            <a:solidFill>
              <a:srgbClr val="6B6B6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3635038" y="4033838"/>
            <a:ext cx="1090612" cy="0"/>
          </a:xfrm>
          <a:prstGeom prst="line">
            <a:avLst/>
          </a:prstGeom>
          <a:ln w="28575">
            <a:solidFill>
              <a:srgbClr val="6B6B6B"/>
            </a:solidFill>
            <a:prstDash val="sysDot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666750" y="3124200"/>
            <a:ext cx="2828925" cy="1819275"/>
          </a:xfrm>
          <a:prstGeom prst="roundRect">
            <a:avLst>
              <a:gd name="adj" fmla="val 628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Đặc trưng của CNXH Việt Nam: do nhân dân làm chủ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00525" y="2933700"/>
            <a:ext cx="2828925" cy="2200275"/>
          </a:xfrm>
          <a:prstGeom prst="roundRect">
            <a:avLst>
              <a:gd name="adj" fmla="val 5194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Mục tiêu tổng quát: Dân giàu, nước mạnh, </a:t>
            </a:r>
            <a:r>
              <a:rPr sz="2137" b="1" i="0">
                <a:solidFill>
                  <a:srgbClr val="8C2F2B"/>
                </a:solidFill>
                <a:latin typeface="Arial"/>
              </a:rPr>
              <a:t>DÂN CHỦ</a:t>
            </a:r>
            <a:r>
              <a:rPr sz="2137" b="0" i="0">
                <a:solidFill>
                  <a:srgbClr val="2B2622"/>
                </a:solidFill>
                <a:latin typeface="Arial"/>
              </a:rPr>
              <a:t>, công bằng, văn minh</a:t>
            </a:r>
          </a:p>
        </p:txBody>
      </p:sp>
      <p:sp>
        <p:nvSpPr>
          <p:cNvPr id="38" name="Rounded Rectangular Callout 37"/>
          <p:cNvSpPr/>
          <p:nvPr/>
        </p:nvSpPr>
        <p:spPr>
          <a:xfrm>
            <a:off x="7734300" y="2800350"/>
            <a:ext cx="2828925" cy="2333625"/>
          </a:xfrm>
          <a:prstGeom prst="wedgeRoundRectCallout">
            <a:avLst>
              <a:gd name="adj1" fmla="val -32491"/>
              <a:gd name="adj2" fmla="val 56530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“Dân chủ XHCN là bản chất của chế độ ta, vừa là mục tiêu, vừa là động lực…”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962900" y="2657475"/>
            <a:ext cx="647700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Đảng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258550" y="3314700"/>
            <a:ext cx="2828925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Thực hiện ở mỗi cấp, trên tất cả các lĩnh vực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4792325" y="2743200"/>
            <a:ext cx="2828925" cy="2581275"/>
          </a:xfrm>
          <a:prstGeom prst="roundRect">
            <a:avLst>
              <a:gd name="adj" fmla="val 4428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Gắn liền với kỷ luật, kỷ cương; thể chế hóa bằng pháp luật, được pháp luật bảo đảm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66750" y="5705475"/>
            <a:ext cx="12268200" cy="685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Trước Đổi mới: bản chất dân chủ </a:t>
            </a:r>
            <a:r>
              <a:rPr sz="2137" b="1" i="0">
                <a:solidFill>
                  <a:srgbClr val="1F3A5F"/>
                </a:solidFill>
                <a:latin typeface="Arial"/>
              </a:rPr>
              <a:t>CHƯA</a:t>
            </a:r>
            <a:r>
              <a:rPr sz="2137" b="0" i="0">
                <a:solidFill>
                  <a:srgbClr val="1F3A5F"/>
                </a:solidFill>
                <a:latin typeface="Arial"/>
              </a:rPr>
              <a:t> xác định · </a:t>
            </a:r>
            <a:r>
              <a:rPr sz="2137" b="1" i="0">
                <a:solidFill>
                  <a:srgbClr val="1F3A5F"/>
                </a:solidFill>
                <a:latin typeface="Arial"/>
              </a:rPr>
              <a:t>CHƯA</a:t>
            </a:r>
            <a:r>
              <a:rPr sz="2137" b="0" i="0">
                <a:solidFill>
                  <a:srgbClr val="1F3A5F"/>
                </a:solidFill>
                <a:latin typeface="Arial"/>
              </a:rPr>
              <a:t> gắn với pháp luật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66750" y="6772275"/>
            <a:ext cx="16954500" cy="1285875"/>
          </a:xfrm>
          <a:prstGeom prst="roundRect">
            <a:avLst>
              <a:gd name="adj" fmla="val 17777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Dân chủ ngày càng được nhận thức, phát triển, hoàn thiện đúng đắn, phù hợp hơn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66750" y="6772275"/>
            <a:ext cx="16954500" cy="1285875"/>
          </a:xfrm>
          <a:prstGeom prst="roundRect">
            <a:avLst>
              <a:gd name="adj" fmla="val 17777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>
                      <p:stCondLst>
                        <p:cond delay="indefinite"/>
                      </p:stCondLst>
                      <p:childTnLst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“Nước ta là nước dân chủ” — Hồ Chí Minh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72175" y="2676525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162675" y="2676525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296025" y="2676525"/>
            <a:ext cx="0" cy="2919413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296025" y="5595938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96025" y="5729288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972175" y="3781425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162675" y="3781425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296025" y="3781425"/>
            <a:ext cx="0" cy="1814513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296025" y="5595938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296025" y="5729288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972175" y="5086350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162675" y="5086350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296025" y="5086350"/>
            <a:ext cx="0" cy="509588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296025" y="5595938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296025" y="5729288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972175" y="6572250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162675" y="6572250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6296025" y="5862638"/>
            <a:ext cx="0" cy="709612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6296025" y="5729288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296025" y="5729288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12125325" y="3228975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11991975" y="3228975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1991975" y="3228975"/>
            <a:ext cx="0" cy="2366963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1991975" y="5595938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11715750" y="5729288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12125325" y="4724400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11991975" y="4724400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1991975" y="4724400"/>
            <a:ext cx="0" cy="871538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991975" y="5595938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11715750" y="5729288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12125325" y="6210300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11991975" y="6210300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11991975" y="5862638"/>
            <a:ext cx="0" cy="347662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1991975" y="5729288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11715750" y="5729288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ular Callout 43"/>
          <p:cNvSpPr/>
          <p:nvPr/>
        </p:nvSpPr>
        <p:spPr>
          <a:xfrm>
            <a:off x="666750" y="2085975"/>
            <a:ext cx="5267325" cy="800100"/>
          </a:xfrm>
          <a:prstGeom prst="wedgeRoundRectCallout">
            <a:avLst>
              <a:gd name="adj1" fmla="val -40596"/>
              <a:gd name="adj2" fmla="val 69047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Bao nhiêu lợi ích đều vì </a:t>
            </a:r>
            <a:r>
              <a:rPr sz="2137" b="1" i="1">
                <a:solidFill>
                  <a:srgbClr val="8C2F2B"/>
                </a:solidFill>
                <a:latin typeface="Georgia"/>
              </a:rPr>
              <a:t>……………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95350" y="1943100"/>
            <a:ext cx="1281112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Hồ Chí Minh</a:t>
            </a:r>
          </a:p>
        </p:txBody>
      </p:sp>
      <p:sp>
        <p:nvSpPr>
          <p:cNvPr id="46" name="Rounded Rectangular Callout 45"/>
          <p:cNvSpPr/>
          <p:nvPr/>
        </p:nvSpPr>
        <p:spPr>
          <a:xfrm>
            <a:off x="666750" y="3190875"/>
            <a:ext cx="5267325" cy="1181100"/>
          </a:xfrm>
          <a:prstGeom prst="wedgeRoundRectCallout">
            <a:avLst>
              <a:gd name="adj1" fmla="val -40596"/>
              <a:gd name="adj2" fmla="val 62903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Bao nhiêu quyền hạn đều của </a:t>
            </a:r>
            <a:r>
              <a:rPr sz="2137" b="1" i="1">
                <a:solidFill>
                  <a:srgbClr val="8C2F2B"/>
                </a:solidFill>
                <a:latin typeface="Georgia"/>
              </a:rPr>
              <a:t>……………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95350" y="3048000"/>
            <a:ext cx="1281112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Hồ Chí Minh</a:t>
            </a:r>
          </a:p>
        </p:txBody>
      </p:sp>
      <p:sp>
        <p:nvSpPr>
          <p:cNvPr id="48" name="Rounded Rectangular Callout 47"/>
          <p:cNvSpPr/>
          <p:nvPr/>
        </p:nvSpPr>
        <p:spPr>
          <a:xfrm>
            <a:off x="666750" y="4686300"/>
            <a:ext cx="5267325" cy="1181100"/>
          </a:xfrm>
          <a:prstGeom prst="wedgeRoundRectCallout">
            <a:avLst>
              <a:gd name="adj1" fmla="val -40596"/>
              <a:gd name="adj2" fmla="val 62903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Công cuộc đổi mới, xây dựng là trách nhiệm của </a:t>
            </a:r>
            <a:r>
              <a:rPr sz="2137" b="1" i="1">
                <a:solidFill>
                  <a:srgbClr val="8C2F2B"/>
                </a:solidFill>
                <a:latin typeface="Georgia"/>
              </a:rPr>
              <a:t>……………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95350" y="4543425"/>
            <a:ext cx="1281112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Hồ Chí Minh</a:t>
            </a:r>
          </a:p>
        </p:txBody>
      </p:sp>
      <p:sp>
        <p:nvSpPr>
          <p:cNvPr id="50" name="Rounded Rectangular Callout 49"/>
          <p:cNvSpPr/>
          <p:nvPr/>
        </p:nvSpPr>
        <p:spPr>
          <a:xfrm>
            <a:off x="666750" y="6172200"/>
            <a:ext cx="5267325" cy="1181100"/>
          </a:xfrm>
          <a:prstGeom prst="wedgeRoundRectCallout">
            <a:avLst>
              <a:gd name="adj1" fmla="val -40596"/>
              <a:gd name="adj2" fmla="val 62903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Sự nghiệp kháng chiến, kiến quốc là công việc của </a:t>
            </a:r>
            <a:r>
              <a:rPr sz="2137" b="1" i="1">
                <a:solidFill>
                  <a:srgbClr val="8C2F2B"/>
                </a:solidFill>
                <a:latin typeface="Georgia"/>
              </a:rPr>
              <a:t>……………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95350" y="6029325"/>
            <a:ext cx="1281112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Hồ Chí Minh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66750" y="7658100"/>
            <a:ext cx="5267325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Dựa vào: Nhà nước XHCN + sự ủng hộ, giúp đỡ của nhân dân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848600" y="4010025"/>
            <a:ext cx="2590800" cy="4857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B6B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38100" bIns="38100"/>
          <a:lstStyle/>
          <a:p>
            <a:pPr algn="ctr"/>
            <a:r>
              <a:rPr sz="1500" b="0" i="0">
                <a:solidFill>
                  <a:srgbClr val="6B6B6B"/>
                </a:solidFill>
                <a:latin typeface="Arial"/>
              </a:rPr>
              <a:t>Chữ còn thiếu là gì?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638925" y="4667250"/>
            <a:ext cx="5010150" cy="2133600"/>
          </a:xfrm>
          <a:prstGeom prst="roundRect">
            <a:avLst>
              <a:gd name="adj" fmla="val 10714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TẤT CẢ QUYỀN LỰC THUỘC VỀ NHÂN DÂN — dân là gốc, là chủ, dân làm chủ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638925" y="4667250"/>
            <a:ext cx="5010150" cy="2133600"/>
          </a:xfrm>
          <a:prstGeom prst="roundRect">
            <a:avLst>
              <a:gd name="adj" fmla="val 10714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  <p:sp>
        <p:nvSpPr>
          <p:cNvPr id="56" name="Rounded Rectangular Callout 55"/>
          <p:cNvSpPr/>
          <p:nvPr/>
        </p:nvSpPr>
        <p:spPr>
          <a:xfrm>
            <a:off x="12353925" y="2638425"/>
            <a:ext cx="5267325" cy="1181100"/>
          </a:xfrm>
          <a:prstGeom prst="wedgeRoundRectCallout">
            <a:avLst>
              <a:gd name="adj1" fmla="val -40596"/>
              <a:gd name="adj2" fmla="val 62903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Chính quyền từ xã đến Chính phủ trung ương do </a:t>
            </a:r>
            <a:r>
              <a:rPr sz="2137" b="1" i="1">
                <a:solidFill>
                  <a:srgbClr val="8C2F2B"/>
                </a:solidFill>
                <a:latin typeface="Georgia"/>
              </a:rPr>
              <a:t>……………</a:t>
            </a:r>
            <a:r>
              <a:rPr sz="2137" b="0" i="1">
                <a:solidFill>
                  <a:srgbClr val="2B2622"/>
                </a:solidFill>
                <a:latin typeface="Georgia"/>
              </a:rPr>
              <a:t> cử ra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2582525" y="2495550"/>
            <a:ext cx="1281112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Hồ Chí Minh</a:t>
            </a:r>
          </a:p>
        </p:txBody>
      </p:sp>
      <p:sp>
        <p:nvSpPr>
          <p:cNvPr id="58" name="Rounded Rectangular Callout 57"/>
          <p:cNvSpPr/>
          <p:nvPr/>
        </p:nvSpPr>
        <p:spPr>
          <a:xfrm>
            <a:off x="12353925" y="4133850"/>
            <a:ext cx="5267325" cy="1181100"/>
          </a:xfrm>
          <a:prstGeom prst="wedgeRoundRectCallout">
            <a:avLst>
              <a:gd name="adj1" fmla="val -40596"/>
              <a:gd name="adj2" fmla="val 62903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Đoàn thể từ Trung ương đến xã do </a:t>
            </a:r>
            <a:r>
              <a:rPr sz="2137" b="1" i="1">
                <a:solidFill>
                  <a:srgbClr val="8C2F2B"/>
                </a:solidFill>
                <a:latin typeface="Georgia"/>
              </a:rPr>
              <a:t>……………</a:t>
            </a:r>
            <a:r>
              <a:rPr sz="2137" b="0" i="1">
                <a:solidFill>
                  <a:srgbClr val="2B2622"/>
                </a:solidFill>
                <a:latin typeface="Georgia"/>
              </a:rPr>
              <a:t> tổ chức nên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2582525" y="3990975"/>
            <a:ext cx="1281112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Hồ Chí Minh</a:t>
            </a:r>
          </a:p>
        </p:txBody>
      </p:sp>
      <p:sp>
        <p:nvSpPr>
          <p:cNvPr id="60" name="Rounded Rectangular Callout 59"/>
          <p:cNvSpPr/>
          <p:nvPr/>
        </p:nvSpPr>
        <p:spPr>
          <a:xfrm>
            <a:off x="12353925" y="5619750"/>
            <a:ext cx="5267325" cy="1181100"/>
          </a:xfrm>
          <a:prstGeom prst="wedgeRoundRectCallout">
            <a:avLst>
              <a:gd name="adj1" fmla="val -40596"/>
              <a:gd name="adj2" fmla="val 62903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Nói tóm lại, quyền hành và lực lượng đều ở nơi </a:t>
            </a:r>
            <a:r>
              <a:rPr sz="2137" b="1" i="1">
                <a:solidFill>
                  <a:srgbClr val="8C2F2B"/>
                </a:solidFill>
                <a:latin typeface="Georgia"/>
              </a:rPr>
              <a:t>……………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2582525" y="5476875"/>
            <a:ext cx="1281112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Hồ Chí Minh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2353925" y="7105650"/>
            <a:ext cx="5267325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Con người: tư cách công dân, tư cách người làm chủ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“Nước ta là nước dân chủ” — Hồ Chí Minh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72175" y="2676525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162675" y="2676525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296025" y="2676525"/>
            <a:ext cx="0" cy="2919413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296025" y="5595938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96025" y="5729288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972175" y="3781425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162675" y="3781425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296025" y="3781425"/>
            <a:ext cx="0" cy="1814513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296025" y="5595938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296025" y="5729288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972175" y="5086350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162675" y="5086350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296025" y="5086350"/>
            <a:ext cx="0" cy="509588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296025" y="5595938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296025" y="5729288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972175" y="6572250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162675" y="6572250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6296025" y="5862638"/>
            <a:ext cx="0" cy="709612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6296025" y="5729288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296025" y="5729288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12125325" y="3228975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11991975" y="3228975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1991975" y="3228975"/>
            <a:ext cx="0" cy="2366963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1991975" y="5595938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11715750" y="5729288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12125325" y="4724400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11991975" y="4724400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1991975" y="4724400"/>
            <a:ext cx="0" cy="871538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991975" y="5595938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11715750" y="5729288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12125325" y="6210300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11991975" y="6210300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11991975" y="5862638"/>
            <a:ext cx="0" cy="347662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1991975" y="5729288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11715750" y="5729288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972175" y="7991475"/>
            <a:ext cx="19050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6162675" y="7991475"/>
            <a:ext cx="13335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6296025" y="5862638"/>
            <a:ext cx="0" cy="2128837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6296025" y="5729288"/>
            <a:ext cx="0" cy="13335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296025" y="5729288"/>
            <a:ext cx="27622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2125325" y="7629525"/>
            <a:ext cx="19050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1991975" y="7629525"/>
            <a:ext cx="13335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11991975" y="5862638"/>
            <a:ext cx="0" cy="1766887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11991975" y="5729288"/>
            <a:ext cx="0" cy="13335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1715750" y="5729288"/>
            <a:ext cx="27622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ular Callout 53"/>
          <p:cNvSpPr/>
          <p:nvPr/>
        </p:nvSpPr>
        <p:spPr>
          <a:xfrm>
            <a:off x="666750" y="2085975"/>
            <a:ext cx="5267325" cy="800100"/>
          </a:xfrm>
          <a:prstGeom prst="wedgeRoundRectCallout">
            <a:avLst>
              <a:gd name="adj1" fmla="val -40596"/>
              <a:gd name="adj2" fmla="val 69047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Bao nhiêu lợi ích đều vì </a:t>
            </a:r>
            <a:r>
              <a:rPr sz="2137" b="1" i="1">
                <a:solidFill>
                  <a:srgbClr val="8C2F2B"/>
                </a:solidFill>
                <a:latin typeface="Georgia"/>
              </a:rPr>
              <a:t>dân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95350" y="1943100"/>
            <a:ext cx="1281112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Hồ Chí Minh</a:t>
            </a:r>
          </a:p>
        </p:txBody>
      </p:sp>
      <p:sp>
        <p:nvSpPr>
          <p:cNvPr id="56" name="Rounded Rectangular Callout 55"/>
          <p:cNvSpPr/>
          <p:nvPr/>
        </p:nvSpPr>
        <p:spPr>
          <a:xfrm>
            <a:off x="666750" y="3190875"/>
            <a:ext cx="5267325" cy="1181100"/>
          </a:xfrm>
          <a:prstGeom prst="wedgeRoundRectCallout">
            <a:avLst>
              <a:gd name="adj1" fmla="val -40596"/>
              <a:gd name="adj2" fmla="val 62903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Bao nhiêu quyền hạn đều của </a:t>
            </a:r>
            <a:r>
              <a:rPr sz="2137" b="1" i="1">
                <a:solidFill>
                  <a:srgbClr val="8C2F2B"/>
                </a:solidFill>
                <a:latin typeface="Georgia"/>
              </a:rPr>
              <a:t>dân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95350" y="3048000"/>
            <a:ext cx="1281112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Hồ Chí Minh</a:t>
            </a:r>
          </a:p>
        </p:txBody>
      </p:sp>
      <p:sp>
        <p:nvSpPr>
          <p:cNvPr id="58" name="Rounded Rectangular Callout 57"/>
          <p:cNvSpPr/>
          <p:nvPr/>
        </p:nvSpPr>
        <p:spPr>
          <a:xfrm>
            <a:off x="666750" y="4686300"/>
            <a:ext cx="5267325" cy="1181100"/>
          </a:xfrm>
          <a:prstGeom prst="wedgeRoundRectCallout">
            <a:avLst>
              <a:gd name="adj1" fmla="val -40596"/>
              <a:gd name="adj2" fmla="val 62903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Công cuộc đổi mới, xây dựng là trách nhiệm của </a:t>
            </a:r>
            <a:r>
              <a:rPr sz="2137" b="1" i="1">
                <a:solidFill>
                  <a:srgbClr val="8C2F2B"/>
                </a:solidFill>
                <a:latin typeface="Georgia"/>
              </a:rPr>
              <a:t>dân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95350" y="4543425"/>
            <a:ext cx="1281112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Hồ Chí Minh</a:t>
            </a:r>
          </a:p>
        </p:txBody>
      </p:sp>
      <p:sp>
        <p:nvSpPr>
          <p:cNvPr id="60" name="Rounded Rectangular Callout 59"/>
          <p:cNvSpPr/>
          <p:nvPr/>
        </p:nvSpPr>
        <p:spPr>
          <a:xfrm>
            <a:off x="666750" y="6172200"/>
            <a:ext cx="5267325" cy="1181100"/>
          </a:xfrm>
          <a:prstGeom prst="wedgeRoundRectCallout">
            <a:avLst>
              <a:gd name="adj1" fmla="val -40596"/>
              <a:gd name="adj2" fmla="val 62903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Sự nghiệp kháng chiến, kiến quốc là công việc của </a:t>
            </a:r>
            <a:r>
              <a:rPr sz="2137" b="1" i="1">
                <a:solidFill>
                  <a:srgbClr val="8C2F2B"/>
                </a:solidFill>
                <a:latin typeface="Georgia"/>
              </a:rPr>
              <a:t>dân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95350" y="6029325"/>
            <a:ext cx="1281112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Hồ Chí Minh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66750" y="7658100"/>
            <a:ext cx="5267325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Dựa vào: Nhà nước XHCN + sự ủng hộ, giúp đỡ của nhân dân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848600" y="4010025"/>
            <a:ext cx="2590800" cy="4857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B6B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38100" bIns="38100"/>
          <a:lstStyle/>
          <a:p>
            <a:pPr algn="ctr"/>
            <a:r>
              <a:rPr sz="1500" b="0" i="0">
                <a:solidFill>
                  <a:srgbClr val="6B6B6B"/>
                </a:solidFill>
                <a:latin typeface="Arial"/>
              </a:rPr>
              <a:t>Chữ còn thiếu là gì?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638925" y="4667250"/>
            <a:ext cx="5010150" cy="2133600"/>
          </a:xfrm>
          <a:prstGeom prst="roundRect">
            <a:avLst>
              <a:gd name="adj" fmla="val 10714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TẤT CẢ QUYỀN LỰC THUỘC VỀ NHÂN DÂN — dân là gốc, là chủ, dân làm chủ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638925" y="4667250"/>
            <a:ext cx="5010150" cy="2133600"/>
          </a:xfrm>
          <a:prstGeom prst="roundRect">
            <a:avLst>
              <a:gd name="adj" fmla="val 10714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  <p:sp>
        <p:nvSpPr>
          <p:cNvPr id="66" name="Rounded Rectangular Callout 65"/>
          <p:cNvSpPr/>
          <p:nvPr/>
        </p:nvSpPr>
        <p:spPr>
          <a:xfrm>
            <a:off x="12353925" y="2638425"/>
            <a:ext cx="5267325" cy="1181100"/>
          </a:xfrm>
          <a:prstGeom prst="wedgeRoundRectCallout">
            <a:avLst>
              <a:gd name="adj1" fmla="val -40596"/>
              <a:gd name="adj2" fmla="val 62903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Chính quyền từ xã đến Chính phủ trung ương do </a:t>
            </a:r>
            <a:r>
              <a:rPr sz="2137" b="1" i="1">
                <a:solidFill>
                  <a:srgbClr val="8C2F2B"/>
                </a:solidFill>
                <a:latin typeface="Georgia"/>
              </a:rPr>
              <a:t>dân</a:t>
            </a:r>
            <a:r>
              <a:rPr sz="2137" b="0" i="1">
                <a:solidFill>
                  <a:srgbClr val="2B2622"/>
                </a:solidFill>
                <a:latin typeface="Georgia"/>
              </a:rPr>
              <a:t> cử ra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2582525" y="2495550"/>
            <a:ext cx="1281112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Hồ Chí Minh</a:t>
            </a:r>
          </a:p>
        </p:txBody>
      </p:sp>
      <p:sp>
        <p:nvSpPr>
          <p:cNvPr id="68" name="Rounded Rectangular Callout 67"/>
          <p:cNvSpPr/>
          <p:nvPr/>
        </p:nvSpPr>
        <p:spPr>
          <a:xfrm>
            <a:off x="12353925" y="4133850"/>
            <a:ext cx="5267325" cy="1181100"/>
          </a:xfrm>
          <a:prstGeom prst="wedgeRoundRectCallout">
            <a:avLst>
              <a:gd name="adj1" fmla="val -40596"/>
              <a:gd name="adj2" fmla="val 62903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Đoàn thể từ Trung ương đến xã do </a:t>
            </a:r>
            <a:r>
              <a:rPr sz="2137" b="1" i="1">
                <a:solidFill>
                  <a:srgbClr val="8C2F2B"/>
                </a:solidFill>
                <a:latin typeface="Georgia"/>
              </a:rPr>
              <a:t>dân</a:t>
            </a:r>
            <a:r>
              <a:rPr sz="2137" b="0" i="1">
                <a:solidFill>
                  <a:srgbClr val="2B2622"/>
                </a:solidFill>
                <a:latin typeface="Georgia"/>
              </a:rPr>
              <a:t> tổ chức nên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2582525" y="3990975"/>
            <a:ext cx="1281112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Hồ Chí Minh</a:t>
            </a:r>
          </a:p>
        </p:txBody>
      </p:sp>
      <p:sp>
        <p:nvSpPr>
          <p:cNvPr id="70" name="Rounded Rectangular Callout 69"/>
          <p:cNvSpPr/>
          <p:nvPr/>
        </p:nvSpPr>
        <p:spPr>
          <a:xfrm>
            <a:off x="12353925" y="5619750"/>
            <a:ext cx="5267325" cy="1181100"/>
          </a:xfrm>
          <a:prstGeom prst="wedgeRoundRectCallout">
            <a:avLst>
              <a:gd name="adj1" fmla="val -40596"/>
              <a:gd name="adj2" fmla="val 62903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Nói tóm lại, quyền hành và lực lượng đều ở nơi </a:t>
            </a:r>
            <a:r>
              <a:rPr sz="2137" b="1" i="1">
                <a:solidFill>
                  <a:srgbClr val="8C2F2B"/>
                </a:solidFill>
                <a:latin typeface="Georgia"/>
              </a:rPr>
              <a:t>dân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2582525" y="5476875"/>
            <a:ext cx="1281112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Hồ Chí Minh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2353925" y="7105650"/>
            <a:ext cx="5267325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Con người: tư cách công dân, tư cách người làm chủ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Bốn nội dung của dân chủ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800725" y="4795838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991225" y="4795838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124575" y="4795838"/>
            <a:ext cx="0" cy="1290637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124575" y="6086475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124575" y="6219825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800725" y="6219825"/>
            <a:ext cx="60007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12296775" y="4791075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12163425" y="4791075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2163425" y="4791075"/>
            <a:ext cx="0" cy="129540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2163425" y="6086475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11887200" y="6219825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12268200" y="6010275"/>
            <a:ext cx="219075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12163425" y="6010275"/>
            <a:ext cx="104775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2163425" y="6010275"/>
            <a:ext cx="0" cy="104775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2163425" y="6115050"/>
            <a:ext cx="0" cy="104775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11887200" y="6219825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9144000" y="5019675"/>
            <a:ext cx="0" cy="66675"/>
          </a:xfrm>
          <a:prstGeom prst="line">
            <a:avLst/>
          </a:prstGeom>
          <a:ln w="23812">
            <a:solidFill>
              <a:srgbClr val="1F3A5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66750" y="4076700"/>
            <a:ext cx="5095875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1" i="0">
                <a:solidFill>
                  <a:srgbClr val="8C2F2B"/>
                </a:solidFill>
                <a:latin typeface="Arial"/>
              </a:rPr>
              <a:t>MỤC TIÊU</a:t>
            </a:r>
            <a:r>
              <a:rPr sz="2137" b="0" i="0">
                <a:solidFill>
                  <a:srgbClr val="2B2622"/>
                </a:solidFill>
                <a:latin typeface="Arial"/>
              </a:rPr>
              <a:t> — dân giàu, nước mạnh, dân chủ, công bằng, văn minh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6750" y="5676900"/>
            <a:ext cx="5095875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1" i="0">
                <a:solidFill>
                  <a:srgbClr val="8C2F2B"/>
                </a:solidFill>
                <a:latin typeface="Arial"/>
              </a:rPr>
              <a:t>BẢN CHẤT</a:t>
            </a:r>
            <a:r>
              <a:rPr sz="2137" b="0" i="0">
                <a:solidFill>
                  <a:srgbClr val="2B2622"/>
                </a:solidFill>
                <a:latin typeface="Arial"/>
              </a:rPr>
              <a:t> — nhân dân làm chủ, quyền lực thuộc về nhân dân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67475" y="3524250"/>
            <a:ext cx="5353050" cy="1457325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Ba mươi lăm năm đổi mới: bản chất · mục tiêu · động lực · gắn với pháp luật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67475" y="5153025"/>
            <a:ext cx="5353050" cy="2133600"/>
          </a:xfrm>
          <a:prstGeom prst="roundRect">
            <a:avLst>
              <a:gd name="adj" fmla="val 10714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Dân chủ phải được thực hiện ở TẤT CẢ CÁC CẤP, MỌI LĨNH VỰC: kinh tế · chính trị · văn hóa · xã hội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67475" y="5153025"/>
            <a:ext cx="5353050" cy="2133600"/>
          </a:xfrm>
          <a:prstGeom prst="roundRect">
            <a:avLst>
              <a:gd name="adj" fmla="val 10714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2525375" y="4267200"/>
            <a:ext cx="5095875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1" i="0">
                <a:solidFill>
                  <a:srgbClr val="8C2F2B"/>
                </a:solidFill>
                <a:latin typeface="Arial"/>
              </a:rPr>
              <a:t>ĐỘNG LỰC</a:t>
            </a:r>
            <a:r>
              <a:rPr sz="2137" b="0" i="0">
                <a:solidFill>
                  <a:srgbClr val="2B2622"/>
                </a:solidFill>
                <a:latin typeface="Arial"/>
              </a:rPr>
              <a:t> — phát huy sức mạnh nhân dân, toàn dân tộc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2525375" y="5486400"/>
            <a:ext cx="5095875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1" i="0">
                <a:solidFill>
                  <a:srgbClr val="8C2F2B"/>
                </a:solidFill>
                <a:latin typeface="Arial"/>
              </a:rPr>
              <a:t>GẮN VỚI PHÁP LUẬT</a:t>
            </a:r>
            <a:r>
              <a:rPr sz="2137" b="0" i="0">
                <a:solidFill>
                  <a:srgbClr val="2B2622"/>
                </a:solidFill>
                <a:latin typeface="Arial"/>
              </a:rPr>
              <a:t> — đi đôi với kỷ luật, kỷ cương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Dân tự làm, hay giao cho người đại diện?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43700" y="1790700"/>
            <a:ext cx="3105150" cy="4857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B6B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38100" bIns="38100"/>
          <a:lstStyle/>
          <a:p>
            <a:pPr algn="ctr"/>
            <a:r>
              <a:rPr sz="1500" b="0" i="0">
                <a:solidFill>
                  <a:srgbClr val="6B6B6B"/>
                </a:solidFill>
                <a:latin typeface="Arial"/>
              </a:rPr>
              <a:t>Chia 6 thẻ thành 2 nhóm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6750" y="2447925"/>
            <a:ext cx="15259050" cy="666750"/>
          </a:xfrm>
          <a:prstGeom prst="roundRect">
            <a:avLst>
              <a:gd name="adj" fmla="val 1714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Người và tổ chức được bầu đại diện, thực hiện quyền làm chủ cho nhân dân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6750" y="3286125"/>
            <a:ext cx="15259050" cy="666750"/>
          </a:xfrm>
          <a:prstGeom prst="roundRect">
            <a:avLst>
              <a:gd name="adj" fmla="val 1714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Được thông tin về hoạt động của nhà nước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6750" y="4133850"/>
            <a:ext cx="15259050" cy="666750"/>
          </a:xfrm>
          <a:prstGeom prst="roundRect">
            <a:avLst>
              <a:gd name="adj" fmla="val 1714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Nhân dân bầu ra Quốc hội — cơ quan quyền lực nhà nước cao nhất, nhiệm kỳ 5 năm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6750" y="4972050"/>
            <a:ext cx="15259050" cy="666750"/>
          </a:xfrm>
          <a:prstGeom prst="roundRect">
            <a:avLst>
              <a:gd name="adj" fmla="val 1714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Kiểm tra, giám sát cơ quan nhà nước từ Trung ương đến cơ sở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6750" y="5810250"/>
            <a:ext cx="15259050" cy="666750"/>
          </a:xfrm>
          <a:prstGeom prst="roundRect">
            <a:avLst>
              <a:gd name="adj" fmla="val 1714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“Ủy quyền”, giao quyền lực cho tổ chức do nhân dân trực tiếp bầu ra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6750" y="6648450"/>
            <a:ext cx="15259050" cy="666750"/>
          </a:xfrm>
          <a:prstGeom prst="roundRect">
            <a:avLst>
              <a:gd name="adj" fmla="val 1714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Được bàn bạc về công việc của nhà nước, cộng đồng dân cư; bàn quyết định dân chủ cơ sở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6750" y="7696200"/>
            <a:ext cx="16954500" cy="1314450"/>
          </a:xfrm>
          <a:prstGeom prst="roundRect">
            <a:avLst>
              <a:gd name="adj" fmla="val 17391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Bản chất dân chủ XHCN được thực hiện qua HAI HÌNH THỨC → trở thành quy chế, cách làm việc của mọi tổ chức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6750" y="7696200"/>
            <a:ext cx="16954500" cy="1314450"/>
          </a:xfrm>
          <a:prstGeom prst="roundRect">
            <a:avLst>
              <a:gd name="adj" fmla="val 17391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Dân tự làm, hay giao cho người đại diện?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729162" y="5200650"/>
            <a:ext cx="0" cy="66675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3558838" y="5010150"/>
            <a:ext cx="0" cy="66675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729162" y="6657975"/>
            <a:ext cx="0" cy="195263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29162" y="6853238"/>
            <a:ext cx="0" cy="13335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3228975" y="6986588"/>
            <a:ext cx="1500187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3095625" y="6986588"/>
            <a:ext cx="13335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095625" y="6986588"/>
            <a:ext cx="0" cy="300037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729162" y="6657975"/>
            <a:ext cx="0" cy="571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729162" y="6715125"/>
            <a:ext cx="0" cy="571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729162" y="6772275"/>
            <a:ext cx="4576763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305925" y="6772275"/>
            <a:ext cx="80963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386888" y="6772275"/>
            <a:ext cx="0" cy="161925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3558838" y="6467475"/>
            <a:ext cx="0" cy="1714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3558838" y="6638925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9467850" y="6772275"/>
            <a:ext cx="4090988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9386888" y="6772275"/>
            <a:ext cx="80962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9386888" y="6772275"/>
            <a:ext cx="0" cy="161925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12611100" y="8067675"/>
            <a:ext cx="600075" cy="0"/>
          </a:xfrm>
          <a:prstGeom prst="line">
            <a:avLst/>
          </a:prstGeom>
          <a:ln w="23812">
            <a:solidFill>
              <a:srgbClr val="1F3A5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66750" y="1666875"/>
            <a:ext cx="8124825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Nhân dân bầu ra Quốc hội — cơ quan quyền lực nhà nước cao nhất, nhiệm kỳ 5 năm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6750" y="2886075"/>
            <a:ext cx="8124825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“Ủy quyền”, giao quyền lực cho tổ chức do nhân dân trực tiếp bầu ra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6750" y="4114800"/>
            <a:ext cx="8124825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Người và tổ chức được bầu đại diện, thực hiện quyền làm chủ cho nhân dân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6750" y="5334000"/>
            <a:ext cx="8124825" cy="1285875"/>
          </a:xfrm>
          <a:prstGeom prst="roundRect">
            <a:avLst>
              <a:gd name="adj" fmla="val 17777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DÂN CHỦ GIÁN TIẾP — dân chủ đại diện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6750" y="5334000"/>
            <a:ext cx="8124825" cy="1285875"/>
          </a:xfrm>
          <a:prstGeom prst="roundRect">
            <a:avLst>
              <a:gd name="adj" fmla="val 17777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496425" y="1857375"/>
            <a:ext cx="8124825" cy="666750"/>
          </a:xfrm>
          <a:prstGeom prst="roundRect">
            <a:avLst>
              <a:gd name="adj" fmla="val 1714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Được thông tin về hoạt động của nhà nước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496425" y="2695575"/>
            <a:ext cx="8124825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Được bàn bạc về công việc của nhà nước, cộng đồng dân cư; bàn quyết định dân chủ cơ sở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496425" y="3924300"/>
            <a:ext cx="8124825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Kiểm tra, giám sát cơ quan nhà nước từ Trung ương đến cơ sở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96425" y="5143500"/>
            <a:ext cx="8124825" cy="1285875"/>
          </a:xfrm>
          <a:prstGeom prst="roundRect">
            <a:avLst>
              <a:gd name="adj" fmla="val 17777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DÂN CHỦ TRỰC TIẾP — dân tự hành động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96425" y="5143500"/>
            <a:ext cx="8124825" cy="1285875"/>
          </a:xfrm>
          <a:prstGeom prst="roundRect">
            <a:avLst>
              <a:gd name="adj" fmla="val 17777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66750" y="7353300"/>
            <a:ext cx="4857750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Quyền lực thống nhất; phân công, phối hợp, kiểm soát: lập pháp – hành pháp – tư pháp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29350" y="7000875"/>
            <a:ext cx="6315075" cy="2133600"/>
          </a:xfrm>
          <a:prstGeom prst="roundRect">
            <a:avLst>
              <a:gd name="adj" fmla="val 10714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Bản chất dân chủ XHCN được thực hiện qua HAI HÌNH THỨC → trở thành quy chế, cách làm việc của mọi tổ chức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29350" y="7000875"/>
            <a:ext cx="6315075" cy="2133600"/>
          </a:xfrm>
          <a:prstGeom prst="roundRect">
            <a:avLst>
              <a:gd name="adj" fmla="val 10714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3249275" y="7534275"/>
            <a:ext cx="4371975" cy="1066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Bảy chữ “dân”: tất cả quyền lực thuộc về nhân dân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Thực tiễn xây dựng đất nước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800725" y="4176712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991225" y="4176712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124575" y="4176712"/>
            <a:ext cx="0" cy="1414463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124575" y="5591175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124575" y="5724525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800725" y="5591175"/>
            <a:ext cx="257175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057900" y="5591175"/>
            <a:ext cx="66675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124575" y="5591175"/>
            <a:ext cx="0" cy="66675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124575" y="5657850"/>
            <a:ext cx="0" cy="66675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124575" y="5724525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800725" y="6810375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991225" y="6810375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6124575" y="5857875"/>
            <a:ext cx="0" cy="95250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6124575" y="5724525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124575" y="5724525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12296775" y="3986212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12163425" y="3986212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163425" y="3986212"/>
            <a:ext cx="0" cy="1604963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2163425" y="5591175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11887200" y="5724525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12296775" y="5400675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12163425" y="5400675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2163425" y="5400675"/>
            <a:ext cx="0" cy="19050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2163425" y="5591175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11887200" y="5724525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12296775" y="6815138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12163425" y="6815138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2163425" y="5857875"/>
            <a:ext cx="0" cy="957263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2163425" y="5724525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11887200" y="5724525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666750" y="3267075"/>
            <a:ext cx="5095875" cy="1819275"/>
          </a:xfrm>
          <a:prstGeom prst="roundRect">
            <a:avLst>
              <a:gd name="adj" fmla="val 628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Yêu cầu tất yếu: củng cố điều kiện đảm bảo quyền làm chủ; chăm lo đời sống vật chất, tinh thần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6750" y="5257800"/>
            <a:ext cx="5095875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Quyền làm chủ ngày càng mở rộng, hoạt động có hiệu quả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66750" y="6477000"/>
            <a:ext cx="5095875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Ý thức làm chủ, trách nhiệm công dân ngày càng được đề cao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162800" y="3800475"/>
            <a:ext cx="3971925" cy="4857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B6B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38100" bIns="38100"/>
          <a:lstStyle/>
          <a:p>
            <a:pPr algn="ctr"/>
            <a:r>
              <a:rPr sz="1500" b="0" i="0">
                <a:solidFill>
                  <a:srgbClr val="6B6B6B"/>
                </a:solidFill>
                <a:latin typeface="Arial"/>
              </a:rPr>
              <a:t>Chữ “quyền” luôn đi cùng chữ gì?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467475" y="4457700"/>
            <a:ext cx="5353050" cy="2533650"/>
          </a:xfrm>
          <a:prstGeom prst="roundRect">
            <a:avLst>
              <a:gd name="adj" fmla="val 9022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“Mọi đường lối, chính sách của Đảng và pháp luật của Nhà nước đều vì lợi ích của nhân dân, có sự tham gia ý kiến của nhân dân”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467475" y="4457700"/>
            <a:ext cx="5353050" cy="2533650"/>
          </a:xfrm>
          <a:prstGeom prst="roundRect">
            <a:avLst>
              <a:gd name="adj" fmla="val 9022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2525375" y="3267075"/>
            <a:ext cx="5095875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Mọi công dân có quyền tham gia quản lý xã hội bằng nhiều cách, tùy trách nhiệm và nghĩa vụ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2525375" y="4876800"/>
            <a:ext cx="5095875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Dân chủ công dân gắn liền kỷ cương, thể chế hóa bằng luật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2525375" y="6096000"/>
            <a:ext cx="5095875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Quy chế dân chủ từ cơ sở đến Trung ương: </a:t>
            </a:r>
            <a:r>
              <a:rPr sz="2137" b="1" i="0">
                <a:solidFill>
                  <a:srgbClr val="8C2F2B"/>
                </a:solidFill>
                <a:latin typeface="Arial"/>
              </a:rPr>
              <a:t>DÂN BIẾT · DÂN BÀN · DÂN LÀM · DÂN KIỂM TRA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5" fill="hold">
                      <p:stCondLst>
                        <p:cond delay="indefinite"/>
                      </p:stCondLst>
                      <p:childTnLst>
                        <p:par>
                          <p:cTn id="166" fill="hold">
                            <p:stCondLst>
                              <p:cond delay="0"/>
                            </p:stCondLst>
                            <p:childTnLst>
                              <p:par>
                                <p:cTn id="1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Những trở ngại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905250" y="5972175"/>
            <a:ext cx="0" cy="571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905250" y="6029325"/>
            <a:ext cx="0" cy="571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905250" y="6086475"/>
            <a:ext cx="5157788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063038" y="6086475"/>
            <a:ext cx="80962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144000" y="6086475"/>
            <a:ext cx="0" cy="161925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4382750" y="5743575"/>
            <a:ext cx="0" cy="2095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4382750" y="5953125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9224962" y="6086475"/>
            <a:ext cx="5157788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9144000" y="6086475"/>
            <a:ext cx="80962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144000" y="6086475"/>
            <a:ext cx="0" cy="161925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66750" y="3200400"/>
            <a:ext cx="6477000" cy="666750"/>
          </a:xfrm>
          <a:prstGeom prst="roundRect">
            <a:avLst>
              <a:gd name="adj" fmla="val 1714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Xuất phát từ nền kinh tế kém phát triển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6750" y="4038600"/>
            <a:ext cx="6477000" cy="666750"/>
          </a:xfrm>
          <a:prstGeom prst="roundRect">
            <a:avLst>
              <a:gd name="adj" fmla="val 1714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Hậu quả chiến tranh tàn phá nặng nề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6750" y="4876800"/>
            <a:ext cx="6477000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Tiêu cực xã hội chưa khắc phục triệt để → suy giảm động lực phát triển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10575" y="4324350"/>
            <a:ext cx="1476375" cy="4857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B6B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38100" bIns="38100"/>
          <a:lstStyle/>
          <a:p>
            <a:pPr algn="ctr"/>
            <a:r>
              <a:rPr sz="1500" b="0" i="0">
                <a:solidFill>
                  <a:srgbClr val="6B6B6B"/>
                </a:solidFill>
                <a:latin typeface="Arial"/>
              </a:rPr>
              <a:t>Mặt khác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144250" y="3429000"/>
            <a:ext cx="6477000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“Diễn biến hòa bình”, bạo loạn, lật đổ; chiêu bài “dân chủ”, “nhân quyền”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144250" y="4648200"/>
            <a:ext cx="6477000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“Tự diễn biến”, “tự chuyển hóa” — hết sức phức tạp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6750" y="6315075"/>
            <a:ext cx="16954500" cy="1285875"/>
          </a:xfrm>
          <a:prstGeom prst="roundRect">
            <a:avLst>
              <a:gd name="adj" fmla="val 17777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Đang là TRỞ NGẠI đối với thực hiện dân chủ ở nước ta hiện nay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6750" y="6315075"/>
            <a:ext cx="16954500" cy="1285875"/>
          </a:xfrm>
          <a:prstGeom prst="roundRect">
            <a:avLst>
              <a:gd name="adj" fmla="val 17777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Phần 1 — Dân chủ xã hội chủ nghĩa ở Việt Nam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562600" y="4157662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753100" y="4157662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886450" y="4157662"/>
            <a:ext cx="0" cy="300038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886450" y="4457700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886450" y="4591050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562600" y="5591175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753100" y="5591175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5886450" y="4724400"/>
            <a:ext cx="0" cy="866775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5886450" y="4591050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886450" y="4591050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562600" y="6829425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753100" y="6829425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5886450" y="4724400"/>
            <a:ext cx="0" cy="2105025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5886450" y="4591050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886450" y="4591050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12520612" y="4352925"/>
            <a:ext cx="204788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12401550" y="4352925"/>
            <a:ext cx="119062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401550" y="4352925"/>
            <a:ext cx="0" cy="119063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2401550" y="4471988"/>
            <a:ext cx="0" cy="119062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12125325" y="4591050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12534900" y="5591175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12401550" y="5591175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12401550" y="4724400"/>
            <a:ext cx="0" cy="866775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12401550" y="4591050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12125325" y="4591050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12534900" y="6638925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12401550" y="6638925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2401550" y="4724400"/>
            <a:ext cx="0" cy="1914525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2401550" y="4591050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12125325" y="4591050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144000" y="5895975"/>
            <a:ext cx="0" cy="7620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666750" y="3429000"/>
            <a:ext cx="4857750" cy="1457325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Trước và trong Đổi mới: từ “chưa xác định” → bản chất · mục tiêu · động lực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66750" y="5057775"/>
            <a:ext cx="4857750" cy="1066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Tất cả quyền lực thuộc về nhân dân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66750" y="6296025"/>
            <a:ext cx="4857750" cy="1066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Bốn nội dung · thực hiện ở mọi cấp, mọi lĩnh vực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29350" y="3324225"/>
            <a:ext cx="5829300" cy="2533650"/>
          </a:xfrm>
          <a:prstGeom prst="roundRect">
            <a:avLst>
              <a:gd name="adj" fmla="val 9022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Bản chất tốt đẹp, tính ưu việt của nền dân chủ XHCN Việt Nam càng ngày càng thể hiện giá trị LẤY DÂN LÀM GỐC — nhân dân thực sự trở thành người làm chủ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29350" y="3324225"/>
            <a:ext cx="5829300" cy="2533650"/>
          </a:xfrm>
          <a:prstGeom prst="roundRect">
            <a:avLst>
              <a:gd name="adj" fmla="val 9022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29350" y="6038850"/>
            <a:ext cx="5829300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Bảo đảm quyền làm chủ từ chính trị, kinh tế đến văn hóa, xã hội; phát huy tính tích cực, sáng tạo của nhân dân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2763500" y="3819525"/>
            <a:ext cx="4857750" cy="1066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Dân chủ gián tiếp + trực tiếp · dân biết, bàn, làm, kiểm tra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2763500" y="5057775"/>
            <a:ext cx="4857750" cy="1066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Những trở ngại đối với thực hiện dân chủ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2763500" y="6296025"/>
            <a:ext cx="4857750" cy="685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Đại hội VI: lấy dân làm gốc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8" fill="hold">
                      <p:stCondLst>
                        <p:cond delay="indefinite"/>
                      </p:stCondLst>
                      <p:childTnLst>
                        <p:par>
                          <p:cTn id="169" fill="hold">
                            <p:stCondLst>
                              <p:cond delay="0"/>
                            </p:stCondLst>
                            <p:childTnLst>
                              <p:par>
                                <p:cTn id="1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6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Cương lĩnh xây dựng đất nước trong thời kỳ quá độ lên CNXH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57950" y="3981450"/>
            <a:ext cx="19050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648450" y="3981450"/>
            <a:ext cx="13335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781800" y="3981450"/>
            <a:ext cx="0" cy="1909762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781800" y="5891212"/>
            <a:ext cx="0" cy="13335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781800" y="6024562"/>
            <a:ext cx="27622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57950" y="5019675"/>
            <a:ext cx="19050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648450" y="5019675"/>
            <a:ext cx="13335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781800" y="5019675"/>
            <a:ext cx="0" cy="871537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781800" y="5891212"/>
            <a:ext cx="0" cy="13335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781800" y="6024562"/>
            <a:ext cx="27622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457950" y="6434138"/>
            <a:ext cx="19050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648450" y="6434138"/>
            <a:ext cx="13335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6781800" y="6157912"/>
            <a:ext cx="0" cy="276226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6781800" y="6024562"/>
            <a:ext cx="0" cy="13335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781800" y="6024562"/>
            <a:ext cx="27622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11630025" y="3981450"/>
            <a:ext cx="200025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11496675" y="3981450"/>
            <a:ext cx="13335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496675" y="3981450"/>
            <a:ext cx="0" cy="1909762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1496675" y="5891212"/>
            <a:ext cx="0" cy="13335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11220450" y="6024562"/>
            <a:ext cx="27622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11630025" y="5405438"/>
            <a:ext cx="200025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11496675" y="5405438"/>
            <a:ext cx="13335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1496675" y="5405438"/>
            <a:ext cx="0" cy="485774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1496675" y="5891212"/>
            <a:ext cx="0" cy="13335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11220450" y="6024562"/>
            <a:ext cx="27622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11630025" y="6810375"/>
            <a:ext cx="200025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11496675" y="6810375"/>
            <a:ext cx="13335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1496675" y="6157912"/>
            <a:ext cx="0" cy="652463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1496675" y="6024562"/>
            <a:ext cx="0" cy="13335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11220450" y="6024562"/>
            <a:ext cx="27622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666750" y="3457575"/>
            <a:ext cx="5753100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Tối thượng của Hiến pháp và pháp luật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6750" y="4686300"/>
            <a:ext cx="5753100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Quyền lợi, nghĩa vụ công dân; quyền con người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66750" y="5905500"/>
            <a:ext cx="5753100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Tập trung, thống nhất + phân công các nhánh quyền lực, phân cấp → </a:t>
            </a:r>
            <a:r>
              <a:rPr sz="2137" b="1" i="0">
                <a:solidFill>
                  <a:srgbClr val="8C2F2B"/>
                </a:solidFill>
                <a:latin typeface="Arial"/>
              </a:rPr>
              <a:t>TRÁNH LẠM QUYỀN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124700" y="4124325"/>
            <a:ext cx="4029075" cy="1085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B6B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38100" bIns="38100"/>
          <a:lstStyle/>
          <a:p>
            <a:pPr algn="ctr"/>
            <a:r>
              <a:rPr sz="1500" b="0" i="0">
                <a:solidFill>
                  <a:srgbClr val="6B6B6B"/>
                </a:solidFill>
                <a:latin typeface="Arial"/>
              </a:rPr>
              <a:t>Ba ý: tránh lạm quyền · chịu sự giám sát · kiểm soát — cùng hướng về đâu?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124700" y="5381625"/>
            <a:ext cx="4029075" cy="1285875"/>
          </a:xfrm>
          <a:prstGeom prst="roundRect">
            <a:avLst>
              <a:gd name="adj" fmla="val 17777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124700" y="5381625"/>
            <a:ext cx="4029075" cy="1285875"/>
          </a:xfrm>
          <a:prstGeom prst="roundRect">
            <a:avLst>
              <a:gd name="adj" fmla="val 17777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1868150" y="3267075"/>
            <a:ext cx="5753100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Gắn bó với nhân dân; lắng nghe; </a:t>
            </a:r>
            <a:r>
              <a:rPr sz="2137" b="1" i="0">
                <a:solidFill>
                  <a:srgbClr val="8C2F2B"/>
                </a:solidFill>
                <a:latin typeface="Arial"/>
              </a:rPr>
              <a:t>CHỊU SỰ GIÁM SÁT</a:t>
            </a:r>
            <a:r>
              <a:rPr sz="2137" b="0" i="0">
                <a:solidFill>
                  <a:srgbClr val="2B2622"/>
                </a:solidFill>
                <a:latin typeface="Arial"/>
              </a:rPr>
              <a:t> của nhân dân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868150" y="4495800"/>
            <a:ext cx="5753100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1" i="0">
                <a:solidFill>
                  <a:srgbClr val="8C2F2B"/>
                </a:solidFill>
                <a:latin typeface="Arial"/>
              </a:rPr>
              <a:t>KIỂM SOÁT</a:t>
            </a:r>
            <a:r>
              <a:rPr sz="2137" b="0" i="0">
                <a:solidFill>
                  <a:srgbClr val="2B2622"/>
                </a:solidFill>
                <a:latin typeface="Arial"/>
              </a:rPr>
              <a:t>, ngăn ngừa, trừng trị quan liêu, tham nhũng, lộng quyền, vô trách nhiệm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1868150" y="6096000"/>
            <a:ext cx="5753100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Tập trung dân chủ; thống nhất quyền lực; chỉ đạo thống nhất của Trung ương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Nhận thức qua các kỳ Đại hội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886450" y="3852862"/>
            <a:ext cx="5715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943600" y="3852862"/>
            <a:ext cx="28575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5972175" y="3824288"/>
            <a:ext cx="0" cy="28574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5972175" y="3795712"/>
            <a:ext cx="0" cy="28576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972175" y="3795712"/>
            <a:ext cx="514350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1772900" y="3795712"/>
            <a:ext cx="60007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5030450" y="4619625"/>
            <a:ext cx="0" cy="148590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5030450" y="6105525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9220200" y="6238875"/>
            <a:ext cx="58102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9139238" y="6238875"/>
            <a:ext cx="80962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139238" y="6238875"/>
            <a:ext cx="0" cy="161925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019675" y="7124700"/>
            <a:ext cx="600075" cy="0"/>
          </a:xfrm>
          <a:prstGeom prst="line">
            <a:avLst/>
          </a:prstGeom>
          <a:ln w="23812">
            <a:solidFill>
              <a:srgbClr val="1F3A5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12658725" y="7124700"/>
            <a:ext cx="609600" cy="0"/>
          </a:xfrm>
          <a:prstGeom prst="line">
            <a:avLst/>
          </a:prstGeom>
          <a:ln w="23812">
            <a:solidFill>
              <a:srgbClr val="1F3A5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66750" y="2752725"/>
            <a:ext cx="5181600" cy="2200275"/>
          </a:xfrm>
          <a:prstGeom prst="roundRect">
            <a:avLst>
              <a:gd name="adj" fmla="val 5194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Chủ trương: Nhà nước pháp quyền Việt Nam </a:t>
            </a:r>
            <a:r>
              <a:rPr sz="2137" b="1" i="0">
                <a:solidFill>
                  <a:srgbClr val="8C2F2B"/>
                </a:solidFill>
                <a:latin typeface="Arial"/>
              </a:rPr>
              <a:t>CỦA DÂN, DO DÂN, VÌ DÂN</a:t>
            </a:r>
            <a:r>
              <a:rPr sz="2137" b="0" i="0">
                <a:solidFill>
                  <a:srgbClr val="2B2622"/>
                </a:solidFill>
                <a:latin typeface="Arial"/>
              </a:rPr>
              <a:t> → quản lý xã hội bằng pháp luật; mọi người có nghĩa vụ chấp hành Hiến pháp, pháp luật</a:t>
            </a:r>
          </a:p>
        </p:txBody>
      </p:sp>
      <p:sp>
        <p:nvSpPr>
          <p:cNvPr id="23" name="Rounded Rectangular Callout 22"/>
          <p:cNvSpPr/>
          <p:nvPr/>
        </p:nvSpPr>
        <p:spPr>
          <a:xfrm>
            <a:off x="6553200" y="3009900"/>
            <a:ext cx="5181600" cy="1571625"/>
          </a:xfrm>
          <a:prstGeom prst="wedgeRoundRectCallout">
            <a:avLst>
              <a:gd name="adj1" fmla="val -40441"/>
              <a:gd name="adj2" fmla="val 59696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ĐH XII: “Quyền lực nhà nước là thống nhất, có sự phân công, phối hợp, kiểm soát…”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81800" y="2867025"/>
            <a:ext cx="828675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ĐH XII</a:t>
            </a:r>
          </a:p>
        </p:txBody>
      </p:sp>
      <p:sp>
        <p:nvSpPr>
          <p:cNvPr id="25" name="Rounded Rectangular Callout 24"/>
          <p:cNvSpPr/>
          <p:nvPr/>
        </p:nvSpPr>
        <p:spPr>
          <a:xfrm>
            <a:off x="12439650" y="2819400"/>
            <a:ext cx="5181600" cy="1952625"/>
          </a:xfrm>
          <a:prstGeom prst="wedgeRoundRectCallout">
            <a:avLst>
              <a:gd name="adj1" fmla="val -40441"/>
              <a:gd name="adj2" fmla="val 57804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ĐH XIII: “…phân công </a:t>
            </a:r>
            <a:r>
              <a:rPr sz="2137" b="1" i="1">
                <a:solidFill>
                  <a:srgbClr val="8C2F2B"/>
                </a:solidFill>
                <a:latin typeface="Georgia"/>
              </a:rPr>
              <a:t>rành mạch</a:t>
            </a:r>
            <a:r>
              <a:rPr sz="2137" b="0" i="1">
                <a:solidFill>
                  <a:srgbClr val="2B2622"/>
                </a:solidFill>
                <a:latin typeface="Georgia"/>
              </a:rPr>
              <a:t>, phối hợp </a:t>
            </a:r>
            <a:r>
              <a:rPr sz="2137" b="1" i="1">
                <a:solidFill>
                  <a:srgbClr val="8C2F2B"/>
                </a:solidFill>
                <a:latin typeface="Georgia"/>
              </a:rPr>
              <a:t>chặt chẽ</a:t>
            </a:r>
            <a:r>
              <a:rPr sz="2137" b="0" i="1">
                <a:solidFill>
                  <a:srgbClr val="2B2622"/>
                </a:solidFill>
                <a:latin typeface="Georgia"/>
              </a:rPr>
              <a:t> và </a:t>
            </a:r>
            <a:r>
              <a:rPr sz="2137" b="1" i="1">
                <a:solidFill>
                  <a:srgbClr val="8C2F2B"/>
                </a:solidFill>
                <a:latin typeface="Georgia"/>
              </a:rPr>
              <a:t>tăng cường</a:t>
            </a:r>
            <a:r>
              <a:rPr sz="2137" b="0" i="1">
                <a:solidFill>
                  <a:srgbClr val="2B2622"/>
                </a:solidFill>
                <a:latin typeface="Georgia"/>
              </a:rPr>
              <a:t> kiểm soát quyền lực nhà nước”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2668250" y="2676525"/>
            <a:ext cx="919162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ĐH XIII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62800" y="5334000"/>
            <a:ext cx="3952875" cy="4857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B6B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38100" bIns="38100"/>
          <a:lstStyle/>
          <a:p>
            <a:pPr algn="ctr"/>
            <a:r>
              <a:rPr sz="1500" b="0" i="0">
                <a:solidFill>
                  <a:srgbClr val="6B6B6B"/>
                </a:solidFill>
                <a:latin typeface="Arial"/>
              </a:rPr>
              <a:t>Câu XIII thêm chữ nào so với XII?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6750" y="6210300"/>
            <a:ext cx="4314825" cy="1838325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Cương lĩnh: tránh lạm quyền · chịu sự giám sát của nhân dân · kiểm soát, trừng trị tham nhũng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86425" y="6267450"/>
            <a:ext cx="6905625" cy="1724025"/>
          </a:xfrm>
          <a:prstGeom prst="roundRect">
            <a:avLst>
              <a:gd name="adj" fmla="val 13259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KIỂM SOÁT QUYỀN LỰC — nhận thức về Nhà nước pháp quyền ngày càng sáng tỏ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86425" y="6267450"/>
            <a:ext cx="6905625" cy="1724025"/>
          </a:xfrm>
          <a:prstGeom prst="roundRect">
            <a:avLst>
              <a:gd name="adj" fmla="val 13259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3306425" y="6400800"/>
            <a:ext cx="4314825" cy="1457325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Dân chủ gián tiếp: quyền lực thống nhất, có phân công, phối hợp, kiểm soát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Sáu đặc điểm (1–3)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38900" y="3952875"/>
            <a:ext cx="31432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438900" y="5219700"/>
            <a:ext cx="31432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8900" y="6662738"/>
            <a:ext cx="31432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2592050" y="5405438"/>
            <a:ext cx="60007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66750" y="3419475"/>
            <a:ext cx="5734050" cy="1066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Chủ trương: Nhà nước pháp quyền của dân, do dân, vì dân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19900" y="3419475"/>
            <a:ext cx="5734050" cy="1066800"/>
          </a:xfrm>
          <a:prstGeom prst="roundRect">
            <a:avLst>
              <a:gd name="adj" fmla="val 10714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1" i="0">
                <a:solidFill>
                  <a:srgbClr val="8C2F2B"/>
                </a:solidFill>
                <a:latin typeface="Arial"/>
              </a:rPr>
              <a:t>1</a:t>
            </a:r>
            <a:r>
              <a:rPr sz="2137" b="0" i="0">
                <a:solidFill>
                  <a:srgbClr val="2B2622"/>
                </a:solidFill>
                <a:latin typeface="Arial"/>
              </a:rPr>
              <a:t> · Nhà nước CỦA DÂN, DO DÂN, VÌ DÂN — nhân dân lao động làm chủ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6750" y="4686300"/>
            <a:ext cx="5734050" cy="1066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Cương lĩnh: đề cao vai trò tối thượng của Hiến pháp và pháp luật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19900" y="4686300"/>
            <a:ext cx="5734050" cy="1066800"/>
          </a:xfrm>
          <a:prstGeom prst="roundRect">
            <a:avLst>
              <a:gd name="adj" fmla="val 10714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1" i="0">
                <a:solidFill>
                  <a:srgbClr val="8C2F2B"/>
                </a:solidFill>
                <a:latin typeface="Arial"/>
              </a:rPr>
              <a:t>2</a:t>
            </a:r>
            <a:r>
              <a:rPr sz="2137" b="0" i="0">
                <a:solidFill>
                  <a:srgbClr val="2B2622"/>
                </a:solidFill>
                <a:latin typeface="Arial"/>
              </a:rPr>
              <a:t> · Dựa trên Hiến pháp, pháp luật; pháp luật ở VỊ TRÍ TỐI THƯỢNG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6750" y="5943600"/>
            <a:ext cx="5734050" cy="1438275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Đại hội XII, XIII: quyền lực thống nhất, có phân công, phối hợp, kiểm soát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19900" y="5943600"/>
            <a:ext cx="5734050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1" i="0">
                <a:solidFill>
                  <a:srgbClr val="8C2F2B"/>
                </a:solidFill>
                <a:latin typeface="Arial"/>
              </a:rPr>
              <a:t>3</a:t>
            </a:r>
            <a:r>
              <a:rPr sz="2137" b="0" i="0">
                <a:solidFill>
                  <a:srgbClr val="2B2622"/>
                </a:solidFill>
                <a:latin typeface="Arial"/>
              </a:rPr>
              <a:t> · Quyền lực thống nhất; phân công rõ ràng, phối hợp nhịp nhàng, kiểm soát: lập pháp – hành pháp – tư pháp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258800" y="4543425"/>
            <a:ext cx="4362450" cy="1724025"/>
          </a:xfrm>
          <a:prstGeom prst="roundRect">
            <a:avLst>
              <a:gd name="adj" fmla="val 13259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Nhà nước pháp quyền XHCN Việt Nam (đang điền: 3/6)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258800" y="4543425"/>
            <a:ext cx="4362450" cy="1724025"/>
          </a:xfrm>
          <a:prstGeom prst="roundRect">
            <a:avLst>
              <a:gd name="adj" fmla="val 13259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Sáu đặc điểm (4–6)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38900" y="3395662"/>
            <a:ext cx="31432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438900" y="5405438"/>
            <a:ext cx="31432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8900" y="7405688"/>
            <a:ext cx="31432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2592050" y="5400675"/>
            <a:ext cx="60007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66750" y="2486025"/>
            <a:ext cx="5734050" cy="1819275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Phương châm dân biết, dân bàn, dân làm, dân kiểm tra · Cương lĩnh: nhà nước chịu sự giám sát của nhân dân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19900" y="2486025"/>
            <a:ext cx="5734050" cy="1819275"/>
          </a:xfrm>
          <a:prstGeom prst="roundRect">
            <a:avLst>
              <a:gd name="adj" fmla="val 628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1" i="0">
                <a:solidFill>
                  <a:srgbClr val="8C2F2B"/>
                </a:solidFill>
                <a:latin typeface="Arial"/>
              </a:rPr>
              <a:t>4</a:t>
            </a:r>
            <a:r>
              <a:rPr sz="2137" b="0" i="0">
                <a:solidFill>
                  <a:srgbClr val="2B2622"/>
                </a:solidFill>
                <a:latin typeface="Arial"/>
              </a:rPr>
              <a:t> · Đảng Cộng sản Việt Nam lãnh đạo (Điều 4 Hiến pháp 2013); nhân dân giám sát: dân biết, dân bàn, dân làm, dân kiểm tra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6750" y="4495800"/>
            <a:ext cx="5734050" cy="1819275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Cương lĩnh: đề cao quyền lợi, nghĩa vụ công dân; bảo đảm quyền con người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19900" y="4495800"/>
            <a:ext cx="5734050" cy="1819275"/>
          </a:xfrm>
          <a:prstGeom prst="roundRect">
            <a:avLst>
              <a:gd name="adj" fmla="val 628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1" i="0">
                <a:solidFill>
                  <a:srgbClr val="8C2F2B"/>
                </a:solidFill>
                <a:latin typeface="Arial"/>
              </a:rPr>
              <a:t>5</a:t>
            </a:r>
            <a:r>
              <a:rPr sz="2137" b="0" i="0">
                <a:solidFill>
                  <a:srgbClr val="2B2622"/>
                </a:solidFill>
                <a:latin typeface="Arial"/>
              </a:rPr>
              <a:t> · Tôn trọng quyền con người — chủ thể, trung tâm của phát triển; “nhân dân có quyền bầu và bãi miễn những đại biểu không xứng đáng”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6750" y="6496050"/>
            <a:ext cx="5734050" cy="1819275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Cương lĩnh: tổ chức bộ máy theo nguyên tắc tập trung dân chủ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19900" y="6496050"/>
            <a:ext cx="5734050" cy="1819275"/>
          </a:xfrm>
          <a:prstGeom prst="roundRect">
            <a:avLst>
              <a:gd name="adj" fmla="val 628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1" i="0">
                <a:solidFill>
                  <a:srgbClr val="8C2F2B"/>
                </a:solidFill>
                <a:latin typeface="Arial"/>
              </a:rPr>
              <a:t>6</a:t>
            </a:r>
            <a:r>
              <a:rPr sz="2137" b="0" i="0">
                <a:solidFill>
                  <a:srgbClr val="2B2622"/>
                </a:solidFill>
                <a:latin typeface="Arial"/>
              </a:rPr>
              <a:t> · Tập trung dân chủ — phân công, phân cấp, phối hợp, kiểm soát; quyền lực thống nhất, chỉ đạo thống nhất của Trung ương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258800" y="4743450"/>
            <a:ext cx="4362450" cy="1314450"/>
          </a:xfrm>
          <a:prstGeom prst="roundRect">
            <a:avLst>
              <a:gd name="adj" fmla="val 17391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Nhà nước pháp quyền XHCN Việt Nam (6/6)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258800" y="4743450"/>
            <a:ext cx="4362450" cy="1314450"/>
          </a:xfrm>
          <a:prstGeom prst="roundRect">
            <a:avLst>
              <a:gd name="adj" fmla="val 17391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Đối chiếu với quan niệm chung về nhà nước pháp quyền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6934200" y="2057400"/>
            <a:ext cx="800100" cy="0"/>
          </a:xfrm>
          <a:prstGeom prst="line">
            <a:avLst/>
          </a:prstGeom>
          <a:ln w="28575">
            <a:solidFill>
              <a:srgbClr val="6B6B6B"/>
            </a:solidFill>
            <a:prstDash val="sysDot"/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6829425" y="2057400"/>
            <a:ext cx="104775" cy="0"/>
          </a:xfrm>
          <a:prstGeom prst="line">
            <a:avLst/>
          </a:prstGeom>
          <a:ln w="28575">
            <a:solidFill>
              <a:srgbClr val="6B6B6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829425" y="1952625"/>
            <a:ext cx="0" cy="104775"/>
          </a:xfrm>
          <a:prstGeom prst="line">
            <a:avLst/>
          </a:prstGeom>
          <a:ln w="28575">
            <a:solidFill>
              <a:srgbClr val="6B6B6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6829425" y="1847850"/>
            <a:ext cx="0" cy="104775"/>
          </a:xfrm>
          <a:prstGeom prst="line">
            <a:avLst/>
          </a:prstGeom>
          <a:ln w="28575">
            <a:solidFill>
              <a:srgbClr val="6B6B6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6410325" y="1847850"/>
            <a:ext cx="419100" cy="0"/>
          </a:xfrm>
          <a:prstGeom prst="line">
            <a:avLst/>
          </a:prstGeom>
          <a:ln w="28575">
            <a:solidFill>
              <a:srgbClr val="6B6B6B"/>
            </a:solidFill>
            <a:prstDash val="sysDot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6410325" y="2895600"/>
            <a:ext cx="1323975" cy="0"/>
          </a:xfrm>
          <a:prstGeom prst="line">
            <a:avLst/>
          </a:prstGeom>
          <a:ln w="28575">
            <a:solidFill>
              <a:srgbClr val="6B6B6B"/>
            </a:solidFill>
            <a:prstDash val="sysDot"/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7191375" y="3743325"/>
            <a:ext cx="542925" cy="0"/>
          </a:xfrm>
          <a:prstGeom prst="line">
            <a:avLst/>
          </a:prstGeom>
          <a:ln w="28575">
            <a:solidFill>
              <a:srgbClr val="6B6B6B"/>
            </a:solidFill>
            <a:prstDash val="sysDot"/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7058025" y="3743325"/>
            <a:ext cx="133350" cy="0"/>
          </a:xfrm>
          <a:prstGeom prst="line">
            <a:avLst/>
          </a:prstGeom>
          <a:ln w="28575">
            <a:solidFill>
              <a:srgbClr val="6B6B6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058025" y="3743325"/>
            <a:ext cx="0" cy="266700"/>
          </a:xfrm>
          <a:prstGeom prst="line">
            <a:avLst/>
          </a:prstGeom>
          <a:ln w="28575">
            <a:solidFill>
              <a:srgbClr val="6B6B6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058025" y="4010025"/>
            <a:ext cx="0" cy="133350"/>
          </a:xfrm>
          <a:prstGeom prst="line">
            <a:avLst/>
          </a:prstGeom>
          <a:ln w="28575">
            <a:solidFill>
              <a:srgbClr val="6B6B6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410325" y="4143375"/>
            <a:ext cx="647700" cy="0"/>
          </a:xfrm>
          <a:prstGeom prst="line">
            <a:avLst/>
          </a:prstGeom>
          <a:ln w="28575">
            <a:solidFill>
              <a:srgbClr val="6B6B6B"/>
            </a:solidFill>
            <a:prstDash val="sysDot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7305675" y="3743325"/>
            <a:ext cx="428625" cy="0"/>
          </a:xfrm>
          <a:prstGeom prst="line">
            <a:avLst/>
          </a:prstGeom>
          <a:ln w="28575">
            <a:solidFill>
              <a:srgbClr val="6B6B6B"/>
            </a:solidFill>
            <a:prstDash val="sysDot"/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7172325" y="3743325"/>
            <a:ext cx="133350" cy="0"/>
          </a:xfrm>
          <a:prstGeom prst="line">
            <a:avLst/>
          </a:prstGeom>
          <a:ln w="28575">
            <a:solidFill>
              <a:srgbClr val="6B6B6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172325" y="3743325"/>
            <a:ext cx="0" cy="4010025"/>
          </a:xfrm>
          <a:prstGeom prst="line">
            <a:avLst/>
          </a:prstGeom>
          <a:ln w="28575">
            <a:solidFill>
              <a:srgbClr val="6B6B6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172325" y="7753350"/>
            <a:ext cx="0" cy="133350"/>
          </a:xfrm>
          <a:prstGeom prst="line">
            <a:avLst/>
          </a:prstGeom>
          <a:ln w="28575">
            <a:solidFill>
              <a:srgbClr val="6B6B6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6410325" y="7886700"/>
            <a:ext cx="762000" cy="0"/>
          </a:xfrm>
          <a:prstGeom prst="line">
            <a:avLst/>
          </a:prstGeom>
          <a:ln w="28575">
            <a:solidFill>
              <a:srgbClr val="6B6B6B"/>
            </a:solidFill>
            <a:prstDash val="sysDot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7419975" y="4581525"/>
            <a:ext cx="314325" cy="0"/>
          </a:xfrm>
          <a:prstGeom prst="line">
            <a:avLst/>
          </a:prstGeom>
          <a:ln w="28575">
            <a:solidFill>
              <a:srgbClr val="6B6B6B"/>
            </a:solidFill>
            <a:prstDash val="sysDot"/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7286625" y="4581525"/>
            <a:ext cx="133350" cy="0"/>
          </a:xfrm>
          <a:prstGeom prst="line">
            <a:avLst/>
          </a:prstGeom>
          <a:ln w="28575">
            <a:solidFill>
              <a:srgbClr val="6B6B6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286625" y="4581525"/>
            <a:ext cx="0" cy="1933575"/>
          </a:xfrm>
          <a:prstGeom prst="line">
            <a:avLst/>
          </a:prstGeom>
          <a:ln w="28575">
            <a:solidFill>
              <a:srgbClr val="6B6B6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286625" y="6515100"/>
            <a:ext cx="0" cy="133350"/>
          </a:xfrm>
          <a:prstGeom prst="line">
            <a:avLst/>
          </a:prstGeom>
          <a:ln w="28575">
            <a:solidFill>
              <a:srgbClr val="6B6B6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6410325" y="6648450"/>
            <a:ext cx="876300" cy="0"/>
          </a:xfrm>
          <a:prstGeom prst="line">
            <a:avLst/>
          </a:prstGeom>
          <a:ln w="28575">
            <a:solidFill>
              <a:srgbClr val="6B6B6B"/>
            </a:solidFill>
            <a:prstDash val="sysDot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666750" y="1504950"/>
            <a:ext cx="5676900" cy="685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1" i="0">
                <a:solidFill>
                  <a:srgbClr val="1F3A5F"/>
                </a:solidFill>
                <a:latin typeface="Arial"/>
              </a:rPr>
              <a:t>1</a:t>
            </a:r>
            <a:r>
              <a:rPr sz="2137" b="0" i="0">
                <a:solidFill>
                  <a:srgbClr val="1F3A5F"/>
                </a:solidFill>
                <a:latin typeface="Arial"/>
              </a:rPr>
              <a:t> · Nhà nước của dân, do dân, vì dân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6750" y="2362200"/>
            <a:ext cx="5676900" cy="1066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1" i="0">
                <a:solidFill>
                  <a:srgbClr val="1F3A5F"/>
                </a:solidFill>
                <a:latin typeface="Arial"/>
              </a:rPr>
              <a:t>2</a:t>
            </a:r>
            <a:r>
              <a:rPr sz="2137" b="0" i="0">
                <a:solidFill>
                  <a:srgbClr val="1F3A5F"/>
                </a:solidFill>
                <a:latin typeface="Arial"/>
              </a:rPr>
              <a:t> · Hiến pháp, pháp luật ở vị trí tối thượng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66750" y="3609975"/>
            <a:ext cx="5676900" cy="1066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1" i="0">
                <a:solidFill>
                  <a:srgbClr val="1F3A5F"/>
                </a:solidFill>
                <a:latin typeface="Arial"/>
              </a:rPr>
              <a:t>3</a:t>
            </a:r>
            <a:r>
              <a:rPr sz="2137" b="0" i="0">
                <a:solidFill>
                  <a:srgbClr val="1F3A5F"/>
                </a:solidFill>
                <a:latin typeface="Arial"/>
              </a:rPr>
              <a:t> · Quyền lực thống nhất; phân công, phối hợp, kiểm soát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6750" y="4848225"/>
            <a:ext cx="5676900" cy="108585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1" i="0">
                <a:solidFill>
                  <a:srgbClr val="1F3A5F"/>
                </a:solidFill>
                <a:latin typeface="Arial"/>
              </a:rPr>
              <a:t>4</a:t>
            </a:r>
            <a:r>
              <a:rPr sz="2137" b="0" i="0">
                <a:solidFill>
                  <a:srgbClr val="1F3A5F"/>
                </a:solidFill>
                <a:latin typeface="Arial"/>
              </a:rPr>
              <a:t> · Đảng Cộng sản Việt Nam lãnh đạo; nhân dân giám sát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66750" y="6115050"/>
            <a:ext cx="5676900" cy="1066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1" i="0">
                <a:solidFill>
                  <a:srgbClr val="1F3A5F"/>
                </a:solidFill>
                <a:latin typeface="Arial"/>
              </a:rPr>
              <a:t>5</a:t>
            </a:r>
            <a:r>
              <a:rPr sz="2137" b="0" i="0">
                <a:solidFill>
                  <a:srgbClr val="1F3A5F"/>
                </a:solidFill>
                <a:latin typeface="Arial"/>
              </a:rPr>
              <a:t> · Tôn trọng quyền con người; pháp luật nghiêm minh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6750" y="7353300"/>
            <a:ext cx="5676900" cy="1066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1" i="0">
                <a:solidFill>
                  <a:srgbClr val="1F3A5F"/>
                </a:solidFill>
                <a:latin typeface="Arial"/>
              </a:rPr>
              <a:t>6</a:t>
            </a:r>
            <a:r>
              <a:rPr sz="2137" b="0" i="0">
                <a:solidFill>
                  <a:srgbClr val="1F3A5F"/>
                </a:solidFill>
                <a:latin typeface="Arial"/>
              </a:rPr>
              <a:t> · Tập trung dân chủ; chỉ đạo thống nhất của Trung ương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0" y="1724025"/>
            <a:ext cx="9848850" cy="666750"/>
          </a:xfrm>
          <a:prstGeom prst="roundRect">
            <a:avLst>
              <a:gd name="adj" fmla="val 1714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Tất cả vì mục tiêu phục vụ nhân dân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0" y="2571750"/>
            <a:ext cx="9848850" cy="666750"/>
          </a:xfrm>
          <a:prstGeom prst="roundRect">
            <a:avLst>
              <a:gd name="adj" fmla="val 1714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Thượng tôn pháp luật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0" y="3409950"/>
            <a:ext cx="9848850" cy="666750"/>
          </a:xfrm>
          <a:prstGeom prst="roundRect">
            <a:avLst>
              <a:gd name="adj" fmla="val 1714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Cơ quan nhà nước phân công, phối hợp, kiểm soát lẫn nhau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772400" y="4248150"/>
            <a:ext cx="9848850" cy="666750"/>
          </a:xfrm>
          <a:prstGeom prst="roundRect">
            <a:avLst>
              <a:gd name="adj" fmla="val 1714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Pháp luật nghiêm minh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0" y="5086350"/>
            <a:ext cx="9848850" cy="666750"/>
          </a:xfrm>
          <a:prstGeom prst="roundRect">
            <a:avLst>
              <a:gd name="adj" fmla="val 1714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Hướng tới phúc lợi; cá nhân tự do, bình đẳng, phát huy năng lực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772400" y="5924550"/>
            <a:ext cx="9848850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Cơ quan được phân quyền rõ ràng; chấp nhận trên nguyên tắc bình đẳng giữa các thế lực, giai cấp, tầng lớp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772400" y="7153275"/>
            <a:ext cx="9848850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Hiện nay còn những cách hiểu khác nhau. Song, được hiểu là: mọi công dân được giáo dục pháp luật, hiểu biết, tuân thủ pháp luật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248525" y="8801100"/>
            <a:ext cx="3800475" cy="4857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B6B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38100" bIns="38100"/>
          <a:lstStyle/>
          <a:p>
            <a:pPr algn="ctr"/>
            <a:r>
              <a:rPr sz="1500" b="0" i="0">
                <a:solidFill>
                  <a:srgbClr val="6B6B6B"/>
                </a:solidFill>
                <a:latin typeface="Arial"/>
              </a:rPr>
              <a:t>Đặc điểm nào KHÔNG có cặp?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5" fill="hold">
                      <p:stCondLst>
                        <p:cond delay="indefinite"/>
                      </p:stCondLst>
                      <p:childTnLst>
                        <p:par>
                          <p:cTn id="146" fill="hold">
                            <p:stCondLst>
                              <p:cond delay="0"/>
                            </p:stCondLst>
                            <p:childTnLst>
                              <p:par>
                                <p:cTn id="1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Phần 2 — Nhà nước pháp quyền XHCN Việt Nam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257550" y="5324475"/>
            <a:ext cx="0" cy="790575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257550" y="6115050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257550" y="6248400"/>
            <a:ext cx="5805488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063038" y="6248400"/>
            <a:ext cx="80962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144000" y="6248400"/>
            <a:ext cx="0" cy="161925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5324475"/>
            <a:ext cx="0" cy="108585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5030450" y="6134100"/>
            <a:ext cx="0" cy="571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5030450" y="6191250"/>
            <a:ext cx="0" cy="571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9224962" y="6248400"/>
            <a:ext cx="5805488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9144000" y="6248400"/>
            <a:ext cx="80962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144000" y="6248400"/>
            <a:ext cx="0" cy="161925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5030450" y="4533900"/>
            <a:ext cx="0" cy="5715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66750" y="3848100"/>
            <a:ext cx="5181600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1" i="0">
                <a:solidFill>
                  <a:srgbClr val="8C2F2B"/>
                </a:solidFill>
                <a:latin typeface="Arial"/>
              </a:rPr>
              <a:t>Phần CHUNG:</a:t>
            </a:r>
            <a:r>
              <a:rPr sz="2137" b="0" i="0">
                <a:solidFill>
                  <a:srgbClr val="2B2622"/>
                </a:solidFill>
                <a:latin typeface="Arial"/>
              </a:rPr>
              <a:t> các tinh thần cơ bản của nhà nước pháp quyền nói chung (những cặp khớp vừa nối)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53200" y="3848100"/>
            <a:ext cx="5181600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1" i="0">
                <a:solidFill>
                  <a:srgbClr val="8C2F2B"/>
                </a:solidFill>
                <a:latin typeface="Arial"/>
              </a:rPr>
              <a:t>Phần KHÁC ①:</a:t>
            </a:r>
            <a:r>
              <a:rPr sz="2137" b="0" i="0">
                <a:solidFill>
                  <a:srgbClr val="2B2622"/>
                </a:solidFill>
                <a:latin typeface="Arial"/>
              </a:rPr>
              <a:t> mang BẢN CHẤT GIAI CẤP CÔNG NHÂN, phục vụ lợi ích nhân dân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2439650" y="3038475"/>
            <a:ext cx="5181600" cy="1457325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Đặc điểm “Đảng Cộng sản Việt Nam lãnh đạo” không có cặp trong quan niệm chung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439650" y="4657725"/>
            <a:ext cx="5181600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1" i="0">
                <a:solidFill>
                  <a:srgbClr val="8C2F2B"/>
                </a:solidFill>
                <a:latin typeface="Arial"/>
              </a:rPr>
              <a:t>Phần KHÁC ②:</a:t>
            </a:r>
            <a:r>
              <a:rPr sz="2137" b="0" i="0">
                <a:solidFill>
                  <a:srgbClr val="2B2622"/>
                </a:solidFill>
                <a:latin typeface="Arial"/>
              </a:rPr>
              <a:t> công cụ chủ yếu để Đảng Cộng sản Việt Nam định hướng đi lên CNXH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6750" y="6477000"/>
            <a:ext cx="16954500" cy="1285875"/>
          </a:xfrm>
          <a:prstGeom prst="roundRect">
            <a:avLst>
              <a:gd name="adj" fmla="val 17777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Vừa thể hiện tinh thần chung của nhà nước pháp quyền, vừa có sự khác biệt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6750" y="6477000"/>
            <a:ext cx="16954500" cy="1285875"/>
          </a:xfrm>
          <a:prstGeom prst="roundRect">
            <a:avLst>
              <a:gd name="adj" fmla="val 17777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a) Phát huy dân chủ — Một là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886450" y="3986212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6950" y="3986212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210300" y="3986212"/>
            <a:ext cx="0" cy="1900238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210300" y="5886450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0300" y="6019800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886450" y="5400675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076950" y="5400675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210300" y="5400675"/>
            <a:ext cx="0" cy="485775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210300" y="5886450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210300" y="6019800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886450" y="6815138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076950" y="6815138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6210300" y="6153150"/>
            <a:ext cx="0" cy="661988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6210300" y="6019800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210300" y="6019800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12211050" y="4595812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12077700" y="4595812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077700" y="4595812"/>
            <a:ext cx="0" cy="1290638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2077700" y="5886450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11801475" y="6019800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12170569" y="6205538"/>
            <a:ext cx="230981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12077700" y="6205538"/>
            <a:ext cx="92869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12077700" y="6112669"/>
            <a:ext cx="0" cy="92869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12077700" y="6019800"/>
            <a:ext cx="0" cy="92869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11801475" y="6019800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144000" y="4819650"/>
            <a:ext cx="0" cy="66675"/>
          </a:xfrm>
          <a:prstGeom prst="line">
            <a:avLst/>
          </a:prstGeom>
          <a:ln w="23812">
            <a:solidFill>
              <a:srgbClr val="1F3A5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66750" y="3267075"/>
            <a:ext cx="5181600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Đa dạng hình thức sở hữu, thành phần kinh tế, loại hình doanh nghiệp; bảo hộ quyền chủ sở hữu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6750" y="4876800"/>
            <a:ext cx="5181600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Luật về tài sản mới: sở hữu trí tuệ, cổ phiếu, trái phiếu…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66750" y="6096000"/>
            <a:ext cx="5181600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Thể chế đồng bộ 3 khâu: ban hành → vận hành, thực thi → giám sát, xử lý vi phạm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53200" y="3714750"/>
            <a:ext cx="5181600" cy="1066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Trở ngại: nền kinh tế kém phát triển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53200" y="4953000"/>
            <a:ext cx="5181600" cy="2133600"/>
          </a:xfrm>
          <a:prstGeom prst="roundRect">
            <a:avLst>
              <a:gd name="adj" fmla="val 10714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Hoàn thiện thể chế kinh tế thị trường định hướng XHCN → CƠ SỞ KINH TẾ VỮNG CHẮC cho dân chủ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53200" y="4953000"/>
            <a:ext cx="5181600" cy="2133600"/>
          </a:xfrm>
          <a:prstGeom prst="roundRect">
            <a:avLst>
              <a:gd name="adj" fmla="val 10714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2439650" y="3876675"/>
            <a:ext cx="5181600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Cải cách hành chính: từ bộ máy đến thủ tục → cải thiện môi trường kinh doanh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439650" y="5486400"/>
            <a:ext cx="5181600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Phát triển đồng bộ các yếu tố thị trường; hoàn thiện pháp luật kinh doanh phù hợp Việt Nam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a) Phát huy dân chủ — Hai là, Ba là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3258800" y="3924300"/>
            <a:ext cx="60007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3258800" y="6657975"/>
            <a:ext cx="60007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66750" y="3009900"/>
            <a:ext cx="3905250" cy="1819275"/>
          </a:xfrm>
          <a:prstGeom prst="roundRect">
            <a:avLst>
              <a:gd name="adj" fmla="val 628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Vững mạnh chính trị, tư tưởng, tổ chức; tự đổi mới, tự chỉnh đốn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91100" y="3009900"/>
            <a:ext cx="3905250" cy="1819275"/>
          </a:xfrm>
          <a:prstGeom prst="roundRect">
            <a:avLst>
              <a:gd name="adj" fmla="val 628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Nâng cao trí tuệ, bản lĩnh chính trị, phẩm chất đạo đức, năng lực lãnh đạo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15450" y="3009900"/>
            <a:ext cx="3905250" cy="1819275"/>
          </a:xfrm>
          <a:prstGeom prst="roundRect">
            <a:avLst>
              <a:gd name="adj" fmla="val 628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Dân chủ hóa sinh hoạt; tập trung dân chủ; tự phê bình và phê bình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925550" y="2857500"/>
            <a:ext cx="3695700" cy="2133600"/>
          </a:xfrm>
          <a:prstGeom prst="roundRect">
            <a:avLst>
              <a:gd name="adj" fmla="val 10714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Hai là: Đảng trong sạch, vững mạnh = ĐIỀU KIỆN TIÊN QUYẾT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925550" y="2857500"/>
            <a:ext cx="3695700" cy="2133600"/>
          </a:xfrm>
          <a:prstGeom prst="roundRect">
            <a:avLst>
              <a:gd name="adj" fmla="val 10714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6750" y="5362575"/>
            <a:ext cx="3905250" cy="2581275"/>
          </a:xfrm>
          <a:prstGeom prst="roundRect">
            <a:avLst>
              <a:gd name="adj" fmla="val 4428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Thực thi quyền dân chủ trên mọi lĩnh vực, bằng Hiến pháp, pháp luật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1100" y="5362575"/>
            <a:ext cx="3905250" cy="2581275"/>
          </a:xfrm>
          <a:prstGeom prst="roundRect">
            <a:avLst>
              <a:gd name="adj" fmla="val 4428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Quyền con người là GIÁ TRỊ CAO NHẤT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15450" y="5362575"/>
            <a:ext cx="3905250" cy="2581275"/>
          </a:xfrm>
          <a:prstGeom prst="roundRect">
            <a:avLst>
              <a:gd name="adj" fmla="val 4428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Chính sách, pháp luật dựa vào ý chí, nguyện vọng nhân dân; bảo đảm danh dự, nhân phẩm bằng pháp luật và trên thực tế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925550" y="5391150"/>
            <a:ext cx="3695700" cy="2533650"/>
          </a:xfrm>
          <a:prstGeom prst="roundRect">
            <a:avLst>
              <a:gd name="adj" fmla="val 9022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Ba là: Nhà nước pháp quyền vững mạnh = ĐIỀU KIỆN ĐỂ THỰC THI dân chủ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925550" y="5391150"/>
            <a:ext cx="3695700" cy="2533650"/>
          </a:xfrm>
          <a:prstGeom prst="roundRect">
            <a:avLst>
              <a:gd name="adj" fmla="val 9022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a) Phát huy dân chủ — Bốn là, Năm là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1877675" y="3133725"/>
            <a:ext cx="60007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2896850" y="6929438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3087350" y="6929438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3220700" y="6929438"/>
            <a:ext cx="0" cy="681037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3220700" y="7610475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220700" y="7743825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4514850" y="7939088"/>
            <a:ext cx="314325" cy="0"/>
          </a:xfrm>
          <a:prstGeom prst="line">
            <a:avLst/>
          </a:prstGeom>
          <a:ln w="23812">
            <a:solidFill>
              <a:srgbClr val="1F3A5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5597188" y="6343650"/>
            <a:ext cx="0" cy="66675"/>
          </a:xfrm>
          <a:prstGeom prst="line">
            <a:avLst/>
          </a:prstGeom>
          <a:ln w="23812">
            <a:solidFill>
              <a:srgbClr val="1F3A5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66750" y="1790700"/>
            <a:ext cx="5372100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Đổi mới mạnh mẽ phương thức hoạt động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57950" y="1790700"/>
            <a:ext cx="5372100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Giám sát, phản biện đường lối, chính sách, pháp luật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6750" y="3028950"/>
            <a:ext cx="5372100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Khối đoàn kết toàn dân; chăm lo đời sống nhân dân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57950" y="3028950"/>
            <a:ext cx="5372100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Bảo vệ chính quyền, xây dựng Đảng, bảo vệ quyền lợi chính đáng của nhân dân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544425" y="2476500"/>
            <a:ext cx="5076825" cy="1314450"/>
          </a:xfrm>
          <a:prstGeom prst="roundRect">
            <a:avLst>
              <a:gd name="adj" fmla="val 17391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Bốn là: NÂNG CAO VAI TRÒ tổ chức chính trị – xã hội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544425" y="2476500"/>
            <a:ext cx="5076825" cy="1314450"/>
          </a:xfrm>
          <a:prstGeom prst="roundRect">
            <a:avLst>
              <a:gd name="adj" fmla="val 17391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6750" y="5010150"/>
            <a:ext cx="3781425" cy="2200275"/>
          </a:xfrm>
          <a:prstGeom prst="roundRect">
            <a:avLst>
              <a:gd name="adj" fmla="val 5194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Giám sát, phản biện ảnh hưởng tới đời sống tâm lý nhân dân khi đánh giá chủ trương, chính sách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67275" y="5010150"/>
            <a:ext cx="3781425" cy="2200275"/>
          </a:xfrm>
          <a:prstGeom prst="roundRect">
            <a:avLst>
              <a:gd name="adj" fmla="val 5194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Công khai hóa · minh bạch hóa · dân chủ hóa thông tin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67800" y="5010150"/>
            <a:ext cx="3781425" cy="2200275"/>
          </a:xfrm>
          <a:prstGeom prst="roundRect">
            <a:avLst>
              <a:gd name="adj" fmla="val 5194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Cụ thể hóa quy chế tôn trọng, lắng nghe ý kiến nhân dân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6750" y="7400925"/>
            <a:ext cx="3781425" cy="1457325"/>
          </a:xfrm>
          <a:prstGeom prst="roundRect">
            <a:avLst>
              <a:gd name="adj" fmla="val 7843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Nâng cao </a:t>
            </a:r>
            <a:r>
              <a:rPr sz="2137" b="1" i="0">
                <a:solidFill>
                  <a:srgbClr val="8C2F2B"/>
                </a:solidFill>
                <a:latin typeface="Arial"/>
              </a:rPr>
              <a:t>DÂN TRÍ</a:t>
            </a:r>
            <a:r>
              <a:rPr sz="2137" b="0" i="0">
                <a:solidFill>
                  <a:srgbClr val="2B2622"/>
                </a:solidFill>
                <a:latin typeface="Arial"/>
              </a:rPr>
              <a:t>, văn hóa pháp luật cho toàn xã hội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867275" y="7400925"/>
            <a:ext cx="3781425" cy="1457325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Trước Đổi mới: dân trí </a:t>
            </a:r>
            <a:r>
              <a:rPr sz="2137" b="1" i="0">
                <a:solidFill>
                  <a:srgbClr val="1F3A5F"/>
                </a:solidFill>
                <a:latin typeface="Arial"/>
              </a:rPr>
              <a:t>CHƯA</a:t>
            </a:r>
            <a:r>
              <a:rPr sz="2137" b="0" i="0">
                <a:solidFill>
                  <a:srgbClr val="1F3A5F"/>
                </a:solidFill>
                <a:latin typeface="Arial"/>
              </a:rPr>
              <a:t> được đặt đúng vị trí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563600" y="4848225"/>
            <a:ext cx="4067175" cy="1457325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Phương châm: dân biết, dân bàn, dân làm, dân kiểm tra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3563600" y="6477000"/>
            <a:ext cx="4067175" cy="2533650"/>
          </a:xfrm>
          <a:prstGeom prst="roundRect">
            <a:avLst>
              <a:gd name="adj" fmla="val 9022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Năm là: hệ thống giám sát, phản biện xã hội → ĐỂ PHÁT HUY QUYỀN LÀM CHỦ của nhân dân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563600" y="6477000"/>
            <a:ext cx="4067175" cy="2533650"/>
          </a:xfrm>
          <a:prstGeom prst="roundRect">
            <a:avLst>
              <a:gd name="adj" fmla="val 9022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Mỗi giải pháp giữ vai trò gì?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81925" y="3286125"/>
            <a:ext cx="64770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429625" y="3286125"/>
            <a:ext cx="13335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562975" y="3286125"/>
            <a:ext cx="0" cy="74295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562975" y="4029075"/>
            <a:ext cx="0" cy="13335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562975" y="4162425"/>
            <a:ext cx="120967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781925" y="4143375"/>
            <a:ext cx="76200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543925" y="4143375"/>
            <a:ext cx="13335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677275" y="4143375"/>
            <a:ext cx="0" cy="240030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677275" y="6543675"/>
            <a:ext cx="0" cy="13335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77275" y="6677025"/>
            <a:ext cx="109537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781925" y="5000625"/>
            <a:ext cx="87630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658225" y="5000625"/>
            <a:ext cx="13335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91575" y="5000625"/>
            <a:ext cx="0" cy="70485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791575" y="5705475"/>
            <a:ext cx="0" cy="13335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791575" y="5838825"/>
            <a:ext cx="98107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781925" y="5857875"/>
            <a:ext cx="99060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72525" y="5857875"/>
            <a:ext cx="13335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8905875" y="3457575"/>
            <a:ext cx="0" cy="240030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8905875" y="3324225"/>
            <a:ext cx="0" cy="13335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8905875" y="3324225"/>
            <a:ext cx="86677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781925" y="6715125"/>
            <a:ext cx="110490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886825" y="6715125"/>
            <a:ext cx="13335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020175" y="5133975"/>
            <a:ext cx="0" cy="158115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9020175" y="5000625"/>
            <a:ext cx="0" cy="13335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020175" y="5000625"/>
            <a:ext cx="75247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3730288" y="7058025"/>
            <a:ext cx="0" cy="80963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3730288" y="7138988"/>
            <a:ext cx="0" cy="80962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9224962" y="7219950"/>
            <a:ext cx="4505326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9144000" y="7219950"/>
            <a:ext cx="80962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9144000" y="7219950"/>
            <a:ext cx="0" cy="161925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629525" y="2066925"/>
            <a:ext cx="3028950" cy="4857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B6B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38100" bIns="38100"/>
          <a:lstStyle/>
          <a:p>
            <a:pPr algn="ctr"/>
            <a:r>
              <a:rPr sz="1500" b="0" i="0">
                <a:solidFill>
                  <a:srgbClr val="6B6B6B"/>
                </a:solidFill>
                <a:latin typeface="Arial"/>
              </a:rPr>
              <a:t>Nối giải pháp với vai trò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6750" y="2943225"/>
            <a:ext cx="7077075" cy="685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Một là — Thể chế kinh tế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66750" y="3800475"/>
            <a:ext cx="7077075" cy="685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Hai là — Đảng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66750" y="4657725"/>
            <a:ext cx="7077075" cy="685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Ba là — Nhà nước pháp quyền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66750" y="5514975"/>
            <a:ext cx="7077075" cy="685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Bốn là — Tổ chức chính trị – xã hội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66750" y="6372225"/>
            <a:ext cx="7077075" cy="685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Năm là — Giám sát, phản biện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839325" y="2990850"/>
            <a:ext cx="7781925" cy="666750"/>
          </a:xfrm>
          <a:prstGeom prst="roundRect">
            <a:avLst>
              <a:gd name="adj" fmla="val 1714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nâng cao vai trò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839325" y="3829050"/>
            <a:ext cx="7781925" cy="666750"/>
          </a:xfrm>
          <a:prstGeom prst="roundRect">
            <a:avLst>
              <a:gd name="adj" fmla="val 1714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cơ sở kinh tế vững chắc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839325" y="4667250"/>
            <a:ext cx="7781925" cy="666750"/>
          </a:xfrm>
          <a:prstGeom prst="roundRect">
            <a:avLst>
              <a:gd name="adj" fmla="val 1714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để phát huy quyền làm chủ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839325" y="5505450"/>
            <a:ext cx="7781925" cy="666750"/>
          </a:xfrm>
          <a:prstGeom prst="roundRect">
            <a:avLst>
              <a:gd name="adj" fmla="val 1714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điều kiện để thực thi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839325" y="6343650"/>
            <a:ext cx="7781925" cy="666750"/>
          </a:xfrm>
          <a:prstGeom prst="roundRect">
            <a:avLst>
              <a:gd name="adj" fmla="val 1714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điều kiện tiên quyết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66750" y="7448550"/>
            <a:ext cx="16954500" cy="1285875"/>
          </a:xfrm>
          <a:prstGeom prst="roundRect">
            <a:avLst>
              <a:gd name="adj" fmla="val 17777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a) PHÁT HUY DÂN CHỦ XHCN Ở VIỆT NAM HIỆN NAY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66750" y="7448550"/>
            <a:ext cx="16954500" cy="1285875"/>
          </a:xfrm>
          <a:prstGeom prst="roundRect">
            <a:avLst>
              <a:gd name="adj" fmla="val 17777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indefinite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b) Hoàn thiện Nhà nước pháp quyền — Một là, Hai là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229350" y="2295525"/>
            <a:ext cx="314325" cy="0"/>
          </a:xfrm>
          <a:prstGeom prst="line">
            <a:avLst/>
          </a:prstGeom>
          <a:ln w="23812">
            <a:solidFill>
              <a:srgbClr val="1F3A5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229350" y="3738562"/>
            <a:ext cx="314325" cy="0"/>
          </a:xfrm>
          <a:prstGeom prst="line">
            <a:avLst/>
          </a:prstGeom>
          <a:ln w="23812">
            <a:solidFill>
              <a:srgbClr val="1F3A5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552950" y="5938838"/>
            <a:ext cx="314325" cy="0"/>
          </a:xfrm>
          <a:prstGeom prst="line">
            <a:avLst/>
          </a:prstGeom>
          <a:ln w="23812">
            <a:solidFill>
              <a:srgbClr val="1F3A5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2172950" y="3109912"/>
            <a:ext cx="60007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3087350" y="6938962"/>
            <a:ext cx="60007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66750" y="1762125"/>
            <a:ext cx="5524500" cy="1066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Nhà nước mang bản chất giai cấp công nhân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10350" y="1762125"/>
            <a:ext cx="5524500" cy="1066800"/>
          </a:xfrm>
          <a:prstGeom prst="roundRect">
            <a:avLst>
              <a:gd name="adj" fmla="val 10714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Bản chất giai cấp công nhân; gắn bó chặt chẽ với dân tộc, nhân dân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6750" y="3019425"/>
            <a:ext cx="5524500" cy="1438275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Kiểm soát quyền lực nhà nước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10350" y="3019425"/>
            <a:ext cx="5524500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Quyền lực thống nhất; phân công, phối hợp: lập pháp – hành pháp – tư pháp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839700" y="2247900"/>
            <a:ext cx="4781550" cy="1724025"/>
          </a:xfrm>
          <a:prstGeom prst="roundRect">
            <a:avLst>
              <a:gd name="adj" fmla="val 13259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Một là: xây dựng Nhà nước pháp quyền DƯỚI SỰ LÃNH ĐẠO CỦA ĐẢNG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2839700" y="2247900"/>
            <a:ext cx="4781550" cy="1724025"/>
          </a:xfrm>
          <a:prstGeom prst="roundRect">
            <a:avLst>
              <a:gd name="adj" fmla="val 13259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6750" y="4838700"/>
            <a:ext cx="3848100" cy="2200275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Quốc hội là cơ quan quyền lực nhà nước cao nhất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933950" y="4838700"/>
            <a:ext cx="3848100" cy="2200275"/>
          </a:xfrm>
          <a:prstGeom prst="roundRect">
            <a:avLst>
              <a:gd name="adj" fmla="val 5194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Quốc hội: cơ quan quyền lực cao nhất; lập hiến, lập pháp; một số nhiệm vụ hành pháp, tư pháp; giám sát tối cao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01150" y="4838700"/>
            <a:ext cx="3848100" cy="2200275"/>
          </a:xfrm>
          <a:prstGeom prst="roundRect">
            <a:avLst>
              <a:gd name="adj" fmla="val 5194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Hành chính: dân chủ, trong sạch, vững mạnh, từng bước hiện đại hóa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6750" y="7229475"/>
            <a:ext cx="3848100" cy="1819275"/>
          </a:xfrm>
          <a:prstGeom prst="roundRect">
            <a:avLst>
              <a:gd name="adj" fmla="val 628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Giảm mạnh, bãi bỏ thủ tục gây phiền hà; nâng cao năng lực thực hiện cơ chế, chính sách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33950" y="7229475"/>
            <a:ext cx="3848100" cy="1819275"/>
          </a:xfrm>
          <a:prstGeom prst="roundRect">
            <a:avLst>
              <a:gd name="adj" fmla="val 628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Xã hội hóa dịch vụ công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754100" y="6076950"/>
            <a:ext cx="3867150" cy="1724025"/>
          </a:xfrm>
          <a:prstGeom prst="roundRect">
            <a:avLst>
              <a:gd name="adj" fmla="val 13259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Hai là: CẢI CÁCH THỂ CHẾ và phương thức hoạt động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754100" y="6076950"/>
            <a:ext cx="3867150" cy="1724025"/>
          </a:xfrm>
          <a:prstGeom prst="roundRect">
            <a:avLst>
              <a:gd name="adj" fmla="val 13259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b) Hoàn thiện Nhà nước pháp quyền — Ba là, Bốn là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3087350" y="3524250"/>
            <a:ext cx="60007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3087350" y="6653212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3277850" y="6653212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3411200" y="6653212"/>
            <a:ext cx="0" cy="490538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3411200" y="7143750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411200" y="7277100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5687675" y="6076950"/>
            <a:ext cx="0" cy="66675"/>
          </a:xfrm>
          <a:prstGeom prst="line">
            <a:avLst/>
          </a:prstGeom>
          <a:ln w="23812">
            <a:solidFill>
              <a:srgbClr val="1F3A5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66750" y="2619375"/>
            <a:ext cx="3848100" cy="1819275"/>
          </a:xfrm>
          <a:prstGeom prst="roundRect">
            <a:avLst>
              <a:gd name="adj" fmla="val 628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Bản lĩnh chính trị, phẩm chất đạo đức, năng lực lãnh đạo, điều hành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33950" y="2619375"/>
            <a:ext cx="3848100" cy="1819275"/>
          </a:xfrm>
          <a:prstGeom prst="roundRect">
            <a:avLst>
              <a:gd name="adj" fmla="val 628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Đãi ngộ, động viên, khuyến khích người hoàn thành tốt nhiệm vụ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01150" y="2619375"/>
            <a:ext cx="3848100" cy="1819275"/>
          </a:xfrm>
          <a:prstGeom prst="roundRect">
            <a:avLst>
              <a:gd name="adj" fmla="val 628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Loại bỏ, miễn nhiệm người không hoàn thành nhiệm vụ, vi phạm kỷ luật, đạo đức công vụ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54100" y="2457450"/>
            <a:ext cx="3867150" cy="2133600"/>
          </a:xfrm>
          <a:prstGeom prst="roundRect">
            <a:avLst>
              <a:gd name="adj" fmla="val 10714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Ba là: đội ngũ cán bộ, công chức TRONG SẠCH, CÓ NĂNG LỰC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754100" y="2457450"/>
            <a:ext cx="3867150" cy="2133600"/>
          </a:xfrm>
          <a:prstGeom prst="roundRect">
            <a:avLst>
              <a:gd name="adj" fmla="val 10714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6750" y="5314950"/>
            <a:ext cx="3848100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Hoàn thiện thể chế + cải cách hành chính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33950" y="5314950"/>
            <a:ext cx="3848100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Khuyến khích và bảo vệ người đấu tranh chống tham nhũng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01150" y="5314950"/>
            <a:ext cx="3848100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Chế tài xử lý cá nhân, tổ chức vi phạm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6750" y="6943725"/>
            <a:ext cx="3848100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Toàn Đảng, toàn dân thực hành tiết kiệm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754100" y="4972050"/>
            <a:ext cx="3867150" cy="1066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Cương lĩnh: ngăn ngừa và trừng trị tham nhũng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754100" y="6210300"/>
            <a:ext cx="3867150" cy="2133600"/>
          </a:xfrm>
          <a:prstGeom prst="roundRect">
            <a:avLst>
              <a:gd name="adj" fmla="val 10714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Bốn là: phòng, chống tham nhũng, lãng phí — nhiệm vụ CẤP BÁCH, LÂU DÀI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3754100" y="6210300"/>
            <a:ext cx="3867150" cy="2133600"/>
          </a:xfrm>
          <a:prstGeom prst="roundRect">
            <a:avLst>
              <a:gd name="adj" fmla="val 10714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Phần 3 — Mỗi giải pháp nối về đâu?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772275" y="2819400"/>
            <a:ext cx="314325" cy="0"/>
          </a:xfrm>
          <a:prstGeom prst="line">
            <a:avLst/>
          </a:prstGeom>
          <a:ln w="23812">
            <a:solidFill>
              <a:srgbClr val="1F3A5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772275" y="3695700"/>
            <a:ext cx="314325" cy="0"/>
          </a:xfrm>
          <a:prstGeom prst="line">
            <a:avLst/>
          </a:prstGeom>
          <a:ln w="23812">
            <a:solidFill>
              <a:srgbClr val="1F3A5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772275" y="4772025"/>
            <a:ext cx="314325" cy="0"/>
          </a:xfrm>
          <a:prstGeom prst="line">
            <a:avLst/>
          </a:prstGeom>
          <a:ln w="23812">
            <a:solidFill>
              <a:srgbClr val="1F3A5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772275" y="6029325"/>
            <a:ext cx="314325" cy="0"/>
          </a:xfrm>
          <a:prstGeom prst="line">
            <a:avLst/>
          </a:prstGeom>
          <a:ln w="23812">
            <a:solidFill>
              <a:srgbClr val="1F3A5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772275" y="7096125"/>
            <a:ext cx="314325" cy="0"/>
          </a:xfrm>
          <a:prstGeom prst="line">
            <a:avLst/>
          </a:prstGeom>
          <a:ln w="23812">
            <a:solidFill>
              <a:srgbClr val="1F3A5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772275" y="7981950"/>
            <a:ext cx="314325" cy="0"/>
          </a:xfrm>
          <a:prstGeom prst="line">
            <a:avLst/>
          </a:prstGeom>
          <a:ln w="23812">
            <a:solidFill>
              <a:srgbClr val="1F3A5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3258800" y="5400675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3449300" y="5400675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13582650" y="3829050"/>
            <a:ext cx="0" cy="1571625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13582650" y="3695700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3582650" y="3695700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3258800" y="5400675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3449300" y="5400675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3582650" y="5400675"/>
            <a:ext cx="0" cy="1171575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3582650" y="6572250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3582650" y="6705600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66750" y="2476500"/>
            <a:ext cx="6067425" cy="685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Trở ngại: kinh tế kém phát triển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53275" y="2476500"/>
            <a:ext cx="6067425" cy="685800"/>
          </a:xfrm>
          <a:prstGeom prst="roundRect">
            <a:avLst>
              <a:gd name="adj" fmla="val 16666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Cơ sở kinh tế vững chắc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6750" y="3352800"/>
            <a:ext cx="6067425" cy="685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Trước Đổi mới: dân trí chưa đúng vị trí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53275" y="3352800"/>
            <a:ext cx="6067425" cy="685800"/>
          </a:xfrm>
          <a:prstGeom prst="roundRect">
            <a:avLst>
              <a:gd name="adj" fmla="val 16666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Nâng cao dân trí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6750" y="4238625"/>
            <a:ext cx="6067425" cy="1066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Phương châm: dân biết, bàn, làm, kiểm tra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53275" y="4238625"/>
            <a:ext cx="6067425" cy="1066800"/>
          </a:xfrm>
          <a:prstGeom prst="roundRect">
            <a:avLst>
              <a:gd name="adj" fmla="val 10714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Giám sát, phản biện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6750" y="5495925"/>
            <a:ext cx="6067425" cy="1066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Nhà nước pháp quyền: bản chất giai cấp công nhân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53275" y="5495925"/>
            <a:ext cx="6067425" cy="1066800"/>
          </a:xfrm>
          <a:prstGeom prst="roundRect">
            <a:avLst>
              <a:gd name="adj" fmla="val 10714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Dưới sự lãnh đạo của Đảng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6750" y="6753225"/>
            <a:ext cx="6067425" cy="685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Dân chủ gián tiếp: Quốc hội cao nhất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153275" y="6753225"/>
            <a:ext cx="6067425" cy="685800"/>
          </a:xfrm>
          <a:prstGeom prst="roundRect">
            <a:avLst>
              <a:gd name="adj" fmla="val 16666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Cải cách Quốc hội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6750" y="7639050"/>
            <a:ext cx="6067425" cy="685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Cương lĩnh: trừng trị tham nhũng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53275" y="7639050"/>
            <a:ext cx="6067425" cy="685800"/>
          </a:xfrm>
          <a:prstGeom prst="roundRect">
            <a:avLst>
              <a:gd name="adj" fmla="val 16666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Phòng, chống tham nhũng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3925550" y="2933700"/>
            <a:ext cx="3695700" cy="1724025"/>
          </a:xfrm>
          <a:prstGeom prst="roundRect">
            <a:avLst>
              <a:gd name="adj" fmla="val 13259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a) Phát huy dân chủ XHCN — 5 giải pháp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925550" y="2933700"/>
            <a:ext cx="3695700" cy="1724025"/>
          </a:xfrm>
          <a:prstGeom prst="roundRect">
            <a:avLst>
              <a:gd name="adj" fmla="val 13259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3925550" y="5734050"/>
            <a:ext cx="3695700" cy="2133600"/>
          </a:xfrm>
          <a:prstGeom prst="roundRect">
            <a:avLst>
              <a:gd name="adj" fmla="val 10714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b) Hoàn thiện Nhà nước pháp quyền XHCN — 4 giải pháp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3925550" y="5734050"/>
            <a:ext cx="3695700" cy="2133600"/>
          </a:xfrm>
          <a:prstGeom prst="roundRect">
            <a:avLst>
              <a:gd name="adj" fmla="val 10714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0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Dân chủ XHCN và Nhà nước pháp quyền XHCN ở Việt Nam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144000" y="7715250"/>
            <a:ext cx="0" cy="61912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9144000" y="7777162"/>
            <a:ext cx="0" cy="61913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144000" y="7839075"/>
            <a:ext cx="50101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4154150" y="7839075"/>
            <a:ext cx="80962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4235112" y="7839075"/>
            <a:ext cx="0" cy="161925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182225" y="8710612"/>
            <a:ext cx="600075" cy="0"/>
          </a:xfrm>
          <a:prstGeom prst="line">
            <a:avLst/>
          </a:prstGeom>
          <a:ln w="23812">
            <a:solidFill>
              <a:srgbClr val="1F3A5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66750" y="1447800"/>
            <a:ext cx="5800725" cy="1733550"/>
          </a:xfrm>
          <a:prstGeom prst="roundRect">
            <a:avLst>
              <a:gd name="adj" fmla="val 6000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95250" bIns="95250"/>
          <a:lstStyle/>
          <a:p>
            <a:pPr algn="l"/>
            <a:r>
              <a:rPr sz="1567" b="1" i="0">
                <a:solidFill>
                  <a:srgbClr val="8C2F2B"/>
                </a:solidFill>
                <a:latin typeface="Arial"/>
              </a:rPr>
              <a:t>1 · Dân chủ XHCN ở Việt Nam</a:t>
            </a:r>
          </a:p>
          <a:p>
            <a:pPr algn="l"/>
            <a:r>
              <a:rPr sz="1211" b="0" i="0">
                <a:solidFill>
                  <a:srgbClr val="2B2622"/>
                </a:solidFill>
                <a:latin typeface="Arial"/>
              </a:rPr>
              <a:t>Một dữ kiện mở đầu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Trước Đổi mới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Đại hội VI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Ba mươi lăm năm đổi mới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Bảy chữ “dân”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Bốn nội dung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Hai hình thức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Thực tiễn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Trở ngại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Khái quát phần 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72325" y="1447800"/>
            <a:ext cx="4638675" cy="1733550"/>
          </a:xfrm>
          <a:prstGeom prst="roundRect">
            <a:avLst>
              <a:gd name="adj" fmla="val 6000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95250" bIns="95250"/>
          <a:lstStyle/>
          <a:p>
            <a:pPr algn="l"/>
            <a:r>
              <a:rPr sz="1567" b="1" i="0">
                <a:solidFill>
                  <a:srgbClr val="8C2F2B"/>
                </a:solidFill>
                <a:latin typeface="Arial"/>
              </a:rPr>
              <a:t>2 · Nhà nước pháp quyền XHCN</a:t>
            </a:r>
          </a:p>
          <a:p>
            <a:pPr algn="l"/>
            <a:r>
              <a:rPr sz="1211" b="0" i="0">
                <a:solidFill>
                  <a:srgbClr val="2B2622"/>
                </a:solidFill>
                <a:latin typeface="Arial"/>
              </a:rPr>
              <a:t>Cương lĩnh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Qua các kỳ Đại hội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Đặc điểm 1–3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Đặc điểm 4–6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Đối chiếu quan niệm chung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Khái quát phần 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515850" y="1447800"/>
            <a:ext cx="5105400" cy="1733550"/>
          </a:xfrm>
          <a:prstGeom prst="roundRect">
            <a:avLst>
              <a:gd name="adj" fmla="val 6000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95250" bIns="95250"/>
          <a:lstStyle/>
          <a:p>
            <a:pPr algn="l"/>
            <a:r>
              <a:rPr sz="1567" b="1" i="0">
                <a:solidFill>
                  <a:srgbClr val="8C2F2B"/>
                </a:solidFill>
                <a:latin typeface="Arial"/>
              </a:rPr>
              <a:t>3 · Phát huy &amp; xây dựng hiện nay</a:t>
            </a:r>
          </a:p>
          <a:p>
            <a:pPr algn="l"/>
            <a:r>
              <a:rPr sz="1211" b="0" i="0">
                <a:solidFill>
                  <a:srgbClr val="2B2622"/>
                </a:solidFill>
                <a:latin typeface="Arial"/>
              </a:rPr>
              <a:t>Một là: kinh tế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Hai là, Ba là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Bốn là, Năm là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Ghép vai trò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b) Một là, Hai là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b) Ba là, Bốn là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Khái quát phần 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6750" y="3562350"/>
            <a:ext cx="3057525" cy="1285875"/>
          </a:xfrm>
          <a:prstGeom prst="roundRect">
            <a:avLst>
              <a:gd name="adj" fmla="val 12000"/>
            </a:avLst>
          </a:prstGeom>
          <a:solidFill>
            <a:srgbClr val="FFFBF1"/>
          </a:solidFill>
          <a:ln w="14287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350" rIns="133350" tIns="76200" bIns="76200"/>
          <a:lstStyle/>
          <a:p>
            <a:pPr algn="l"/>
            <a:r>
              <a:rPr sz="1567" b="1" i="0">
                <a:solidFill>
                  <a:srgbClr val="1F3A5F"/>
                </a:solidFill>
                <a:latin typeface="Arial"/>
              </a:rPr>
              <a:t>⇄  </a:t>
            </a:r>
            <a:r>
              <a:rPr sz="1282" b="1" i="0">
                <a:solidFill>
                  <a:srgbClr val="2B2622"/>
                </a:solidFill>
                <a:latin typeface="Arial"/>
              </a:rPr>
              <a:t>Quyền lực thuộc về nhân dân</a:t>
            </a:r>
          </a:p>
          <a:p>
            <a:pPr algn="l"/>
            <a:r>
              <a:rPr sz="1139" b="0" i="0">
                <a:solidFill>
                  <a:srgbClr val="6B6B6B"/>
                </a:solidFill>
                <a:latin typeface="Arial"/>
              </a:rPr>
              <a:t>Bảy chữ “dân” → Hai hình thức · Đặc điểm 1–3 · Kết luận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43375" y="3562350"/>
            <a:ext cx="3057525" cy="1285875"/>
          </a:xfrm>
          <a:prstGeom prst="roundRect">
            <a:avLst>
              <a:gd name="adj" fmla="val 12000"/>
            </a:avLst>
          </a:prstGeom>
          <a:solidFill>
            <a:srgbClr val="FFFBF1"/>
          </a:solidFill>
          <a:ln w="14287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350" rIns="133350" tIns="76200" bIns="76200"/>
          <a:lstStyle/>
          <a:p>
            <a:pPr algn="l"/>
            <a:r>
              <a:rPr sz="1567" b="1" i="0">
                <a:solidFill>
                  <a:srgbClr val="1F3A5F"/>
                </a:solidFill>
                <a:latin typeface="Arial"/>
              </a:rPr>
              <a:t>⇄  </a:t>
            </a:r>
            <a:r>
              <a:rPr sz="1282" b="1" i="0">
                <a:solidFill>
                  <a:srgbClr val="2B2622"/>
                </a:solidFill>
                <a:latin typeface="Arial"/>
              </a:rPr>
              <a:t>Dân chủ gắn với pháp luật, kỷ cương</a:t>
            </a:r>
          </a:p>
          <a:p>
            <a:pPr algn="l"/>
            <a:r>
              <a:rPr sz="1139" b="0" i="0">
                <a:solidFill>
                  <a:srgbClr val="6B6B6B"/>
                </a:solidFill>
                <a:latin typeface="Arial"/>
              </a:rPr>
              <a:t>Ba mươi lăm năm đổi mới → Bốn nội dung · Thực tiễn · Đặc điểm 1–3 · Đối chiếu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20000" y="3562350"/>
            <a:ext cx="3057525" cy="1285875"/>
          </a:xfrm>
          <a:prstGeom prst="roundRect">
            <a:avLst>
              <a:gd name="adj" fmla="val 12000"/>
            </a:avLst>
          </a:prstGeom>
          <a:solidFill>
            <a:srgbClr val="FFFBF1"/>
          </a:solidFill>
          <a:ln w="14287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350" rIns="133350" tIns="76200" bIns="76200"/>
          <a:lstStyle/>
          <a:p>
            <a:pPr algn="l"/>
            <a:r>
              <a:rPr sz="1567" b="1" i="0">
                <a:solidFill>
                  <a:srgbClr val="1F3A5F"/>
                </a:solidFill>
                <a:latin typeface="Arial"/>
              </a:rPr>
              <a:t>⇄  </a:t>
            </a:r>
            <a:r>
              <a:rPr sz="1282" b="1" i="0">
                <a:solidFill>
                  <a:srgbClr val="2B2622"/>
                </a:solidFill>
                <a:latin typeface="Arial"/>
              </a:rPr>
              <a:t>Phân công – phối hợp – kiểm soát quyền lực</a:t>
            </a:r>
          </a:p>
          <a:p>
            <a:pPr algn="l"/>
            <a:r>
              <a:rPr sz="1139" b="0" i="0">
                <a:solidFill>
                  <a:srgbClr val="6B6B6B"/>
                </a:solidFill>
                <a:latin typeface="Arial"/>
              </a:rPr>
              <a:t>Hai hình thức → Cương lĩnh · Các kỳ Đại hội · Đặc điểm 1–6 · Hoàn thiện Nhà nước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087100" y="3562350"/>
            <a:ext cx="3057525" cy="1285875"/>
          </a:xfrm>
          <a:prstGeom prst="roundRect">
            <a:avLst>
              <a:gd name="adj" fmla="val 12000"/>
            </a:avLst>
          </a:prstGeom>
          <a:solidFill>
            <a:srgbClr val="FFFBF1"/>
          </a:solidFill>
          <a:ln w="14287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350" rIns="133350" tIns="76200" bIns="76200"/>
          <a:lstStyle/>
          <a:p>
            <a:pPr algn="l"/>
            <a:r>
              <a:rPr sz="1567" b="1" i="0">
                <a:solidFill>
                  <a:srgbClr val="1F3A5F"/>
                </a:solidFill>
                <a:latin typeface="Arial"/>
              </a:rPr>
              <a:t>⇄  </a:t>
            </a:r>
            <a:r>
              <a:rPr sz="1282" b="1" i="0">
                <a:solidFill>
                  <a:srgbClr val="2B2622"/>
                </a:solidFill>
                <a:latin typeface="Arial"/>
              </a:rPr>
              <a:t>Dân biết, dân bàn, dân làm, dân kiểm tra</a:t>
            </a:r>
          </a:p>
          <a:p>
            <a:pPr algn="l"/>
            <a:r>
              <a:rPr sz="1139" b="0" i="0">
                <a:solidFill>
                  <a:srgbClr val="6B6B6B"/>
                </a:solidFill>
                <a:latin typeface="Arial"/>
              </a:rPr>
              <a:t>Thực tiễn → Đặc điểm 4–6 · Giám sát, phản biện · Kết luận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4563725" y="3562350"/>
            <a:ext cx="3057525" cy="1285875"/>
          </a:xfrm>
          <a:prstGeom prst="roundRect">
            <a:avLst>
              <a:gd name="adj" fmla="val 12000"/>
            </a:avLst>
          </a:prstGeom>
          <a:solidFill>
            <a:srgbClr val="FFFBF1"/>
          </a:solidFill>
          <a:ln w="14287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350" rIns="133350" tIns="76200" bIns="76200"/>
          <a:lstStyle/>
          <a:p>
            <a:pPr algn="l"/>
            <a:r>
              <a:rPr sz="1567" b="1" i="0">
                <a:solidFill>
                  <a:srgbClr val="1F3A5F"/>
                </a:solidFill>
                <a:latin typeface="Arial"/>
              </a:rPr>
              <a:t>⇄  </a:t>
            </a:r>
            <a:r>
              <a:rPr sz="1282" b="1" i="0">
                <a:solidFill>
                  <a:srgbClr val="2B2622"/>
                </a:solidFill>
                <a:latin typeface="Arial"/>
              </a:rPr>
              <a:t>Kinh tế</a:t>
            </a:r>
          </a:p>
          <a:p>
            <a:pPr algn="l"/>
            <a:r>
              <a:rPr sz="1139" b="0" i="0">
                <a:solidFill>
                  <a:srgbClr val="6B6B6B"/>
                </a:solidFill>
                <a:latin typeface="Arial"/>
              </a:rPr>
              <a:t>Trở ngại → Một là: thể chế kinh tế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6750" y="5029200"/>
            <a:ext cx="3057525" cy="1066800"/>
          </a:xfrm>
          <a:prstGeom prst="roundRect">
            <a:avLst>
              <a:gd name="adj" fmla="val 12000"/>
            </a:avLst>
          </a:prstGeom>
          <a:solidFill>
            <a:srgbClr val="FFFBF1"/>
          </a:solidFill>
          <a:ln w="14287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350" rIns="133350" tIns="76200" bIns="76200"/>
          <a:lstStyle/>
          <a:p>
            <a:pPr algn="l"/>
            <a:r>
              <a:rPr sz="1567" b="1" i="0">
                <a:solidFill>
                  <a:srgbClr val="1F3A5F"/>
                </a:solidFill>
                <a:latin typeface="Arial"/>
              </a:rPr>
              <a:t>⇄  </a:t>
            </a:r>
            <a:r>
              <a:rPr sz="1282" b="1" i="0">
                <a:solidFill>
                  <a:srgbClr val="2B2622"/>
                </a:solidFill>
                <a:latin typeface="Arial"/>
              </a:rPr>
              <a:t>Dân trí</a:t>
            </a:r>
          </a:p>
          <a:p>
            <a:pPr algn="l"/>
            <a:r>
              <a:rPr sz="1139" b="0" i="0">
                <a:solidFill>
                  <a:srgbClr val="6B6B6B"/>
                </a:solidFill>
                <a:latin typeface="Arial"/>
              </a:rPr>
              <a:t>Trước Đổi mới → Nâng cao dân trí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43375" y="5029200"/>
            <a:ext cx="3057525" cy="1066800"/>
          </a:xfrm>
          <a:prstGeom prst="roundRect">
            <a:avLst>
              <a:gd name="adj" fmla="val 12000"/>
            </a:avLst>
          </a:prstGeom>
          <a:solidFill>
            <a:srgbClr val="FFFBF1"/>
          </a:solidFill>
          <a:ln w="14287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350" rIns="133350" tIns="76200" bIns="76200"/>
          <a:lstStyle/>
          <a:p>
            <a:pPr algn="l"/>
            <a:r>
              <a:rPr sz="1567" b="1" i="0">
                <a:solidFill>
                  <a:srgbClr val="1F3A5F"/>
                </a:solidFill>
                <a:latin typeface="Arial"/>
              </a:rPr>
              <a:t>⇄  </a:t>
            </a:r>
            <a:r>
              <a:rPr sz="1282" b="1" i="0">
                <a:solidFill>
                  <a:srgbClr val="2B2622"/>
                </a:solidFill>
                <a:latin typeface="Arial"/>
              </a:rPr>
              <a:t>Tham nhũng</a:t>
            </a:r>
          </a:p>
          <a:p>
            <a:pPr algn="l"/>
            <a:r>
              <a:rPr sz="1139" b="0" i="0">
                <a:solidFill>
                  <a:srgbClr val="6B6B6B"/>
                </a:solidFill>
                <a:latin typeface="Arial"/>
              </a:rPr>
              <a:t>Cương lĩnh → Phòng, chống tham nhũng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20000" y="5029200"/>
            <a:ext cx="3057525" cy="1066800"/>
          </a:xfrm>
          <a:prstGeom prst="roundRect">
            <a:avLst>
              <a:gd name="adj" fmla="val 12000"/>
            </a:avLst>
          </a:prstGeom>
          <a:solidFill>
            <a:srgbClr val="FFFBF1"/>
          </a:solidFill>
          <a:ln w="14287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350" rIns="133350" tIns="76200" bIns="76200"/>
          <a:lstStyle/>
          <a:p>
            <a:pPr algn="l"/>
            <a:r>
              <a:rPr sz="1567" b="1" i="0">
                <a:solidFill>
                  <a:srgbClr val="1F3A5F"/>
                </a:solidFill>
                <a:latin typeface="Arial"/>
              </a:rPr>
              <a:t>⇄  </a:t>
            </a:r>
            <a:r>
              <a:rPr sz="1282" b="1" i="0">
                <a:solidFill>
                  <a:srgbClr val="2B2622"/>
                </a:solidFill>
                <a:latin typeface="Arial"/>
              </a:rPr>
              <a:t>Lấy dân làm gốc</a:t>
            </a:r>
          </a:p>
          <a:p>
            <a:pPr algn="l"/>
            <a:r>
              <a:rPr sz="1139" b="0" i="0">
                <a:solidFill>
                  <a:srgbClr val="6B6B6B"/>
                </a:solidFill>
                <a:latin typeface="Arial"/>
              </a:rPr>
              <a:t>Đại hội VI → Khái quát phần 1 · Kết luận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087100" y="5029200"/>
            <a:ext cx="3057525" cy="1066800"/>
          </a:xfrm>
          <a:prstGeom prst="roundRect">
            <a:avLst>
              <a:gd name="adj" fmla="val 12000"/>
            </a:avLst>
          </a:prstGeom>
          <a:solidFill>
            <a:srgbClr val="FFFBF1"/>
          </a:solidFill>
          <a:ln w="14287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350" rIns="133350" tIns="76200" bIns="76200"/>
          <a:lstStyle/>
          <a:p>
            <a:pPr algn="l"/>
            <a:r>
              <a:rPr sz="1567" b="1" i="0">
                <a:solidFill>
                  <a:srgbClr val="1F3A5F"/>
                </a:solidFill>
                <a:latin typeface="Arial"/>
              </a:rPr>
              <a:t>⇄  </a:t>
            </a:r>
            <a:r>
              <a:rPr sz="1282" b="1" i="0">
                <a:solidFill>
                  <a:srgbClr val="2B2622"/>
                </a:solidFill>
                <a:latin typeface="Arial"/>
              </a:rPr>
              <a:t>Bản chất giai cấp công nhân</a:t>
            </a:r>
          </a:p>
          <a:p>
            <a:pPr algn="l"/>
            <a:r>
              <a:rPr sz="1139" b="0" i="0">
                <a:solidFill>
                  <a:srgbClr val="6B6B6B"/>
                </a:solidFill>
                <a:latin typeface="Arial"/>
              </a:rPr>
              <a:t>Khái quát phần 2 → Dưới sự lãnh đạo của Đảng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4563725" y="5029200"/>
            <a:ext cx="3057525" cy="1066800"/>
          </a:xfrm>
          <a:prstGeom prst="roundRect">
            <a:avLst>
              <a:gd name="adj" fmla="val 12000"/>
            </a:avLst>
          </a:prstGeom>
          <a:solidFill>
            <a:srgbClr val="FFFBF1"/>
          </a:solidFill>
          <a:ln w="14287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350" rIns="133350" tIns="76200" bIns="76200"/>
          <a:lstStyle/>
          <a:p>
            <a:pPr algn="l"/>
            <a:r>
              <a:rPr sz="1567" b="1" i="0">
                <a:solidFill>
                  <a:srgbClr val="1F3A5F"/>
                </a:solidFill>
                <a:latin typeface="Arial"/>
              </a:rPr>
              <a:t>⇄  </a:t>
            </a:r>
            <a:r>
              <a:rPr sz="1282" b="1" i="0">
                <a:solidFill>
                  <a:srgbClr val="2B2622"/>
                </a:solidFill>
                <a:latin typeface="Arial"/>
              </a:rPr>
              <a:t>Quốc hội – cơ quan quyền lực cao nhất</a:t>
            </a:r>
          </a:p>
          <a:p>
            <a:pPr algn="l"/>
            <a:r>
              <a:rPr sz="1139" b="0" i="0">
                <a:solidFill>
                  <a:srgbClr val="6B6B6B"/>
                </a:solidFill>
                <a:latin typeface="Arial"/>
              </a:rPr>
              <a:t>Dân chủ gián tiếp → Cải cách Quốc hội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6750" y="6477000"/>
            <a:ext cx="3924300" cy="1200150"/>
          </a:xfrm>
          <a:prstGeom prst="roundRect">
            <a:avLst>
              <a:gd name="adj" fmla="val 9523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1282" b="1" i="0">
                <a:solidFill>
                  <a:srgbClr val="8C2F2B"/>
                </a:solidFill>
                <a:latin typeface="Arial"/>
              </a:rPr>
              <a:t>Bản chất:</a:t>
            </a:r>
            <a:r>
              <a:rPr sz="1282" b="0" i="0">
                <a:solidFill>
                  <a:srgbClr val="2B2622"/>
                </a:solidFill>
                <a:latin typeface="Arial"/>
              </a:rPr>
              <a:t> tất cả quyền lực thuộc về nhân dân — dân là gốc, là chủ, dân làm chủ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10150" y="6477000"/>
            <a:ext cx="3924300" cy="1200150"/>
          </a:xfrm>
          <a:prstGeom prst="roundRect">
            <a:avLst>
              <a:gd name="adj" fmla="val 9523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1282" b="1" i="0">
                <a:solidFill>
                  <a:srgbClr val="8C2F2B"/>
                </a:solidFill>
                <a:latin typeface="Arial"/>
              </a:rPr>
              <a:t>Nhà nước pháp quyền XHCN:</a:t>
            </a:r>
            <a:r>
              <a:rPr sz="1282" b="0" i="0">
                <a:solidFill>
                  <a:srgbClr val="2B2622"/>
                </a:solidFill>
                <a:latin typeface="Arial"/>
              </a:rPr>
              <a:t> sáu đặc điểm; vừa chung, vừa khác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353550" y="6477000"/>
            <a:ext cx="3924300" cy="1200150"/>
          </a:xfrm>
          <a:prstGeom prst="roundRect">
            <a:avLst>
              <a:gd name="adj" fmla="val 9523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1282" b="1" i="0">
                <a:solidFill>
                  <a:srgbClr val="8C2F2B"/>
                </a:solidFill>
                <a:latin typeface="Arial"/>
              </a:rPr>
              <a:t>Định hướng:</a:t>
            </a:r>
            <a:r>
              <a:rPr sz="1282" b="0" i="0">
                <a:solidFill>
                  <a:srgbClr val="2B2622"/>
                </a:solidFill>
                <a:latin typeface="Arial"/>
              </a:rPr>
              <a:t> 5 giải pháp phát huy dân chủ + 4 giải pháp hoàn thiện Nhà nước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3696950" y="6477000"/>
            <a:ext cx="3924300" cy="1200150"/>
          </a:xfrm>
          <a:prstGeom prst="roundRect">
            <a:avLst>
              <a:gd name="adj" fmla="val 9523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1282" b="1" i="0">
                <a:solidFill>
                  <a:srgbClr val="8C2F2B"/>
                </a:solidFill>
                <a:latin typeface="Arial"/>
              </a:rPr>
              <a:t>Trách nhiệm công dân:</a:t>
            </a:r>
            <a:r>
              <a:rPr sz="1282" b="0" i="0">
                <a:solidFill>
                  <a:srgbClr val="2B2622"/>
                </a:solidFill>
                <a:latin typeface="Arial"/>
              </a:rPr>
              <a:t> hiểu biết, tuân thủ pháp luật · tham gia quản lý xã hội tùy trách nhiệm, nghĩa vụ · dân biết, bàn, làm, kiểm tra · nâng cao văn hóa pháp luật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66750" y="8439150"/>
            <a:ext cx="9477375" cy="5334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1282" b="0" i="0">
                <a:solidFill>
                  <a:srgbClr val="1F3A5F"/>
                </a:solidFill>
                <a:latin typeface="Arial"/>
              </a:rPr>
              <a:t>Câu hỏi mở đầu: cụm từ “dân chủ XHCN” được xác định thế nào, từ khi nào?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848975" y="8067675"/>
            <a:ext cx="6772275" cy="1285875"/>
          </a:xfrm>
          <a:prstGeom prst="roundRect">
            <a:avLst>
              <a:gd name="adj" fmla="val 17777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1481" b="1" i="0">
                <a:solidFill>
                  <a:srgbClr val="FFFFFF"/>
                </a:solidFill>
                <a:latin typeface="Arial"/>
              </a:rPr>
              <a:t>LẤY DÂN LÀM GỐC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848975" y="8067675"/>
            <a:ext cx="6772275" cy="1285875"/>
          </a:xfrm>
          <a:prstGeom prst="roundRect">
            <a:avLst>
              <a:gd name="adj" fmla="val 17777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714500" y="2857500"/>
            <a:ext cx="14859000" cy="3619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415" b="1" i="0">
                <a:solidFill>
                  <a:srgbClr val="8C2F2B"/>
                </a:solidFill>
                <a:latin typeface="Georgia"/>
              </a:rPr>
              <a:t>Cảm ơn thầy/cô và các bạn — Mời đặt câu hỏi</a:t>
            </a:r>
          </a:p>
        </p:txBody>
      </p:sp>
      <p:sp>
        <p:nvSpPr>
          <p:cNvPr id="4" name="Rectangle 3"/>
          <p:cNvSpPr/>
          <p:nvPr/>
        </p:nvSpPr>
        <p:spPr>
          <a:xfrm>
            <a:off x="7429500" y="6667500"/>
            <a:ext cx="3429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3 · Phát huy &amp; xây dựng hiện nay</a:t>
            </a:r>
          </a:p>
        </p:txBody>
      </p:sp>
      <p:sp>
        <p:nvSpPr>
          <p:cNvPr id="8" name="Rectangle 7"/>
          <p:cNvSpPr/>
          <p:nvPr/>
        </p:nvSpPr>
        <p:spPr>
          <a:xfrm>
            <a:off x="2476500" y="6734175"/>
            <a:ext cx="13335000" cy="6477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9550" rIns="209550" tIns="133350" bIns="133350"/>
          <a:lstStyle/>
          <a:p>
            <a:pPr algn="ctr"/>
            <a:r>
              <a:rPr sz="2137" b="0" i="0">
                <a:solidFill>
                  <a:srgbClr val="6B6B6B"/>
                </a:solidFill>
                <a:latin typeface="Arial"/>
              </a:rPr>
              <a:t>Tài liệu tham khảo: Bộ GD&amp;ĐT (2021), Chủ nghĩa xã hội khoa học, Nxb. Chính trị quốc gia Sự thật, tr.149–164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