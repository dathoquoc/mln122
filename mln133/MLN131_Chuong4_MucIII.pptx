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 · không có hiệu ứng.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 · 4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 · 6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A2 · 6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A3 · 7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A4 · chừa chỗ trống · 2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A4 · đáp án · 2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A5 · 6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A6 · phân nhóm · 1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A6 · đáp án · 4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A7 · 8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A8 · 7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A9 · 8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 · 8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B2 · 6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B3 · 4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B4 · 4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B5 · 4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B6 · 5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C1 · 7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C2 · 8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C3 · 9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C4 · 3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C5 · 8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C6 · 10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C7 · 7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K1 · 17 lần bấm (→) để hiện lần lượt: node phụ trước, hub sau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K2 · không có hiệu ứng.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14500" y="2857500"/>
            <a:ext cx="14859000" cy="3619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700" b="1" i="0">
                <a:solidFill>
                  <a:srgbClr val="8C2F2B"/>
                </a:solidFill>
                <a:latin typeface="Georgia"/>
              </a:rPr>
              <a:t>Dân chủ xã hội chủ nghĩa và Nhà nước pháp quyền xã hội chủ nghĩa ở Việt Nam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429500" y="6667500"/>
            <a:ext cx="3429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6500" y="6762750"/>
            <a:ext cx="13335000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rIns="209550" tIns="133350" bIns="133350"/>
          <a:lstStyle/>
          <a:p>
            <a:pPr algn="ctr"/>
            <a:r>
              <a:rPr sz="2137" b="0" i="0">
                <a:solidFill>
                  <a:srgbClr val="6B6B6B"/>
                </a:solidFill>
                <a:latin typeface="Arial"/>
              </a:rPr>
              <a:t>MLN131 · Chương 4 · Mục III · Nhóm [..]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6500" y="7581900"/>
            <a:ext cx="13335000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rIns="209550" tIns="133350" bIns="133350"/>
          <a:lstStyle/>
          <a:p>
            <a:pPr algn="ctr"/>
            <a:r>
              <a:rPr sz="2137" b="0" i="0">
                <a:solidFill>
                  <a:srgbClr val="6B6B6B"/>
                </a:solidFill>
                <a:latin typeface="Arial"/>
              </a:rPr>
              <a:t>[Họ tên – MSSV] ×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Một chi tiết đáng chú 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M1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86450" y="4562475"/>
            <a:ext cx="60007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772900" y="4562475"/>
            <a:ext cx="60007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030450" y="5124450"/>
            <a:ext cx="0" cy="61912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030450" y="5186362"/>
            <a:ext cx="0" cy="61913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224962" y="5248275"/>
            <a:ext cx="5805488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144000" y="5248275"/>
            <a:ext cx="80962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5248275"/>
            <a:ext cx="0" cy="161925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6750" y="4038600"/>
            <a:ext cx="518160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1945 — Chế độ dân chủ nhân dân được xác lập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3200" y="4038600"/>
            <a:ext cx="518160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1976 — Tên nước: Cộng hòa xã hội chủ nghĩa Việt Nam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439650" y="4038600"/>
            <a:ext cx="518160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Văn kiện hầu như chưa dùng cụm từ “dân chủ xã hội chủ nghĩa”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50" y="5476875"/>
            <a:ext cx="16954500" cy="1285875"/>
          </a:xfrm>
          <a:prstGeom prst="roundRect">
            <a:avLst>
              <a:gd name="adj" fmla="val 17777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Cụm từ ấy được xác định thế nào, từ khi nào?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50" y="5476875"/>
            <a:ext cx="16954500" cy="1285875"/>
          </a:xfrm>
          <a:prstGeom prst="roundRect">
            <a:avLst>
              <a:gd name="adj" fmla="val 17777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Trước Đổi mới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A1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48038" y="5353050"/>
            <a:ext cx="0" cy="66675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67425" y="6205538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57925" y="6205538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391275" y="5862638"/>
            <a:ext cx="0" cy="34290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391275" y="572928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91275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2030075" y="4786312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1896725" y="4786312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896725" y="4786312"/>
            <a:ext cx="0" cy="809626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896725" y="559593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1620500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030075" y="6391275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896725" y="6391275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896725" y="5862638"/>
            <a:ext cx="0" cy="528637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896725" y="572928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620500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66750" y="3876675"/>
            <a:ext cx="5362575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Văn kiện dùng: “làm chủ tập thể XHCN” + “nắm vững chuyên chính vô sản”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50" y="5486400"/>
            <a:ext cx="5362575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Bản chất dân chủ XHCN, quan hệ với nhà nước pháp quyền XHCN — </a:t>
            </a:r>
            <a:r>
              <a:rPr sz="2137" b="1" i="0">
                <a:solidFill>
                  <a:srgbClr val="8C2F2B"/>
                </a:solidFill>
                <a:latin typeface="Arial"/>
              </a:rPr>
              <a:t>CHƯA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xác định rõ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9525" y="4210050"/>
            <a:ext cx="3019425" cy="4857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38100" bIns="38100"/>
          <a:lstStyle/>
          <a:p>
            <a:pPr algn="ctr"/>
            <a:r>
              <a:rPr sz="1500" b="0" i="0">
                <a:solidFill>
                  <a:srgbClr val="6B6B6B"/>
                </a:solidFill>
                <a:latin typeface="Arial"/>
              </a:rPr>
              <a:t>Ba ý có chung chữ nào?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34175" y="4867275"/>
            <a:ext cx="4819650" cy="1724025"/>
          </a:xfrm>
          <a:prstGeom prst="roundRect">
            <a:avLst>
              <a:gd name="adj" fmla="val 13259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Dân chủ đã có, nhưng NHẬN THỨC về dân chủ XHCN chưa được xác định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34175" y="4867275"/>
            <a:ext cx="4819650" cy="1724025"/>
          </a:xfrm>
          <a:prstGeom prst="roundRect">
            <a:avLst>
              <a:gd name="adj" fmla="val 13259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258675" y="3876675"/>
            <a:ext cx="5362575" cy="1819275"/>
          </a:xfrm>
          <a:prstGeom prst="roundRect">
            <a:avLst>
              <a:gd name="adj" fmla="val 628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Thực hiện dân chủ phù hợp kinh tế, xã hội, văn hóa, đạo đức VN; gắn pháp luật, kỷ cương — </a:t>
            </a:r>
            <a:r>
              <a:rPr sz="2137" b="1" i="0">
                <a:solidFill>
                  <a:srgbClr val="8C2F2B"/>
                </a:solidFill>
                <a:latin typeface="Arial"/>
              </a:rPr>
              <a:t>CHƯA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đặt ra cụ thể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258675" y="5867400"/>
            <a:ext cx="536257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Dân sinh · dân trí · dân quyền — </a:t>
            </a:r>
            <a:r>
              <a:rPr sz="2137" b="1" i="0">
                <a:solidFill>
                  <a:srgbClr val="8C2F2B"/>
                </a:solidFill>
                <a:latin typeface="Arial"/>
              </a:rPr>
              <a:t>CHƯA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đặt đúng vị trí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297400" y="57245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Đại hội VI (1986)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A2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14688" y="4543425"/>
            <a:ext cx="0" cy="66675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00725" y="5200650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91225" y="5200650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24575" y="5200650"/>
            <a:ext cx="0" cy="542925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24575" y="5743575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124575" y="5876925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1534775" y="3786188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1401425" y="3786188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401425" y="3786188"/>
            <a:ext cx="0" cy="1957387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401425" y="5743575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1125200" y="5876925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692312" y="5962650"/>
            <a:ext cx="0" cy="66675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534775" y="6881812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1401425" y="6881812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1401425" y="6010275"/>
            <a:ext cx="0" cy="871537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401425" y="5876925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125200" y="5876925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214688" y="5791200"/>
            <a:ext cx="0" cy="66675"/>
          </a:xfrm>
          <a:prstGeom prst="line">
            <a:avLst/>
          </a:prstGeom>
          <a:ln w="28575">
            <a:solidFill>
              <a:srgbClr val="6B6B6B"/>
            </a:solidFill>
            <a:prstDash val="sysDot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66750" y="3838575"/>
            <a:ext cx="5095875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Đường lối đổi mới toàn diện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6750" y="4676775"/>
            <a:ext cx="509587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Phát huy dân chủ → tạo động lực mạnh mẽ cho phát triển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50" y="5895975"/>
            <a:ext cx="5095875" cy="1066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A1: vị trí dân chủ — CHƯA xác định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7475" y="4267200"/>
            <a:ext cx="4591050" cy="790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38100" bIns="38100"/>
          <a:lstStyle/>
          <a:p>
            <a:pPr algn="ctr"/>
            <a:r>
              <a:rPr sz="1500" b="0" i="0">
                <a:solidFill>
                  <a:srgbClr val="6B6B6B"/>
                </a:solidFill>
                <a:latin typeface="Arial"/>
              </a:rPr>
              <a:t>So với trước: dân chủ được gọi tên là gì?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67475" y="5219700"/>
            <a:ext cx="4591050" cy="1314450"/>
          </a:xfrm>
          <a:prstGeom prst="roundRect">
            <a:avLst>
              <a:gd name="adj" fmla="val 17391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Dân chủ = ĐỘNG LỰC · Lấy dân làm gốc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67475" y="5219700"/>
            <a:ext cx="4591050" cy="1314450"/>
          </a:xfrm>
          <a:prstGeom prst="roundRect">
            <a:avLst>
              <a:gd name="adj" fmla="val 17391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34" name="Rounded Rectangular Callout 33"/>
          <p:cNvSpPr/>
          <p:nvPr/>
        </p:nvSpPr>
        <p:spPr>
          <a:xfrm>
            <a:off x="11763375" y="3000375"/>
            <a:ext cx="5857875" cy="1571625"/>
          </a:xfrm>
          <a:prstGeom prst="wedgeRoundRectCallout">
            <a:avLst>
              <a:gd name="adj1" fmla="val -41544"/>
              <a:gd name="adj2" fmla="val 59696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“…quán triệt tư tưởng ‘lấy dân làm gốc’, xây dựng và phát huy quyền làm chủ của nhân dân lao động”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991975" y="2857500"/>
            <a:ext cx="1190625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Đại hội VI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7297400" y="285750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763375" y="4876800"/>
            <a:ext cx="585787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Bài học: “cách mạng là sự nghiệp của quần chúng”</a:t>
            </a:r>
          </a:p>
        </p:txBody>
      </p:sp>
      <p:sp>
        <p:nvSpPr>
          <p:cNvPr id="38" name="Rounded Rectangular Callout 37"/>
          <p:cNvSpPr/>
          <p:nvPr/>
        </p:nvSpPr>
        <p:spPr>
          <a:xfrm>
            <a:off x="11763375" y="6096000"/>
            <a:ext cx="5857875" cy="1571625"/>
          </a:xfrm>
          <a:prstGeom prst="wedgeRoundRectCallout">
            <a:avLst>
              <a:gd name="adj1" fmla="val -41544"/>
              <a:gd name="adj2" fmla="val 59696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“ở đâu, nhân dân lao động có ý thức làm chủ và được làm chủ thật sự, thì ở đấy xuất hiện phong trào cách mạng”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991975" y="5953125"/>
            <a:ext cx="1190625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Đại hội VI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Qua mỗi kỳ đại hội thời kỳ đổi mới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A3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33775" y="4033838"/>
            <a:ext cx="60007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67550" y="4033838"/>
            <a:ext cx="166688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234238" y="4033838"/>
            <a:ext cx="33337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67575" y="4000500"/>
            <a:ext cx="0" cy="33338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67575" y="3967162"/>
            <a:ext cx="0" cy="33338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67575" y="3967162"/>
            <a:ext cx="400050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01325" y="3967162"/>
            <a:ext cx="276225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877550" y="3967162"/>
            <a:ext cx="33338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10888" y="3967162"/>
            <a:ext cx="0" cy="33338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910888" y="4000500"/>
            <a:ext cx="0" cy="33338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10888" y="4033838"/>
            <a:ext cx="280987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125575" y="4033838"/>
            <a:ext cx="60007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206788" y="5362575"/>
            <a:ext cx="0" cy="10477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206788" y="6410325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224962" y="6543675"/>
            <a:ext cx="6981826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144000" y="6543675"/>
            <a:ext cx="80962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144000" y="6543675"/>
            <a:ext cx="0" cy="161925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800850" y="5543550"/>
            <a:ext cx="0" cy="123825"/>
          </a:xfrm>
          <a:prstGeom prst="line">
            <a:avLst/>
          </a:prstGeom>
          <a:ln w="28575">
            <a:solidFill>
              <a:srgbClr val="6B6B6B"/>
            </a:solidFill>
            <a:prstDash val="sysDot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800850" y="5419725"/>
            <a:ext cx="0" cy="123825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00850" y="5419725"/>
            <a:ext cx="2238375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39225" y="5419725"/>
            <a:ext cx="109537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148762" y="5200650"/>
            <a:ext cx="0" cy="219075"/>
          </a:xfrm>
          <a:prstGeom prst="line">
            <a:avLst/>
          </a:prstGeom>
          <a:ln w="28575">
            <a:solidFill>
              <a:srgbClr val="6B6B6B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973050" y="6048375"/>
            <a:ext cx="528638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3501688" y="6048375"/>
            <a:ext cx="133350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3635038" y="4167188"/>
            <a:ext cx="0" cy="1881187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3635038" y="4033838"/>
            <a:ext cx="0" cy="133350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3635038" y="4033838"/>
            <a:ext cx="1090612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66750" y="3124200"/>
            <a:ext cx="2828925" cy="1819275"/>
          </a:xfrm>
          <a:prstGeom prst="roundRect">
            <a:avLst>
              <a:gd name="adj" fmla="val 628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Đặc trưng của CNXH Việt Nam: do nhân dân làm chủ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0525" y="2933700"/>
            <a:ext cx="2828925" cy="2200275"/>
          </a:xfrm>
          <a:prstGeom prst="roundRect">
            <a:avLst>
              <a:gd name="adj" fmla="val 5194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Mục tiêu tổng quát: Dân giàu, nước mạnh, </a:t>
            </a:r>
            <a:r>
              <a:rPr sz="2137" b="1" i="0">
                <a:solidFill>
                  <a:srgbClr val="8C2F2B"/>
                </a:solidFill>
                <a:latin typeface="Arial"/>
              </a:rPr>
              <a:t>DÂN CHỦ</a:t>
            </a:r>
            <a:r>
              <a:rPr sz="2137" b="0" i="0">
                <a:solidFill>
                  <a:srgbClr val="2B2622"/>
                </a:solidFill>
                <a:latin typeface="Arial"/>
              </a:rPr>
              <a:t>, công bằng, văn minh</a:t>
            </a:r>
          </a:p>
        </p:txBody>
      </p:sp>
      <p:sp>
        <p:nvSpPr>
          <p:cNvPr id="39" name="Rounded Rectangular Callout 38"/>
          <p:cNvSpPr/>
          <p:nvPr/>
        </p:nvSpPr>
        <p:spPr>
          <a:xfrm>
            <a:off x="7734300" y="2800350"/>
            <a:ext cx="2828925" cy="2333625"/>
          </a:xfrm>
          <a:prstGeom prst="wedgeRoundRectCallout">
            <a:avLst>
              <a:gd name="adj1" fmla="val -32491"/>
              <a:gd name="adj2" fmla="val 56530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“Dân chủ XHCN là bản chất của chế độ ta, vừa là mục tiêu, vừa là động lực…”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62900" y="2657475"/>
            <a:ext cx="647700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Đảng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258550" y="3314700"/>
            <a:ext cx="2828925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Thực hiện ở mỗi cấp, trên tất cả các lĩnh vực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792325" y="2743200"/>
            <a:ext cx="2828925" cy="2581275"/>
          </a:xfrm>
          <a:prstGeom prst="roundRect">
            <a:avLst>
              <a:gd name="adj" fmla="val 4428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Gắn liền với kỷ luật, kỷ cương; thể chế hóa bằng pháp luật, được pháp luật bảo đảm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297400" y="26003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6750" y="5705475"/>
            <a:ext cx="12268200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A1: bản chất CHƯA xác định · CHƯA gắn pháp luật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750" y="6772275"/>
            <a:ext cx="16954500" cy="1285875"/>
          </a:xfrm>
          <a:prstGeom prst="roundRect">
            <a:avLst>
              <a:gd name="adj" fmla="val 17777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Dân chủ ngày càng được nhận thức, phát triển, hoàn thiện đúng đắn, phù hợp hơn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6750" y="6772275"/>
            <a:ext cx="16954500" cy="1285875"/>
          </a:xfrm>
          <a:prstGeom prst="roundRect">
            <a:avLst>
              <a:gd name="adj" fmla="val 17777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“Nước ta là nước dân chủ” — Hồ Chí Minh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A4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72175" y="2676525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62675" y="2676525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96025" y="2676525"/>
            <a:ext cx="0" cy="2919413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96025" y="559593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96025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72175" y="3781425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62675" y="3781425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96025" y="3781425"/>
            <a:ext cx="0" cy="1814513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96025" y="559593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96025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72175" y="5086350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162675" y="5086350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96025" y="5086350"/>
            <a:ext cx="0" cy="509588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96025" y="559593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96025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72175" y="6572250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62675" y="6572250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296025" y="5862638"/>
            <a:ext cx="0" cy="709612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296025" y="572928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296025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2125325" y="3228975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1991975" y="3228975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91975" y="3228975"/>
            <a:ext cx="0" cy="2366963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91975" y="559593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1715750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2125325" y="4724400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1991975" y="4724400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991975" y="4724400"/>
            <a:ext cx="0" cy="871538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991975" y="559593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1715750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2125325" y="6210300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1991975" y="6210300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1991975" y="5862638"/>
            <a:ext cx="0" cy="347662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1991975" y="572928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11715750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ular Callout 44"/>
          <p:cNvSpPr/>
          <p:nvPr/>
        </p:nvSpPr>
        <p:spPr>
          <a:xfrm>
            <a:off x="666750" y="2085975"/>
            <a:ext cx="5267325" cy="800100"/>
          </a:xfrm>
          <a:prstGeom prst="wedgeRoundRectCallout">
            <a:avLst>
              <a:gd name="adj1" fmla="val -40596"/>
              <a:gd name="adj2" fmla="val 69047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Bao nhiêu lợi ích đều vì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……………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5350" y="1943100"/>
            <a:ext cx="1281112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Hồ Chí Minh</a:t>
            </a:r>
          </a:p>
        </p:txBody>
      </p:sp>
      <p:sp>
        <p:nvSpPr>
          <p:cNvPr id="47" name="Rounded Rectangular Callout 46"/>
          <p:cNvSpPr/>
          <p:nvPr/>
        </p:nvSpPr>
        <p:spPr>
          <a:xfrm>
            <a:off x="666750" y="3190875"/>
            <a:ext cx="5267325" cy="1181100"/>
          </a:xfrm>
          <a:prstGeom prst="wedgeRoundRectCallout">
            <a:avLst>
              <a:gd name="adj1" fmla="val -40596"/>
              <a:gd name="adj2" fmla="val 62903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Bao nhiêu quyền hạn đều của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……………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5350" y="3048000"/>
            <a:ext cx="1281112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Hồ Chí Minh</a:t>
            </a:r>
          </a:p>
        </p:txBody>
      </p:sp>
      <p:sp>
        <p:nvSpPr>
          <p:cNvPr id="49" name="Rounded Rectangular Callout 48"/>
          <p:cNvSpPr/>
          <p:nvPr/>
        </p:nvSpPr>
        <p:spPr>
          <a:xfrm>
            <a:off x="666750" y="4686300"/>
            <a:ext cx="5267325" cy="1181100"/>
          </a:xfrm>
          <a:prstGeom prst="wedgeRoundRectCallout">
            <a:avLst>
              <a:gd name="adj1" fmla="val -40596"/>
              <a:gd name="adj2" fmla="val 62903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Công cuộc đổi mới, xây dựng là trách nhiệm của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……………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5350" y="4543425"/>
            <a:ext cx="1281112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Hồ Chí Minh</a:t>
            </a:r>
          </a:p>
        </p:txBody>
      </p:sp>
      <p:sp>
        <p:nvSpPr>
          <p:cNvPr id="51" name="Rounded Rectangular Callout 50"/>
          <p:cNvSpPr/>
          <p:nvPr/>
        </p:nvSpPr>
        <p:spPr>
          <a:xfrm>
            <a:off x="666750" y="6172200"/>
            <a:ext cx="5267325" cy="1181100"/>
          </a:xfrm>
          <a:prstGeom prst="wedgeRoundRectCallout">
            <a:avLst>
              <a:gd name="adj1" fmla="val -40596"/>
              <a:gd name="adj2" fmla="val 62903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Sự nghiệp kháng chiến, kiến quốc là công việc của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……………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5350" y="6029325"/>
            <a:ext cx="1281112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Hồ Chí Minh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6750" y="7658100"/>
            <a:ext cx="526732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Dựa vào: Nhà nước XHCN + sự ủng hộ, giúp đỡ của nhân dân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48600" y="4010025"/>
            <a:ext cx="2590800" cy="4857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38100" bIns="38100"/>
          <a:lstStyle/>
          <a:p>
            <a:pPr algn="ctr"/>
            <a:r>
              <a:rPr sz="1500" b="0" i="0">
                <a:solidFill>
                  <a:srgbClr val="6B6B6B"/>
                </a:solidFill>
                <a:latin typeface="Arial"/>
              </a:rPr>
              <a:t>Chữ còn thiếu là gì?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38925" y="4667250"/>
            <a:ext cx="5010150" cy="2133600"/>
          </a:xfrm>
          <a:prstGeom prst="roundRect">
            <a:avLst>
              <a:gd name="adj" fmla="val 10714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TẤT CẢ QUYỀN LỰC THUỘC VỀ NHÂN DÂN — dân là gốc, là chủ, dân làm chủ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38925" y="4667250"/>
            <a:ext cx="5010150" cy="2133600"/>
          </a:xfrm>
          <a:prstGeom prst="roundRect">
            <a:avLst>
              <a:gd name="adj" fmla="val 10714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325225" y="452437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X1</a:t>
            </a:r>
          </a:p>
        </p:txBody>
      </p:sp>
      <p:sp>
        <p:nvSpPr>
          <p:cNvPr id="58" name="Rounded Rectangular Callout 57"/>
          <p:cNvSpPr/>
          <p:nvPr/>
        </p:nvSpPr>
        <p:spPr>
          <a:xfrm>
            <a:off x="12353925" y="2638425"/>
            <a:ext cx="5267325" cy="1181100"/>
          </a:xfrm>
          <a:prstGeom prst="wedgeRoundRectCallout">
            <a:avLst>
              <a:gd name="adj1" fmla="val -40596"/>
              <a:gd name="adj2" fmla="val 62903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Chính quyền từ xã đến Chính phủ trung ương do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……………</a:t>
            </a:r>
            <a:r>
              <a:rPr sz="2137" b="0" i="1">
                <a:solidFill>
                  <a:srgbClr val="2B2622"/>
                </a:solidFill>
                <a:latin typeface="Georgia"/>
              </a:rPr>
              <a:t> cử ra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2582525" y="2495550"/>
            <a:ext cx="1281112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Hồ Chí Minh</a:t>
            </a:r>
          </a:p>
        </p:txBody>
      </p:sp>
      <p:sp>
        <p:nvSpPr>
          <p:cNvPr id="60" name="Rounded Rectangular Callout 59"/>
          <p:cNvSpPr/>
          <p:nvPr/>
        </p:nvSpPr>
        <p:spPr>
          <a:xfrm>
            <a:off x="12353925" y="4133850"/>
            <a:ext cx="5267325" cy="1181100"/>
          </a:xfrm>
          <a:prstGeom prst="wedgeRoundRectCallout">
            <a:avLst>
              <a:gd name="adj1" fmla="val -40596"/>
              <a:gd name="adj2" fmla="val 62903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Đoàn thể từ Trung ương đến xã do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……………</a:t>
            </a:r>
            <a:r>
              <a:rPr sz="2137" b="0" i="1">
                <a:solidFill>
                  <a:srgbClr val="2B2622"/>
                </a:solidFill>
                <a:latin typeface="Georgia"/>
              </a:rPr>
              <a:t> tổ chức nên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2582525" y="3990975"/>
            <a:ext cx="1281112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Hồ Chí Minh</a:t>
            </a:r>
          </a:p>
        </p:txBody>
      </p:sp>
      <p:sp>
        <p:nvSpPr>
          <p:cNvPr id="62" name="Rounded Rectangular Callout 61"/>
          <p:cNvSpPr/>
          <p:nvPr/>
        </p:nvSpPr>
        <p:spPr>
          <a:xfrm>
            <a:off x="12353925" y="5619750"/>
            <a:ext cx="5267325" cy="1181100"/>
          </a:xfrm>
          <a:prstGeom prst="wedgeRoundRectCallout">
            <a:avLst>
              <a:gd name="adj1" fmla="val -40596"/>
              <a:gd name="adj2" fmla="val 62903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Nói tóm lại, quyền hành và lực lượng đều ở nơi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……………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2582525" y="5476875"/>
            <a:ext cx="1281112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Hồ Chí Minh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353925" y="7105650"/>
            <a:ext cx="526732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Con người: tư cách công dân, tư cách người làm chủ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“Nước ta là nước dân chủ” — Hồ Chí Minh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A4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72175" y="2676525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62675" y="2676525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96025" y="2676525"/>
            <a:ext cx="0" cy="2919413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96025" y="559593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96025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72175" y="3781425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62675" y="3781425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96025" y="3781425"/>
            <a:ext cx="0" cy="1814513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96025" y="559593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96025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72175" y="5086350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162675" y="5086350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96025" y="5086350"/>
            <a:ext cx="0" cy="509588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96025" y="559593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96025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72175" y="6572250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62675" y="6572250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296025" y="5862638"/>
            <a:ext cx="0" cy="709612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296025" y="572928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296025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2125325" y="3228975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1991975" y="3228975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91975" y="3228975"/>
            <a:ext cx="0" cy="2366963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991975" y="559593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1715750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2125325" y="4724400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1991975" y="4724400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991975" y="4724400"/>
            <a:ext cx="0" cy="871538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991975" y="559593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1715750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2125325" y="6210300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1991975" y="6210300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1991975" y="5862638"/>
            <a:ext cx="0" cy="347662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1991975" y="5729288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11715750" y="5729288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972175" y="7991475"/>
            <a:ext cx="19050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162675" y="7991475"/>
            <a:ext cx="13335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296025" y="5862638"/>
            <a:ext cx="0" cy="2128837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296025" y="5729288"/>
            <a:ext cx="0" cy="1333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296025" y="5729288"/>
            <a:ext cx="27622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2125325" y="7629525"/>
            <a:ext cx="19050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1991975" y="7629525"/>
            <a:ext cx="13335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1991975" y="5862638"/>
            <a:ext cx="0" cy="1766887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1991975" y="5729288"/>
            <a:ext cx="0" cy="1333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1715750" y="5729288"/>
            <a:ext cx="27622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ular Callout 54"/>
          <p:cNvSpPr/>
          <p:nvPr/>
        </p:nvSpPr>
        <p:spPr>
          <a:xfrm>
            <a:off x="666750" y="2085975"/>
            <a:ext cx="5267325" cy="800100"/>
          </a:xfrm>
          <a:prstGeom prst="wedgeRoundRectCallout">
            <a:avLst>
              <a:gd name="adj1" fmla="val -40596"/>
              <a:gd name="adj2" fmla="val 69047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Bao nhiêu lợi ích đều vì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dân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5350" y="1943100"/>
            <a:ext cx="1281112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Hồ Chí Minh</a:t>
            </a:r>
          </a:p>
        </p:txBody>
      </p:sp>
      <p:sp>
        <p:nvSpPr>
          <p:cNvPr id="57" name="Rounded Rectangular Callout 56"/>
          <p:cNvSpPr/>
          <p:nvPr/>
        </p:nvSpPr>
        <p:spPr>
          <a:xfrm>
            <a:off x="666750" y="3190875"/>
            <a:ext cx="5267325" cy="1181100"/>
          </a:xfrm>
          <a:prstGeom prst="wedgeRoundRectCallout">
            <a:avLst>
              <a:gd name="adj1" fmla="val -40596"/>
              <a:gd name="adj2" fmla="val 62903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Bao nhiêu quyền hạn đều của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dân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5350" y="3048000"/>
            <a:ext cx="1281112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Hồ Chí Minh</a:t>
            </a:r>
          </a:p>
        </p:txBody>
      </p:sp>
      <p:sp>
        <p:nvSpPr>
          <p:cNvPr id="59" name="Rounded Rectangular Callout 58"/>
          <p:cNvSpPr/>
          <p:nvPr/>
        </p:nvSpPr>
        <p:spPr>
          <a:xfrm>
            <a:off x="666750" y="4686300"/>
            <a:ext cx="5267325" cy="1181100"/>
          </a:xfrm>
          <a:prstGeom prst="wedgeRoundRectCallout">
            <a:avLst>
              <a:gd name="adj1" fmla="val -40596"/>
              <a:gd name="adj2" fmla="val 62903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Công cuộc đổi mới, xây dựng là trách nhiệm của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dân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5350" y="4543425"/>
            <a:ext cx="1281112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Hồ Chí Minh</a:t>
            </a:r>
          </a:p>
        </p:txBody>
      </p:sp>
      <p:sp>
        <p:nvSpPr>
          <p:cNvPr id="61" name="Rounded Rectangular Callout 60"/>
          <p:cNvSpPr/>
          <p:nvPr/>
        </p:nvSpPr>
        <p:spPr>
          <a:xfrm>
            <a:off x="666750" y="6172200"/>
            <a:ext cx="5267325" cy="1181100"/>
          </a:xfrm>
          <a:prstGeom prst="wedgeRoundRectCallout">
            <a:avLst>
              <a:gd name="adj1" fmla="val -40596"/>
              <a:gd name="adj2" fmla="val 62903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Sự nghiệp kháng chiến, kiến quốc là công việc của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dân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5350" y="6029325"/>
            <a:ext cx="1281112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Hồ Chí Minh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66750" y="7658100"/>
            <a:ext cx="526732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Dựa vào: Nhà nước XHCN + sự ủng hộ, giúp đỡ của nhân dân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848600" y="4010025"/>
            <a:ext cx="2590800" cy="4857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38100" bIns="38100"/>
          <a:lstStyle/>
          <a:p>
            <a:pPr algn="ctr"/>
            <a:r>
              <a:rPr sz="1500" b="0" i="0">
                <a:solidFill>
                  <a:srgbClr val="6B6B6B"/>
                </a:solidFill>
                <a:latin typeface="Arial"/>
              </a:rPr>
              <a:t>Chữ còn thiếu là gì?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638925" y="4667250"/>
            <a:ext cx="5010150" cy="2133600"/>
          </a:xfrm>
          <a:prstGeom prst="roundRect">
            <a:avLst>
              <a:gd name="adj" fmla="val 10714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TẤT CẢ QUYỀN LỰC THUỘC VỀ NHÂN DÂN — dân là gốc, là chủ, dân làm chủ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38925" y="4667250"/>
            <a:ext cx="5010150" cy="2133600"/>
          </a:xfrm>
          <a:prstGeom prst="roundRect">
            <a:avLst>
              <a:gd name="adj" fmla="val 10714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325225" y="452437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X1</a:t>
            </a:r>
          </a:p>
        </p:txBody>
      </p:sp>
      <p:sp>
        <p:nvSpPr>
          <p:cNvPr id="68" name="Rounded Rectangular Callout 67"/>
          <p:cNvSpPr/>
          <p:nvPr/>
        </p:nvSpPr>
        <p:spPr>
          <a:xfrm>
            <a:off x="12353925" y="2638425"/>
            <a:ext cx="5267325" cy="1181100"/>
          </a:xfrm>
          <a:prstGeom prst="wedgeRoundRectCallout">
            <a:avLst>
              <a:gd name="adj1" fmla="val -40596"/>
              <a:gd name="adj2" fmla="val 62903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Chính quyền từ xã đến Chính phủ trung ương do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dân</a:t>
            </a:r>
            <a:r>
              <a:rPr sz="2137" b="0" i="1">
                <a:solidFill>
                  <a:srgbClr val="2B2622"/>
                </a:solidFill>
                <a:latin typeface="Georgia"/>
              </a:rPr>
              <a:t> cử ra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2582525" y="2495550"/>
            <a:ext cx="1281112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Hồ Chí Minh</a:t>
            </a:r>
          </a:p>
        </p:txBody>
      </p:sp>
      <p:sp>
        <p:nvSpPr>
          <p:cNvPr id="70" name="Rounded Rectangular Callout 69"/>
          <p:cNvSpPr/>
          <p:nvPr/>
        </p:nvSpPr>
        <p:spPr>
          <a:xfrm>
            <a:off x="12353925" y="4133850"/>
            <a:ext cx="5267325" cy="1181100"/>
          </a:xfrm>
          <a:prstGeom prst="wedgeRoundRectCallout">
            <a:avLst>
              <a:gd name="adj1" fmla="val -40596"/>
              <a:gd name="adj2" fmla="val 62903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Đoàn thể từ Trung ương đến xã do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dân</a:t>
            </a:r>
            <a:r>
              <a:rPr sz="2137" b="0" i="1">
                <a:solidFill>
                  <a:srgbClr val="2B2622"/>
                </a:solidFill>
                <a:latin typeface="Georgia"/>
              </a:rPr>
              <a:t> tổ chức nên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2582525" y="3990975"/>
            <a:ext cx="1281112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Hồ Chí Minh</a:t>
            </a:r>
          </a:p>
        </p:txBody>
      </p:sp>
      <p:sp>
        <p:nvSpPr>
          <p:cNvPr id="72" name="Rounded Rectangular Callout 71"/>
          <p:cNvSpPr/>
          <p:nvPr/>
        </p:nvSpPr>
        <p:spPr>
          <a:xfrm>
            <a:off x="12353925" y="5619750"/>
            <a:ext cx="5267325" cy="1181100"/>
          </a:xfrm>
          <a:prstGeom prst="wedgeRoundRectCallout">
            <a:avLst>
              <a:gd name="adj1" fmla="val -40596"/>
              <a:gd name="adj2" fmla="val 62903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Nói tóm lại, quyền hành và lực lượng đều ở nơi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dân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2582525" y="5476875"/>
            <a:ext cx="1281112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Hồ Chí Minh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2353925" y="7105650"/>
            <a:ext cx="526732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Con người: tư cách công dân, tư cách người làm chủ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Bốn nội dung của dân chủ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A5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0725" y="4795838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91225" y="4795838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24575" y="4795838"/>
            <a:ext cx="0" cy="1090612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24575" y="588645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24575" y="601980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00725" y="6200775"/>
            <a:ext cx="233363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4088" y="6200775"/>
            <a:ext cx="90487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124575" y="6110288"/>
            <a:ext cx="0" cy="90487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124575" y="6019800"/>
            <a:ext cx="0" cy="90488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24575" y="601980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2296775" y="4791075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2163425" y="4791075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3425" y="4791075"/>
            <a:ext cx="0" cy="1095375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163425" y="588645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887200" y="601980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887200" y="6019800"/>
            <a:ext cx="60007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144000" y="4819650"/>
            <a:ext cx="0" cy="66675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66750" y="4076700"/>
            <a:ext cx="5095875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1" i="0">
                <a:solidFill>
                  <a:srgbClr val="8C2F2B"/>
                </a:solidFill>
                <a:latin typeface="Arial"/>
              </a:rPr>
              <a:t>MỤC TIÊU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— dân giàu, nước mạnh, dân chủ, công bằng, văn minh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50" y="5676900"/>
            <a:ext cx="509587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1" i="0">
                <a:solidFill>
                  <a:srgbClr val="8C2F2B"/>
                </a:solidFill>
                <a:latin typeface="Arial"/>
              </a:rPr>
              <a:t>BẢN CHẤT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— nhân dân làm chủ, quyền lực thuộc về nhân dân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38775" y="55340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67475" y="3714750"/>
            <a:ext cx="5353050" cy="1066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A3: bản chất · mục tiêu · động lực · gắn pháp luật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7475" y="4953000"/>
            <a:ext cx="5353050" cy="2133600"/>
          </a:xfrm>
          <a:prstGeom prst="roundRect">
            <a:avLst>
              <a:gd name="adj" fmla="val 10714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Dân chủ phải được thực hiện ở TẤT CẢ CÁC CẤP, MỌI LĨNH VỰC: kinh tế · chính trị · văn hóa · xã hội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67475" y="4953000"/>
            <a:ext cx="5353050" cy="2133600"/>
          </a:xfrm>
          <a:prstGeom prst="roundRect">
            <a:avLst>
              <a:gd name="adj" fmla="val 10714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525375" y="4267200"/>
            <a:ext cx="509587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1" i="0">
                <a:solidFill>
                  <a:srgbClr val="8C2F2B"/>
                </a:solidFill>
                <a:latin typeface="Arial"/>
              </a:rPr>
              <a:t>ĐỘNG LỰC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— phát huy sức mạnh nhân dân, toàn dân tộc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525375" y="5486400"/>
            <a:ext cx="509587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1" i="0">
                <a:solidFill>
                  <a:srgbClr val="8C2F2B"/>
                </a:solidFill>
                <a:latin typeface="Arial"/>
              </a:rPr>
              <a:t>GẮN VỚI PHÁP LUẬT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— đi đôi với kỷ luật, kỷ cương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297400" y="53435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Dân tự làm, hay giao cho người đại diện?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A6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43700" y="1790700"/>
            <a:ext cx="3105150" cy="4857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38100" bIns="38100"/>
          <a:lstStyle/>
          <a:p>
            <a:pPr algn="ctr"/>
            <a:r>
              <a:rPr sz="1500" b="0" i="0">
                <a:solidFill>
                  <a:srgbClr val="6B6B6B"/>
                </a:solidFill>
                <a:latin typeface="Arial"/>
              </a:rPr>
              <a:t>Chia 6 thẻ thành 2 nhóm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50" y="2447925"/>
            <a:ext cx="15259050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Người và tổ chức được bầu đại diện, thực hiện quyền làm chủ cho nhân dân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50" y="3286125"/>
            <a:ext cx="15259050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Được thông tin về hoạt động của nhà nước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50" y="4133850"/>
            <a:ext cx="15259050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Nhân dân bầu ra Quốc hội — cơ quan quyền lực nhà nước cao nhất, nhiệm kỳ 5 năm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50" y="4972050"/>
            <a:ext cx="15259050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Kiểm tra, giám sát cơ quan nhà nước từ Trung ương đến cơ sở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50" y="5810250"/>
            <a:ext cx="15259050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“Ủy quyền”, giao quyền lực cho tổ chức do nhân dân trực tiếp bầu 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50" y="6648450"/>
            <a:ext cx="15259050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Được bàn bạc về công việc của nhà nước, cộng đồng dân cư; bàn quyết định dân chủ cơ sở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50" y="7696200"/>
            <a:ext cx="16954500" cy="1314450"/>
          </a:xfrm>
          <a:prstGeom prst="roundRect">
            <a:avLst>
              <a:gd name="adj" fmla="val 17391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Bản chất dân chủ XHCN được thực hiện qua HAI HÌNH THỨC → trở thành quy chế, cách làm việc của mọi tổ chức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50" y="7696200"/>
            <a:ext cx="16954500" cy="1314450"/>
          </a:xfrm>
          <a:prstGeom prst="roundRect">
            <a:avLst>
              <a:gd name="adj" fmla="val 17391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Dân tự làm, hay giao cho người đại diện?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A6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29162" y="5200650"/>
            <a:ext cx="0" cy="66675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558838" y="5010150"/>
            <a:ext cx="0" cy="66675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29162" y="6657975"/>
            <a:ext cx="0" cy="195263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29162" y="6853238"/>
            <a:ext cx="0" cy="1333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228975" y="6986588"/>
            <a:ext cx="1500187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095625" y="6986588"/>
            <a:ext cx="13335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95625" y="6986588"/>
            <a:ext cx="0" cy="300037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29162" y="6657975"/>
            <a:ext cx="0" cy="571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29162" y="6715125"/>
            <a:ext cx="0" cy="571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29162" y="6772275"/>
            <a:ext cx="4576763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05925" y="6772275"/>
            <a:ext cx="80963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386888" y="6772275"/>
            <a:ext cx="0" cy="161925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558838" y="6467475"/>
            <a:ext cx="0" cy="1714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558838" y="6638925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467850" y="6772275"/>
            <a:ext cx="4090988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386888" y="6772275"/>
            <a:ext cx="80962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386888" y="6772275"/>
            <a:ext cx="0" cy="161925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2611100" y="8067675"/>
            <a:ext cx="600075" cy="0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66750" y="1666875"/>
            <a:ext cx="812482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Nhân dân bầu ra Quốc hội — cơ quan quyền lực nhà nước cao nhất, nhiệm kỳ 5 năm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53425" y="1524000"/>
            <a:ext cx="5334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50" y="2886075"/>
            <a:ext cx="812482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“Ủy quyền”, giao quyền lực cho tổ chức do nhân dân trực tiếp bầu 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750" y="4114800"/>
            <a:ext cx="812482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Người và tổ chức được bầu đại diện, thực hiện quyền làm chủ cho nhân dân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6750" y="5334000"/>
            <a:ext cx="8124825" cy="1285875"/>
          </a:xfrm>
          <a:prstGeom prst="roundRect">
            <a:avLst>
              <a:gd name="adj" fmla="val 17777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DÂN CHỦ GIÁN TIẾP — dân chủ đại diện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6750" y="5334000"/>
            <a:ext cx="8124825" cy="1285875"/>
          </a:xfrm>
          <a:prstGeom prst="roundRect">
            <a:avLst>
              <a:gd name="adj" fmla="val 17777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96425" y="1857375"/>
            <a:ext cx="8124825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Được thông tin về hoạt động của nhà nước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96425" y="2695575"/>
            <a:ext cx="812482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Được bàn bạc về công việc của nhà nước, cộng đồng dân cư; bàn quyết định dân chủ cơ sở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96425" y="3924300"/>
            <a:ext cx="812482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Kiểm tra, giám sát cơ quan nhà nước từ Trung ương đến cơ sở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96425" y="5143500"/>
            <a:ext cx="8124825" cy="1285875"/>
          </a:xfrm>
          <a:prstGeom prst="roundRect">
            <a:avLst>
              <a:gd name="adj" fmla="val 17777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DÂN CHỦ TRỰC TIẾP — dân tự hành động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96425" y="5143500"/>
            <a:ext cx="8124825" cy="1285875"/>
          </a:xfrm>
          <a:prstGeom prst="roundRect">
            <a:avLst>
              <a:gd name="adj" fmla="val 17777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6750" y="7353300"/>
            <a:ext cx="485775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Quyền lực thống nhất; phân công, phối hợp, kiểm soát: lập pháp – hành pháp – tư pháp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00650" y="72104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9350" y="7000875"/>
            <a:ext cx="6315075" cy="2133600"/>
          </a:xfrm>
          <a:prstGeom prst="roundRect">
            <a:avLst>
              <a:gd name="adj" fmla="val 10714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Bản chất dân chủ XHCN được thực hiện qua HAI HÌNH THỨC → trở thành quy chế, cách làm việc của mọi tổ chức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29350" y="7000875"/>
            <a:ext cx="6315075" cy="2133600"/>
          </a:xfrm>
          <a:prstGeom prst="roundRect">
            <a:avLst>
              <a:gd name="adj" fmla="val 10714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249275" y="7534275"/>
            <a:ext cx="4371975" cy="1066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A4: Quyền lực thuộc về nhân dân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7297400" y="739140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Thực tiễn xây dựng đất nước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A7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0725" y="4176712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91225" y="4176712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24575" y="4176712"/>
            <a:ext cx="0" cy="1414463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24575" y="5591175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24575" y="5724525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00725" y="5591175"/>
            <a:ext cx="257175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57900" y="5591175"/>
            <a:ext cx="66675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24575" y="5591175"/>
            <a:ext cx="0" cy="66675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24575" y="5657850"/>
            <a:ext cx="0" cy="66675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24575" y="5724525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00725" y="6810375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91225" y="6810375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124575" y="5857875"/>
            <a:ext cx="0" cy="95250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124575" y="5724525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24575" y="5724525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2296775" y="3986212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2163425" y="3986212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163425" y="3986212"/>
            <a:ext cx="0" cy="1604963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163425" y="5591175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1887200" y="5724525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2296775" y="5400675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2163425" y="5400675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163425" y="5400675"/>
            <a:ext cx="0" cy="19050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163425" y="5591175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1887200" y="5724525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2296775" y="6815138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2163425" y="6815138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2163425" y="5857875"/>
            <a:ext cx="0" cy="957263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2163425" y="5724525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1887200" y="5724525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66750" y="3267075"/>
            <a:ext cx="5095875" cy="1819275"/>
          </a:xfrm>
          <a:prstGeom prst="roundRect">
            <a:avLst>
              <a:gd name="adj" fmla="val 628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Yêu cầu tất yếu: củng cố điều kiện đảm bảo quyền làm chủ; chăm lo đời sống vật chất, tinh thần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6750" y="5257800"/>
            <a:ext cx="509587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Quyền làm chủ ngày càng mở rộng, hoạt động có hiệu quả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50" y="6477000"/>
            <a:ext cx="509587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Ý thức làm chủ, trách nhiệm công dân ngày càng được đề cao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62800" y="3800475"/>
            <a:ext cx="3971925" cy="4857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38100" bIns="38100"/>
          <a:lstStyle/>
          <a:p>
            <a:pPr algn="ctr"/>
            <a:r>
              <a:rPr sz="1500" b="0" i="0">
                <a:solidFill>
                  <a:srgbClr val="6B6B6B"/>
                </a:solidFill>
                <a:latin typeface="Arial"/>
              </a:rPr>
              <a:t>Chữ “quyền” luôn đi cùng chữ gì?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67475" y="4457700"/>
            <a:ext cx="5353050" cy="2533650"/>
          </a:xfrm>
          <a:prstGeom prst="roundRect">
            <a:avLst>
              <a:gd name="adj" fmla="val 9022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“Mọi đường lối, chính sách của Đảng và pháp luật của Nhà nước đều vì lợi ích của nhân dân, có sự tham gia ý kiến của nhân dân”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67475" y="4457700"/>
            <a:ext cx="5353050" cy="2533650"/>
          </a:xfrm>
          <a:prstGeom prst="roundRect">
            <a:avLst>
              <a:gd name="adj" fmla="val 9022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525375" y="3267075"/>
            <a:ext cx="5095875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Mọi công dân có quyền tham gia quản lý xã hội bằng nhiều cách, tùy trách nhiệm và nghĩa vụ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525375" y="4876800"/>
            <a:ext cx="5095875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Dân chủ công dân gắn liền kỷ cương, thể chế hóa bằng luật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7297400" y="47339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525375" y="6096000"/>
            <a:ext cx="5095875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Quy chế dân chủ từ cơ sở đến Trung ương: </a:t>
            </a:r>
            <a:r>
              <a:rPr sz="2137" b="1" i="0">
                <a:solidFill>
                  <a:srgbClr val="8C2F2B"/>
                </a:solidFill>
                <a:latin typeface="Arial"/>
              </a:rPr>
              <a:t>DÂN BIẾT · DÂN BÀN · DÂN LÀM · DÂN KIỂM TRA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7297400" y="59531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Những trở ngại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A8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05250" y="5972175"/>
            <a:ext cx="0" cy="571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905250" y="6029325"/>
            <a:ext cx="0" cy="571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05250" y="6086475"/>
            <a:ext cx="5157788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63038" y="6086475"/>
            <a:ext cx="80962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6086475"/>
            <a:ext cx="0" cy="161925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382750" y="5743575"/>
            <a:ext cx="0" cy="2095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382750" y="5953125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224962" y="6086475"/>
            <a:ext cx="5157788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144000" y="6086475"/>
            <a:ext cx="80962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00" y="6086475"/>
            <a:ext cx="0" cy="161925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66750" y="3200400"/>
            <a:ext cx="6477000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Xuất phát từ nền kinh tế kém phát triển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9900" y="30575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50" y="4038600"/>
            <a:ext cx="6477000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Hậu quả chiến tranh tàn phá nặng nề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50" y="4876800"/>
            <a:ext cx="647700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Tiêu cực xã hội chưa khắc phục triệt để → suy giảm động lực phát triển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0575" y="4324350"/>
            <a:ext cx="1476375" cy="4857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38100" bIns="38100"/>
          <a:lstStyle/>
          <a:p>
            <a:pPr algn="ctr"/>
            <a:r>
              <a:rPr sz="1500" b="0" i="0">
                <a:solidFill>
                  <a:srgbClr val="6B6B6B"/>
                </a:solidFill>
                <a:latin typeface="Arial"/>
              </a:rPr>
              <a:t>Mặt khác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144250" y="3429000"/>
            <a:ext cx="647700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“Diễn biến hòa bình”, bạo loạn, lật đổ; chiêu bài “dân chủ”, “nhân quyền”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144250" y="4648200"/>
            <a:ext cx="647700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“Tự diễn biến”, “tự chuyển hóa” — hết sức phức tạp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50" y="6315075"/>
            <a:ext cx="16954500" cy="1285875"/>
          </a:xfrm>
          <a:prstGeom prst="roundRect">
            <a:avLst>
              <a:gd name="adj" fmla="val 17777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Đang là TRỞ NGẠI đối với thực hiện dân chủ ở nước ta hiện nay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50" y="6315075"/>
            <a:ext cx="16954500" cy="1285875"/>
          </a:xfrm>
          <a:prstGeom prst="roundRect">
            <a:avLst>
              <a:gd name="adj" fmla="val 17777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Phần 1 — Dân chủ xã hội chủ nghĩa ở Việt Nam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A9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62600" y="4152900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753100" y="4152900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86450" y="4152900"/>
            <a:ext cx="0" cy="30480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86450" y="445770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86450" y="459105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62600" y="5400675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53100" y="5400675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886450" y="4724400"/>
            <a:ext cx="0" cy="676275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886450" y="459105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86450" y="459105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562600" y="6638925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53100" y="6638925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886450" y="4724400"/>
            <a:ext cx="0" cy="1914525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886450" y="459105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86450" y="459105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2425362" y="4543425"/>
            <a:ext cx="300038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2401550" y="4543425"/>
            <a:ext cx="23812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401550" y="4543425"/>
            <a:ext cx="0" cy="23813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01550" y="4567238"/>
            <a:ext cx="0" cy="23812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2125325" y="459105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2534900" y="5591175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2401550" y="5591175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2401550" y="4724400"/>
            <a:ext cx="0" cy="866775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2401550" y="459105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2125325" y="459105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2534900" y="6448425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2401550" y="6448425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2401550" y="4724400"/>
            <a:ext cx="0" cy="1724025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2401550" y="459105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2125325" y="459105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44000" y="5895975"/>
            <a:ext cx="0" cy="7620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66750" y="3619500"/>
            <a:ext cx="4857750" cy="1066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A1–A3: từ “chưa xác định” → bản chất · mục tiêu · động lực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50" y="4867275"/>
            <a:ext cx="4857750" cy="1066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A4: Quyền lực thuộc về nhân dân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00650" y="472440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6750" y="6105525"/>
            <a:ext cx="4857750" cy="1066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A5: Bốn nội dung · mọi cấp, mọi lĩnh vực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00650" y="596265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29350" y="3324225"/>
            <a:ext cx="5829300" cy="2533650"/>
          </a:xfrm>
          <a:prstGeom prst="roundRect">
            <a:avLst>
              <a:gd name="adj" fmla="val 9022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Bản chất tốt đẹp, tính ưu việt của nền dân chủ XHCN Việt Nam càng ngày càng thể hiện giá trị LẤY DÂN LÀM GỐC — nhân dân thực sự trở thành người làm chủ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29350" y="3324225"/>
            <a:ext cx="5829300" cy="2533650"/>
          </a:xfrm>
          <a:prstGeom prst="roundRect">
            <a:avLst>
              <a:gd name="adj" fmla="val 9022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29350" y="6038850"/>
            <a:ext cx="58293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Bảo đảm quyền làm chủ từ chính trị, kinh tế đến văn hóa, xã hội; phát huy tính tích cực, sáng tạo của nhân dân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763500" y="4010025"/>
            <a:ext cx="4857750" cy="1066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A6–A7: Gián tiếp + trực tiếp · dân biết, bàn, làm, kiểm tra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7297400" y="386715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6830675" y="386715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763500" y="5248275"/>
            <a:ext cx="4857750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A8: Trở ngại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297400" y="510540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763500" y="6105525"/>
            <a:ext cx="4857750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A2: Lấy dân làm gốc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7297400" y="596265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Cương lĩnh xây dựng đất nước trong thời kỳ quá độ lên CNXH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B1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57950" y="3981450"/>
            <a:ext cx="19050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48450" y="3981450"/>
            <a:ext cx="13335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781800" y="3981450"/>
            <a:ext cx="0" cy="1614488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81800" y="5595938"/>
            <a:ext cx="0" cy="1333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81800" y="5729288"/>
            <a:ext cx="27622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57950" y="5019675"/>
            <a:ext cx="19050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48450" y="5019675"/>
            <a:ext cx="13335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81800" y="5019675"/>
            <a:ext cx="0" cy="576263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81800" y="5595938"/>
            <a:ext cx="0" cy="1333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81800" y="5729288"/>
            <a:ext cx="27622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57950" y="6434138"/>
            <a:ext cx="19050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648450" y="6434138"/>
            <a:ext cx="13335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781800" y="5862638"/>
            <a:ext cx="0" cy="57150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781800" y="5729288"/>
            <a:ext cx="0" cy="1333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781800" y="5729288"/>
            <a:ext cx="27622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630025" y="3981450"/>
            <a:ext cx="200025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496675" y="3981450"/>
            <a:ext cx="13335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496675" y="3981450"/>
            <a:ext cx="0" cy="1614488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496675" y="5595938"/>
            <a:ext cx="0" cy="1333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1220450" y="5729288"/>
            <a:ext cx="27622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1630025" y="5405438"/>
            <a:ext cx="200025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1496675" y="5405438"/>
            <a:ext cx="13335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496675" y="5405438"/>
            <a:ext cx="0" cy="19050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496675" y="5595938"/>
            <a:ext cx="0" cy="1333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1220450" y="5729288"/>
            <a:ext cx="27622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1630025" y="6810375"/>
            <a:ext cx="200025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1496675" y="6810375"/>
            <a:ext cx="13335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496675" y="5862638"/>
            <a:ext cx="0" cy="947737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1496675" y="5729288"/>
            <a:ext cx="0" cy="1333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1220450" y="5729288"/>
            <a:ext cx="27622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66750" y="3457575"/>
            <a:ext cx="575310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Tối thượng của Hiến pháp và pháp luật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96000" y="331470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50" y="4686300"/>
            <a:ext cx="575310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Quyền lợi, nghĩa vụ công dân; quyền con người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6750" y="5905500"/>
            <a:ext cx="57531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Tập trung, thống nhất + phân công các nhánh quyền lực, phân cấp → </a:t>
            </a:r>
            <a:r>
              <a:rPr sz="2137" b="1" i="0">
                <a:solidFill>
                  <a:srgbClr val="8C2F2B"/>
                </a:solidFill>
                <a:latin typeface="Arial"/>
              </a:rPr>
              <a:t>TRÁNH LẠM QUYỀN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6000" y="57626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29475" y="4429125"/>
            <a:ext cx="3829050" cy="4857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38100" bIns="38100"/>
          <a:lstStyle/>
          <a:p>
            <a:pPr algn="ctr"/>
            <a:r>
              <a:rPr sz="1500" b="0" i="0">
                <a:solidFill>
                  <a:srgbClr val="6B6B6B"/>
                </a:solidFill>
                <a:latin typeface="Arial"/>
              </a:rPr>
              <a:t>k3 · k4 · k5 cùng hướng về đâu?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24700" y="5086350"/>
            <a:ext cx="4029075" cy="1285875"/>
          </a:xfrm>
          <a:prstGeom prst="roundRect">
            <a:avLst>
              <a:gd name="adj" fmla="val 17777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24700" y="5086350"/>
            <a:ext cx="4029075" cy="1285875"/>
          </a:xfrm>
          <a:prstGeom prst="roundRect">
            <a:avLst>
              <a:gd name="adj" fmla="val 17777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868150" y="3267075"/>
            <a:ext cx="575310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Gắn bó với nhân dân; lắng nghe; </a:t>
            </a:r>
            <a:r>
              <a:rPr sz="2137" b="1" i="0">
                <a:solidFill>
                  <a:srgbClr val="8C2F2B"/>
                </a:solidFill>
                <a:latin typeface="Arial"/>
              </a:rPr>
              <a:t>CHỊU SỰ GIÁM SÁT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của nhân dân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297400" y="312420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868150" y="4495800"/>
            <a:ext cx="57531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1" i="0">
                <a:solidFill>
                  <a:srgbClr val="8C2F2B"/>
                </a:solidFill>
                <a:latin typeface="Arial"/>
              </a:rPr>
              <a:t>KIỂM SOÁT</a:t>
            </a:r>
            <a:r>
              <a:rPr sz="2137" b="0" i="0">
                <a:solidFill>
                  <a:srgbClr val="2B2622"/>
                </a:solidFill>
                <a:latin typeface="Arial"/>
              </a:rPr>
              <a:t>, ngăn ngừa, trừng trị quan liêu, tham nhũng, lộng quyền, vô trách nhiệm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297400" y="43529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6830675" y="43529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868150" y="6096000"/>
            <a:ext cx="57531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Tập trung dân chủ; thống nhất quyền lực; chỉ đạo thống nhất của Trung ương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Nhận thức qua các kỳ Đại hội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86450" y="4119562"/>
            <a:ext cx="52388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38838" y="4119562"/>
            <a:ext cx="33337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972175" y="4086225"/>
            <a:ext cx="0" cy="33337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972175" y="4052888"/>
            <a:ext cx="0" cy="33337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72175" y="4052888"/>
            <a:ext cx="514350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772900" y="4052888"/>
            <a:ext cx="60007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030450" y="4876800"/>
            <a:ext cx="0" cy="1228725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030450" y="6105525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220200" y="6238875"/>
            <a:ext cx="58102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139238" y="6238875"/>
            <a:ext cx="80962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39238" y="6238875"/>
            <a:ext cx="0" cy="161925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19675" y="7124700"/>
            <a:ext cx="600075" cy="0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2658725" y="7124700"/>
            <a:ext cx="609600" cy="0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66750" y="2819400"/>
            <a:ext cx="5181600" cy="2200275"/>
          </a:xfrm>
          <a:prstGeom prst="roundRect">
            <a:avLst>
              <a:gd name="adj" fmla="val 5194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Chủ trương: Nhà nước pháp quyền Việt Nam </a:t>
            </a:r>
            <a:r>
              <a:rPr sz="2137" b="1" i="0">
                <a:solidFill>
                  <a:srgbClr val="8C2F2B"/>
                </a:solidFill>
                <a:latin typeface="Arial"/>
              </a:rPr>
              <a:t>CỦA DÂN, DO DÂN, VÌ DÂN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→ quản lý xã hội bằng pháp luật; mọi người có nghĩa vụ chấp hành Hiến pháp, pháp luật</a:t>
            </a:r>
          </a:p>
        </p:txBody>
      </p:sp>
      <p:sp>
        <p:nvSpPr>
          <p:cNvPr id="24" name="Rounded Rectangular Callout 23"/>
          <p:cNvSpPr/>
          <p:nvPr/>
        </p:nvSpPr>
        <p:spPr>
          <a:xfrm>
            <a:off x="6553200" y="3067050"/>
            <a:ext cx="5181600" cy="1571625"/>
          </a:xfrm>
          <a:prstGeom prst="wedgeRoundRectCallout">
            <a:avLst>
              <a:gd name="adj1" fmla="val -40441"/>
              <a:gd name="adj2" fmla="val 59696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ĐH XII: “Quyền lực nhà nước là thống nhất, có sự phân công, phối hợp, kiểm soát…”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81800" y="2924175"/>
            <a:ext cx="828675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ĐH XII</a:t>
            </a:r>
          </a:p>
        </p:txBody>
      </p:sp>
      <p:sp>
        <p:nvSpPr>
          <p:cNvPr id="26" name="Rounded Rectangular Callout 25"/>
          <p:cNvSpPr/>
          <p:nvPr/>
        </p:nvSpPr>
        <p:spPr>
          <a:xfrm>
            <a:off x="12439650" y="2876550"/>
            <a:ext cx="5181600" cy="1952625"/>
          </a:xfrm>
          <a:prstGeom prst="wedgeRoundRectCallout">
            <a:avLst>
              <a:gd name="adj1" fmla="val -40441"/>
              <a:gd name="adj2" fmla="val 57804"/>
              <a:gd name="adj3" fmla="val 16000"/>
            </a:avLst>
          </a:prstGeom>
          <a:solidFill>
            <a:srgbClr val="FFF6D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266700" tIns="171450" bIns="171450"/>
          <a:lstStyle/>
          <a:p>
            <a:pPr algn="l"/>
            <a:r>
              <a:rPr sz="2137" b="0" i="1">
                <a:solidFill>
                  <a:srgbClr val="2B2622"/>
                </a:solidFill>
                <a:latin typeface="Georgia"/>
              </a:rPr>
              <a:t>ĐH XIII: “…phân công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rành mạch</a:t>
            </a:r>
            <a:r>
              <a:rPr sz="2137" b="0" i="1">
                <a:solidFill>
                  <a:srgbClr val="2B2622"/>
                </a:solidFill>
                <a:latin typeface="Georgia"/>
              </a:rPr>
              <a:t>, phối hợp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chặt chẽ</a:t>
            </a:r>
            <a:r>
              <a:rPr sz="2137" b="0" i="1">
                <a:solidFill>
                  <a:srgbClr val="2B2622"/>
                </a:solidFill>
                <a:latin typeface="Georgia"/>
              </a:rPr>
              <a:t> và </a:t>
            </a:r>
            <a:r>
              <a:rPr sz="2137" b="1" i="1">
                <a:solidFill>
                  <a:srgbClr val="8C2F2B"/>
                </a:solidFill>
                <a:latin typeface="Georgia"/>
              </a:rPr>
              <a:t>tăng cường</a:t>
            </a:r>
            <a:r>
              <a:rPr sz="2137" b="0" i="1">
                <a:solidFill>
                  <a:srgbClr val="2B2622"/>
                </a:solidFill>
                <a:latin typeface="Georgia"/>
              </a:rPr>
              <a:t> kiểm soát quyền lực nhà nước”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668250" y="2733675"/>
            <a:ext cx="919162" cy="2667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11" b="1" i="0">
                <a:solidFill>
                  <a:srgbClr val="FFFFFF"/>
                </a:solidFill>
                <a:latin typeface="Arial"/>
              </a:rPr>
              <a:t>ĐH XIII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62800" y="5391150"/>
            <a:ext cx="3952875" cy="4857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38100" bIns="38100"/>
          <a:lstStyle/>
          <a:p>
            <a:pPr algn="ctr"/>
            <a:r>
              <a:rPr sz="1500" b="0" i="0">
                <a:solidFill>
                  <a:srgbClr val="6B6B6B"/>
                </a:solidFill>
                <a:latin typeface="Arial"/>
              </a:rPr>
              <a:t>Câu XIII thêm chữ nào so với XII?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6750" y="6781800"/>
            <a:ext cx="4314825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B1: k3 · k4 · k5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57725" y="66389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86425" y="6267450"/>
            <a:ext cx="6905625" cy="1724025"/>
          </a:xfrm>
          <a:prstGeom prst="roundRect">
            <a:avLst>
              <a:gd name="adj" fmla="val 13259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KIỂM SOÁT QUYỀN LỰC — nhận thức về Nhà nước pháp quyền ngày càng sáng tỏ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86425" y="6267450"/>
            <a:ext cx="6905625" cy="1724025"/>
          </a:xfrm>
          <a:prstGeom prst="roundRect">
            <a:avLst>
              <a:gd name="adj" fmla="val 13259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268200" y="612457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306425" y="6591300"/>
            <a:ext cx="4314825" cy="1066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A6: phân công, phối hợp, kiểm soát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297400" y="64484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Sáu đặc điểm (1–3)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B3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38900" y="3962400"/>
            <a:ext cx="31432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38900" y="5210175"/>
            <a:ext cx="31432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38900" y="6643688"/>
            <a:ext cx="31432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592050" y="5405438"/>
            <a:ext cx="60007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66750" y="3438525"/>
            <a:ext cx="5734050" cy="104775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B2: của dân, do dân, vì dân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9900" y="3438525"/>
            <a:ext cx="573405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1" i="0">
                <a:solidFill>
                  <a:srgbClr val="8C2F2B"/>
                </a:solidFill>
                <a:latin typeface="Arial"/>
              </a:rPr>
              <a:t>1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· Nhà nước CỦA DÂN, DO DÂN, VÌ DÂN — nhân dân lao động làm chủ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230100" y="329565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50" y="4686300"/>
            <a:ext cx="5734050" cy="104775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B1-k1: tối thượng của Hiến pháp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9900" y="4686300"/>
            <a:ext cx="573405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1" i="0">
                <a:solidFill>
                  <a:srgbClr val="8C2F2B"/>
                </a:solidFill>
                <a:latin typeface="Arial"/>
              </a:rPr>
              <a:t>2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· Dựa trên Hiến pháp, pháp luật; pháp luật ở VỊ TRÍ TỐI THƯỢNG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230100" y="45434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50" y="5924550"/>
            <a:ext cx="5734050" cy="1438275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B2: ĐH XII–XIII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9900" y="5924550"/>
            <a:ext cx="573405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1" i="0">
                <a:solidFill>
                  <a:srgbClr val="8C2F2B"/>
                </a:solidFill>
                <a:latin typeface="Arial"/>
              </a:rPr>
              <a:t>3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· Quyền lực thống nhất; phân công rõ ràng, phối hợp nhịp nhàng, kiểm soát: lập pháp – hành pháp – tư pháp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230100" y="578167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0" y="4543425"/>
            <a:ext cx="4362450" cy="1724025"/>
          </a:xfrm>
          <a:prstGeom prst="roundRect">
            <a:avLst>
              <a:gd name="adj" fmla="val 13259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Nhà nước pháp quyền XHCN Việt Nam (đang điền: 3/6)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0" y="4543425"/>
            <a:ext cx="4362450" cy="1724025"/>
          </a:xfrm>
          <a:prstGeom prst="roundRect">
            <a:avLst>
              <a:gd name="adj" fmla="val 13259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Sáu đặc điểm (4–6)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B4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38900" y="3395662"/>
            <a:ext cx="31432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38900" y="5405438"/>
            <a:ext cx="31432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38900" y="7405688"/>
            <a:ext cx="31432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592050" y="5400675"/>
            <a:ext cx="60007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66750" y="2486025"/>
            <a:ext cx="5734050" cy="1819275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A7: dân biết, bàn, làm, kiểm tra · B1-k4: chịu giám sát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9900" y="2486025"/>
            <a:ext cx="5734050" cy="1819275"/>
          </a:xfrm>
          <a:prstGeom prst="roundRect">
            <a:avLst>
              <a:gd name="adj" fmla="val 628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1" i="0">
                <a:solidFill>
                  <a:srgbClr val="8C2F2B"/>
                </a:solidFill>
                <a:latin typeface="Arial"/>
              </a:rPr>
              <a:t>4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· Đảng Cộng sản Việt Nam lãnh đạo (Điều 4 Hiến pháp 2013); nhân dân giám sát: dân biết, dân bàn, dân làm, dân kiểm tra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230100" y="234315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50" y="4495800"/>
            <a:ext cx="5734050" cy="1819275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B1-k2: quyền con người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9900" y="4495800"/>
            <a:ext cx="5734050" cy="1819275"/>
          </a:xfrm>
          <a:prstGeom prst="roundRect">
            <a:avLst>
              <a:gd name="adj" fmla="val 628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1" i="0">
                <a:solidFill>
                  <a:srgbClr val="8C2F2B"/>
                </a:solidFill>
                <a:latin typeface="Arial"/>
              </a:rPr>
              <a:t>5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· Tôn trọng quyền con người — chủ thể, trung tâm của phát triển; “nhân dân có quyền bầu và bãi miễn những đại biểu không xứng đáng”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50" y="6496050"/>
            <a:ext cx="5734050" cy="1819275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B1-k6: tập trung dân chủ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9900" y="6496050"/>
            <a:ext cx="5734050" cy="1819275"/>
          </a:xfrm>
          <a:prstGeom prst="roundRect">
            <a:avLst>
              <a:gd name="adj" fmla="val 628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1" i="0">
                <a:solidFill>
                  <a:srgbClr val="8C2F2B"/>
                </a:solidFill>
                <a:latin typeface="Arial"/>
              </a:rPr>
              <a:t>6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· Tập trung dân chủ — phân công, phân cấp, phối hợp, kiểm soát; quyền lực thống nhất, chỉ đạo thống nhất của Trung ương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230100" y="635317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0" y="4743450"/>
            <a:ext cx="4362450" cy="1314450"/>
          </a:xfrm>
          <a:prstGeom prst="roundRect">
            <a:avLst>
              <a:gd name="adj" fmla="val 17391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Nhà nước pháp quyền XHCN Việt Nam (6/6)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0" y="4743450"/>
            <a:ext cx="4362450" cy="1314450"/>
          </a:xfrm>
          <a:prstGeom prst="roundRect">
            <a:avLst>
              <a:gd name="adj" fmla="val 17391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Đối chiếu với quan niệm chung về nhà nước pháp quyền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B5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4248150" y="2057400"/>
            <a:ext cx="819150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114800" y="2057400"/>
            <a:ext cx="133350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2057400"/>
            <a:ext cx="0" cy="619125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2676525"/>
            <a:ext cx="0" cy="133350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648075" y="2809875"/>
            <a:ext cx="466725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362450" y="2905125"/>
            <a:ext cx="704850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229100" y="2905125"/>
            <a:ext cx="133350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229100" y="2905125"/>
            <a:ext cx="0" cy="628650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29100" y="3533775"/>
            <a:ext cx="0" cy="133350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648075" y="3667125"/>
            <a:ext cx="581025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476750" y="3743325"/>
            <a:ext cx="590550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343400" y="3743325"/>
            <a:ext cx="133350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43400" y="3743325"/>
            <a:ext cx="0" cy="647700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343400" y="4391025"/>
            <a:ext cx="0" cy="133350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648075" y="4524375"/>
            <a:ext cx="695325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591050" y="3743325"/>
            <a:ext cx="476250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457700" y="3743325"/>
            <a:ext cx="133350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457700" y="3743325"/>
            <a:ext cx="0" cy="3248025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57700" y="6991350"/>
            <a:ext cx="0" cy="133350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3648075" y="7124700"/>
            <a:ext cx="809625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4705350" y="4581525"/>
            <a:ext cx="361950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572000" y="4581525"/>
            <a:ext cx="133350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4581525"/>
            <a:ext cx="0" cy="1552575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572000" y="6134100"/>
            <a:ext cx="0" cy="133350"/>
          </a:xfrm>
          <a:prstGeom prst="line">
            <a:avLst/>
          </a:prstGeom>
          <a:ln w="28575">
            <a:solidFill>
              <a:srgbClr val="6B6B6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3648075" y="6267450"/>
            <a:ext cx="923925" cy="0"/>
          </a:xfrm>
          <a:prstGeom prst="line">
            <a:avLst/>
          </a:prstGeom>
          <a:ln w="28575">
            <a:solidFill>
              <a:srgbClr val="6B6B6B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66750" y="2466975"/>
            <a:ext cx="2914650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Đặc điểm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6750" y="3324225"/>
            <a:ext cx="2914650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Đặc điểm 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6750" y="4181475"/>
            <a:ext cx="2914650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Đặc điểm 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750" y="5038725"/>
            <a:ext cx="2914650" cy="70485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Đặc điểm 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6750" y="5924550"/>
            <a:ext cx="2914650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Đặc điểm 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6750" y="6781800"/>
            <a:ext cx="2914650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Đặc điểm 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05400" y="1724025"/>
            <a:ext cx="12515850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Tất cả vì mục tiêu phục vụ nhân dân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05400" y="2571750"/>
            <a:ext cx="12515850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Thượng tôn pháp luật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297400" y="242887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05400" y="3409950"/>
            <a:ext cx="12515850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Cơ quan nhà nước phân công, phối hợp, kiểm soát lẫn nhau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297400" y="326707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05400" y="4248150"/>
            <a:ext cx="12515850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Pháp luật nghiêm minh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05400" y="5086350"/>
            <a:ext cx="12515850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Hướng tới phúc lợi; cá nhân tự do, bình đẳng, phát huy năng lực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05400" y="5924550"/>
            <a:ext cx="1251585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Cơ quan được phân quyền rõ ràng; chấp nhận trên nguyên tắc bình đẳng giữa các thế lực, giai cấp, tầng lớp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05400" y="7153275"/>
            <a:ext cx="1251585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Hiện nay còn những cách hiểu khác nhau. Song, được hiểu là: mọi công dân được giáo dục pháp luật, hiểu biết, tuân thủ pháp luật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48525" y="8582025"/>
            <a:ext cx="3800475" cy="4857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38100" bIns="38100"/>
          <a:lstStyle/>
          <a:p>
            <a:pPr algn="ctr"/>
            <a:r>
              <a:rPr sz="1500" b="0" i="0">
                <a:solidFill>
                  <a:srgbClr val="6B6B6B"/>
                </a:solidFill>
                <a:latin typeface="Arial"/>
              </a:rPr>
              <a:t>Đặc điểm nào KHÔNG có cặp?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Phần 2 — Nhà nước pháp quyền XHCN Việt Nam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B6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ADBBB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B6B6B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57550" y="5324475"/>
            <a:ext cx="0" cy="409575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57550" y="573405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57550" y="5867400"/>
            <a:ext cx="5805488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63038" y="5867400"/>
            <a:ext cx="80962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5867400"/>
            <a:ext cx="0" cy="161925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44000" y="5324475"/>
            <a:ext cx="0" cy="70485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030450" y="5753100"/>
            <a:ext cx="0" cy="571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030450" y="5810250"/>
            <a:ext cx="0" cy="571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224962" y="5867400"/>
            <a:ext cx="5805488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144000" y="5867400"/>
            <a:ext cx="80962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44000" y="5867400"/>
            <a:ext cx="0" cy="161925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030450" y="4143375"/>
            <a:ext cx="0" cy="66675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66750" y="3848100"/>
            <a:ext cx="51816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1" i="0">
                <a:solidFill>
                  <a:srgbClr val="8C2F2B"/>
                </a:solidFill>
                <a:latin typeface="Arial"/>
              </a:rPr>
              <a:t>Phần CHUNG: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các tinh thần cơ bản của nhà nước pháp quyền nói chung (cặp ↔ ở B5)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3200" y="3848100"/>
            <a:ext cx="51816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1" i="0">
                <a:solidFill>
                  <a:srgbClr val="8C2F2B"/>
                </a:solidFill>
                <a:latin typeface="Arial"/>
              </a:rPr>
              <a:t>Phần KHÁC ①: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mang BẢN CHẤT GIAI CẤP CÔNG NHÂN, phục vụ lợi ích nhân dân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10950" y="37052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439650" y="3419475"/>
            <a:ext cx="5181600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B5: đặc điểm 4 không có cặp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439650" y="4276725"/>
            <a:ext cx="51816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1" i="0">
                <a:solidFill>
                  <a:srgbClr val="8C2F2B"/>
                </a:solidFill>
                <a:latin typeface="Arial"/>
              </a:rPr>
              <a:t>Phần KHÁC ②:</a:t>
            </a:r>
            <a:r>
              <a:rPr sz="2137" b="0" i="0">
                <a:solidFill>
                  <a:srgbClr val="2B2622"/>
                </a:solidFill>
                <a:latin typeface="Arial"/>
              </a:rPr>
              <a:t> công cụ chủ yếu để Đảng Cộng sản Việt Nam định hướng đi lên CNXH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50" y="6096000"/>
            <a:ext cx="16954500" cy="1285875"/>
          </a:xfrm>
          <a:prstGeom prst="roundRect">
            <a:avLst>
              <a:gd name="adj" fmla="val 17777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Vừa thể hiện tinh thần chung của nhà nước pháp quyền, vừa có sự khác biệt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50" y="6096000"/>
            <a:ext cx="16954500" cy="1285875"/>
          </a:xfrm>
          <a:prstGeom prst="roundRect">
            <a:avLst>
              <a:gd name="adj" fmla="val 17777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a) Phát huy dân chủ — Một là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C1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86450" y="3986212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76950" y="3986212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10300" y="3986212"/>
            <a:ext cx="0" cy="1709738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10300" y="569595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10300" y="582930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86450" y="5400675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76950" y="5400675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10300" y="5400675"/>
            <a:ext cx="0" cy="295275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10300" y="569595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0300" y="582930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86450" y="6815138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76950" y="6815138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210300" y="5962650"/>
            <a:ext cx="0" cy="852488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210300" y="582930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10300" y="582930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2211050" y="4595812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2077700" y="4595812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077700" y="4595812"/>
            <a:ext cx="0" cy="1100138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077700" y="569595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1801475" y="582930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2211050" y="6205538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2077700" y="6205538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2077700" y="5962650"/>
            <a:ext cx="0" cy="242888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2077700" y="582930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1801475" y="582930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4629150"/>
            <a:ext cx="0" cy="66675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66750" y="3267075"/>
            <a:ext cx="51816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Đa dạng hình thức sở hữu, thành phần kinh tế, loại hình doanh nghiệp; bảo hộ quyền chủ sở hữu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6750" y="4876800"/>
            <a:ext cx="518160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Luật về tài sản mới: sở hữu trí tuệ, cổ phiếu, trái phiếu…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750" y="6096000"/>
            <a:ext cx="51816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Thể chế đồng bộ 3 khâu: ban hành → vận hành, thực thi → giám sát, xử lý vi phạm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53200" y="3905250"/>
            <a:ext cx="5181600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A8: nền kinh tế kém phát triển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10950" y="376237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53200" y="4762500"/>
            <a:ext cx="5181600" cy="2133600"/>
          </a:xfrm>
          <a:prstGeom prst="roundRect">
            <a:avLst>
              <a:gd name="adj" fmla="val 10714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Hoàn thiện thể chế kinh tế thị trường định hướng XHCN → CƠ SỞ KINH TẾ VỮNG CHẮC cho dân chủ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53200" y="4762500"/>
            <a:ext cx="5181600" cy="2133600"/>
          </a:xfrm>
          <a:prstGeom prst="roundRect">
            <a:avLst>
              <a:gd name="adj" fmla="val 10714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10950" y="46196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439650" y="3876675"/>
            <a:ext cx="51816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Cải cách hành chính: từ bộ máy đến thủ tục → cải thiện môi trường kinh doanh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439650" y="5486400"/>
            <a:ext cx="51816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Phát triển đồng bộ các yếu tố thị trường; hoàn thiện pháp luật kinh doanh phù hợp Việt Nam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a) Phát huy dân chủ — Hai là, Ba là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C2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258800" y="3924300"/>
            <a:ext cx="60007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258800" y="6657975"/>
            <a:ext cx="60007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66750" y="3009900"/>
            <a:ext cx="3905250" cy="1819275"/>
          </a:xfrm>
          <a:prstGeom prst="roundRect">
            <a:avLst>
              <a:gd name="adj" fmla="val 628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Vững mạnh chính trị, tư tưởng, tổ chức; tự đổi mới, tự chỉnh đốn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1100" y="3009900"/>
            <a:ext cx="3905250" cy="1819275"/>
          </a:xfrm>
          <a:prstGeom prst="roundRect">
            <a:avLst>
              <a:gd name="adj" fmla="val 628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Nâng cao trí tuệ, bản lĩnh chính trị, phẩm chất đạo đức, năng lực lãnh đạo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15450" y="3009900"/>
            <a:ext cx="3905250" cy="1819275"/>
          </a:xfrm>
          <a:prstGeom prst="roundRect">
            <a:avLst>
              <a:gd name="adj" fmla="val 628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Dân chủ hóa sinh hoạt; tập trung dân chủ; tự phê bình và phê bình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925550" y="2857500"/>
            <a:ext cx="3695700" cy="2133600"/>
          </a:xfrm>
          <a:prstGeom prst="roundRect">
            <a:avLst>
              <a:gd name="adj" fmla="val 10714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Hai là: Đảng trong sạch, vững mạnh = ĐIỀU KIỆN TIÊN QUYẾT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925550" y="2857500"/>
            <a:ext cx="3695700" cy="2133600"/>
          </a:xfrm>
          <a:prstGeom prst="roundRect">
            <a:avLst>
              <a:gd name="adj" fmla="val 10714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50" y="5362575"/>
            <a:ext cx="3905250" cy="2581275"/>
          </a:xfrm>
          <a:prstGeom prst="roundRect">
            <a:avLst>
              <a:gd name="adj" fmla="val 4428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Thực thi quyền dân chủ trên mọi lĩnh vực, bằng Hiến pháp, pháp luật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91100" y="5362575"/>
            <a:ext cx="3905250" cy="2581275"/>
          </a:xfrm>
          <a:prstGeom prst="roundRect">
            <a:avLst>
              <a:gd name="adj" fmla="val 4428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Quyền con người là GIÁ TRỊ CAO NHẤT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15450" y="5362575"/>
            <a:ext cx="3905250" cy="2581275"/>
          </a:xfrm>
          <a:prstGeom prst="roundRect">
            <a:avLst>
              <a:gd name="adj" fmla="val 4428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Chính sách, pháp luật dựa vào ý chí, nguyện vọng nhân dân; bảo đảm danh dự, nhân phẩm bằng pháp luật và trên thực tế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925550" y="5391150"/>
            <a:ext cx="3695700" cy="2533650"/>
          </a:xfrm>
          <a:prstGeom prst="roundRect">
            <a:avLst>
              <a:gd name="adj" fmla="val 9022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Ba là: Nhà nước pháp quyền vững mạnh = ĐIỀU KIỆN ĐỂ THỰC THI dân chủ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925550" y="5391150"/>
            <a:ext cx="3695700" cy="2533650"/>
          </a:xfrm>
          <a:prstGeom prst="roundRect">
            <a:avLst>
              <a:gd name="adj" fmla="val 9022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a) Phát huy dân chủ — Bốn là, Năm là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C3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877675" y="3324225"/>
            <a:ext cx="60007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896850" y="6929438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087350" y="6929438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220700" y="6929438"/>
            <a:ext cx="0" cy="481012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220700" y="741045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220700" y="754380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514850" y="7939088"/>
            <a:ext cx="314325" cy="0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597188" y="6143625"/>
            <a:ext cx="0" cy="66675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6750" y="1962150"/>
            <a:ext cx="537210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Đổi mới mạnh mẽ phương thức hoạt động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57950" y="1962150"/>
            <a:ext cx="537210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Giám sát, phản biện đường lối, chính sách, pháp luật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50" y="3200400"/>
            <a:ext cx="53721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Khối đoàn kết toàn dân; chăm lo đời sống nhân dân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57950" y="3200400"/>
            <a:ext cx="53721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Bảo vệ chính quyền, xây dựng Đảng, bảo vệ quyền lợi chính đáng của nhân dân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544425" y="2638425"/>
            <a:ext cx="5076825" cy="1314450"/>
          </a:xfrm>
          <a:prstGeom prst="roundRect">
            <a:avLst>
              <a:gd name="adj" fmla="val 17391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Bốn là: NÂNG CAO VAI TRÒ tổ chức chính trị – xã hội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544425" y="2638425"/>
            <a:ext cx="5076825" cy="1314450"/>
          </a:xfrm>
          <a:prstGeom prst="roundRect">
            <a:avLst>
              <a:gd name="adj" fmla="val 17391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50" y="5019675"/>
            <a:ext cx="3781425" cy="2200275"/>
          </a:xfrm>
          <a:prstGeom prst="roundRect">
            <a:avLst>
              <a:gd name="adj" fmla="val 5194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Giám sát, phản biện ảnh hưởng tới đời sống tâm lý nhân dân khi đánh giá chủ trương, chính sách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67275" y="5019675"/>
            <a:ext cx="3781425" cy="2200275"/>
          </a:xfrm>
          <a:prstGeom prst="roundRect">
            <a:avLst>
              <a:gd name="adj" fmla="val 5194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Công khai hóa · minh bạch hóa · dân chủ hóa thông tin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67800" y="5019675"/>
            <a:ext cx="3781425" cy="2200275"/>
          </a:xfrm>
          <a:prstGeom prst="roundRect">
            <a:avLst>
              <a:gd name="adj" fmla="val 5194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Cụ thể hóa quy chế tôn trọng, lắng nghe ý kiến nhân dân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50" y="7410450"/>
            <a:ext cx="3781425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Nâng cao </a:t>
            </a:r>
            <a:r>
              <a:rPr sz="2137" b="1" i="0">
                <a:solidFill>
                  <a:srgbClr val="8C2F2B"/>
                </a:solidFill>
                <a:latin typeface="Arial"/>
              </a:rPr>
              <a:t>DÂN TRÍ</a:t>
            </a:r>
            <a:r>
              <a:rPr sz="2137" b="0" i="0">
                <a:solidFill>
                  <a:srgbClr val="2B2622"/>
                </a:solidFill>
                <a:latin typeface="Arial"/>
              </a:rPr>
              <a:t>, văn hóa pháp luật cho toàn xã hội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24325" y="726757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67275" y="7410450"/>
            <a:ext cx="3781425" cy="1438275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A1: dân trí CHƯA đặt đúng vị trí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63600" y="5038725"/>
            <a:ext cx="4067175" cy="1066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A7: dân biết, bàn, làm, kiểm tra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306925" y="489585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563600" y="6276975"/>
            <a:ext cx="4067175" cy="2533650"/>
          </a:xfrm>
          <a:prstGeom prst="roundRect">
            <a:avLst>
              <a:gd name="adj" fmla="val 9022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Năm là: hệ thống giám sát, phản biện xã hội → ĐỂ PHÁT HUY QUYỀN LÀM CHỦ của nhân dân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563600" y="6276975"/>
            <a:ext cx="4067175" cy="2533650"/>
          </a:xfrm>
          <a:prstGeom prst="roundRect">
            <a:avLst>
              <a:gd name="adj" fmla="val 9022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306925" y="613410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Mỗi giải pháp giữ vai trò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C4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81925" y="3286125"/>
            <a:ext cx="64770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29625" y="3286125"/>
            <a:ext cx="13335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62975" y="3286125"/>
            <a:ext cx="0" cy="7429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62975" y="4029075"/>
            <a:ext cx="0" cy="1333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62975" y="4162425"/>
            <a:ext cx="120967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81925" y="4143375"/>
            <a:ext cx="76200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43925" y="4143375"/>
            <a:ext cx="13335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677275" y="4143375"/>
            <a:ext cx="0" cy="240030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77275" y="6543675"/>
            <a:ext cx="0" cy="1333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77275" y="6677025"/>
            <a:ext cx="109537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81925" y="5000625"/>
            <a:ext cx="87630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58225" y="5000625"/>
            <a:ext cx="13335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91575" y="5000625"/>
            <a:ext cx="0" cy="7048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91575" y="5705475"/>
            <a:ext cx="0" cy="1333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91575" y="5838825"/>
            <a:ext cx="98107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781925" y="5857875"/>
            <a:ext cx="99060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772525" y="5857875"/>
            <a:ext cx="13335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905875" y="3457575"/>
            <a:ext cx="0" cy="240030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905875" y="3324225"/>
            <a:ext cx="0" cy="1333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905875" y="3324225"/>
            <a:ext cx="86677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81925" y="6715125"/>
            <a:ext cx="110490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86825" y="6715125"/>
            <a:ext cx="133350" cy="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020175" y="5133975"/>
            <a:ext cx="0" cy="15811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020175" y="5000625"/>
            <a:ext cx="0" cy="133350"/>
          </a:xfrm>
          <a:prstGeom prst="line">
            <a:avLst/>
          </a:prstGeom>
          <a:ln w="23812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20175" y="5000625"/>
            <a:ext cx="752475" cy="0"/>
          </a:xfrm>
          <a:prstGeom prst="line">
            <a:avLst/>
          </a:prstGeom>
          <a:ln w="23812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3730288" y="7058025"/>
            <a:ext cx="0" cy="80963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3730288" y="7138988"/>
            <a:ext cx="0" cy="80962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224962" y="7219950"/>
            <a:ext cx="4505326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9144000" y="7219950"/>
            <a:ext cx="80962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144000" y="7219950"/>
            <a:ext cx="0" cy="161925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29525" y="2066925"/>
            <a:ext cx="3028950" cy="4857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38100" bIns="38100"/>
          <a:lstStyle/>
          <a:p>
            <a:pPr algn="ctr"/>
            <a:r>
              <a:rPr sz="1500" b="0" i="0">
                <a:solidFill>
                  <a:srgbClr val="6B6B6B"/>
                </a:solidFill>
                <a:latin typeface="Arial"/>
              </a:rPr>
              <a:t>Nối giải pháp với vai trò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6750" y="2943225"/>
            <a:ext cx="7077075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Một là — Thể chế kinh tế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50" y="3800475"/>
            <a:ext cx="7077075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Hai là — Đảng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6750" y="4657725"/>
            <a:ext cx="7077075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Ba là — Nhà nước pháp quyền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6750" y="5514975"/>
            <a:ext cx="7077075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Bốn là — Tổ chức chính trị – xã hội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750" y="6372225"/>
            <a:ext cx="7077075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Năm là — Giám sát, phản biện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39325" y="2990850"/>
            <a:ext cx="7781925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nâng cao vai trò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39325" y="3829050"/>
            <a:ext cx="7781925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cơ sở kinh tế vững chắc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39325" y="4667250"/>
            <a:ext cx="7781925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để phát huy quyền làm chủ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39325" y="5505450"/>
            <a:ext cx="7781925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điều kiện để thực thi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39325" y="6343650"/>
            <a:ext cx="7781925" cy="666750"/>
          </a:xfrm>
          <a:prstGeom prst="roundRect">
            <a:avLst>
              <a:gd name="adj" fmla="val 1714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điều kiện tiên quyết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6750" y="7448550"/>
            <a:ext cx="16954500" cy="1285875"/>
          </a:xfrm>
          <a:prstGeom prst="roundRect">
            <a:avLst>
              <a:gd name="adj" fmla="val 17777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a) PHÁT HUY DÂN CHỦ XHCN Ở VIỆT NAM HIỆN NAY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6750" y="7448550"/>
            <a:ext cx="16954500" cy="1285875"/>
          </a:xfrm>
          <a:prstGeom prst="roundRect">
            <a:avLst>
              <a:gd name="adj" fmla="val 17777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b) Hoàn thiện Nhà nước pháp quyền — Một là, Hai là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C5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29350" y="2295525"/>
            <a:ext cx="314325" cy="0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29350" y="3729038"/>
            <a:ext cx="314325" cy="0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52950" y="5929312"/>
            <a:ext cx="314325" cy="0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172950" y="3109912"/>
            <a:ext cx="60007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087350" y="6929438"/>
            <a:ext cx="60007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6750" y="1771650"/>
            <a:ext cx="5524500" cy="104775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B6: bản chất giai cấp công nhân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67400" y="162877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10350" y="1771650"/>
            <a:ext cx="552450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Bản chất giai cấp công nhân; gắn bó chặt chẽ với dân tộc, nhân dân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11000" y="162877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50" y="3009900"/>
            <a:ext cx="5524500" cy="1438275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B2: kiểm soát quyền lực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67400" y="28670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10350" y="3009900"/>
            <a:ext cx="55245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Quyền lực thống nhất; phân công, phối hợp: lập pháp – hành pháp – tư pháp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11000" y="28670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39700" y="2247900"/>
            <a:ext cx="4781550" cy="1724025"/>
          </a:xfrm>
          <a:prstGeom prst="roundRect">
            <a:avLst>
              <a:gd name="adj" fmla="val 13259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Một là: xây dựng Nhà nước pháp quyền DƯỚI SỰ LÃNH ĐẠO CỦA ĐẢNG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39700" y="2247900"/>
            <a:ext cx="4781550" cy="1724025"/>
          </a:xfrm>
          <a:prstGeom prst="roundRect">
            <a:avLst>
              <a:gd name="adj" fmla="val 13259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50" y="4829175"/>
            <a:ext cx="3848100" cy="2200275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A6: Quốc hội cao nhất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76700" y="4686300"/>
            <a:ext cx="5334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3950" y="4829175"/>
            <a:ext cx="3848100" cy="2200275"/>
          </a:xfrm>
          <a:prstGeom prst="roundRect">
            <a:avLst>
              <a:gd name="adj" fmla="val 5194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Quốc hội: cơ quan quyền lực cao nhất; lập hiến, lập pháp; một số nhiệm vụ hành pháp, tư pháp; giám sát tối cao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43900" y="4686300"/>
            <a:ext cx="5334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01150" y="4829175"/>
            <a:ext cx="3848100" cy="2200275"/>
          </a:xfrm>
          <a:prstGeom prst="roundRect">
            <a:avLst>
              <a:gd name="adj" fmla="val 5194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Hành chính: dân chủ, trong sạch, vững mạnh, từng bước hiện đại hóa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50" y="7219950"/>
            <a:ext cx="3848100" cy="1819275"/>
          </a:xfrm>
          <a:prstGeom prst="roundRect">
            <a:avLst>
              <a:gd name="adj" fmla="val 628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Giảm mạnh, bãi bỏ thủ tục gây phiền hà; nâng cao năng lực thực hiện cơ chế, chính sách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3950" y="7219950"/>
            <a:ext cx="3848100" cy="1819275"/>
          </a:xfrm>
          <a:prstGeom prst="roundRect">
            <a:avLst>
              <a:gd name="adj" fmla="val 628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Xã hội hóa dịch vụ công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54100" y="6067425"/>
            <a:ext cx="3867150" cy="1724025"/>
          </a:xfrm>
          <a:prstGeom prst="roundRect">
            <a:avLst>
              <a:gd name="adj" fmla="val 13259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Hai là: CẢI CÁCH THỂ CHẾ và phương thức hoạt động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54100" y="6067425"/>
            <a:ext cx="3867150" cy="1724025"/>
          </a:xfrm>
          <a:prstGeom prst="roundRect">
            <a:avLst>
              <a:gd name="adj" fmla="val 13259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b) Hoàn thiện Nhà nước pháp quyền — Ba là, Bốn là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C6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087350" y="3524250"/>
            <a:ext cx="60007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087350" y="6653212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277850" y="6653212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411200" y="6653212"/>
            <a:ext cx="0" cy="490538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411200" y="714375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411200" y="727710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687675" y="6076950"/>
            <a:ext cx="0" cy="66675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6750" y="2619375"/>
            <a:ext cx="3848100" cy="1819275"/>
          </a:xfrm>
          <a:prstGeom prst="roundRect">
            <a:avLst>
              <a:gd name="adj" fmla="val 628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Bản lĩnh chính trị, phẩm chất đạo đức, năng lực lãnh đạo, điều hành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3950" y="2619375"/>
            <a:ext cx="3848100" cy="1819275"/>
          </a:xfrm>
          <a:prstGeom prst="roundRect">
            <a:avLst>
              <a:gd name="adj" fmla="val 628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Đãi ngộ, động viên, khuyến khích người hoàn thành tốt nhiệm vụ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01150" y="2619375"/>
            <a:ext cx="3848100" cy="1819275"/>
          </a:xfrm>
          <a:prstGeom prst="roundRect">
            <a:avLst>
              <a:gd name="adj" fmla="val 6282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Loại bỏ, miễn nhiệm người không hoàn thành nhiệm vụ, vi phạm kỷ luật, đạo đức công vụ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54100" y="2457450"/>
            <a:ext cx="3867150" cy="2133600"/>
          </a:xfrm>
          <a:prstGeom prst="roundRect">
            <a:avLst>
              <a:gd name="adj" fmla="val 10714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Ba là: đội ngũ cán bộ, công chức TRONG SẠCH, CÓ NĂNG LỰC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54100" y="2457450"/>
            <a:ext cx="3867150" cy="2133600"/>
          </a:xfrm>
          <a:prstGeom prst="roundRect">
            <a:avLst>
              <a:gd name="adj" fmla="val 10714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50" y="5314950"/>
            <a:ext cx="38481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Hoàn thiện thể chế + cải cách hành chính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3950" y="5314950"/>
            <a:ext cx="38481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Khuyến khích và bảo vệ người đấu tranh chống tham nhũng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01150" y="5314950"/>
            <a:ext cx="3848100" cy="1438275"/>
          </a:xfrm>
          <a:prstGeom prst="roundRect">
            <a:avLst>
              <a:gd name="adj" fmla="val 7947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Chế tài xử lý cá nhân, tổ chức vi phạm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50" y="6943725"/>
            <a:ext cx="3848100" cy="1047750"/>
          </a:xfrm>
          <a:prstGeom prst="roundRect">
            <a:avLst>
              <a:gd name="adj" fmla="val 10909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Toàn Đảng, toàn dân thực hành tiết kiệm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54100" y="4972050"/>
            <a:ext cx="3867150" cy="1066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B1-k5: trừng trị tham nhũng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297400" y="482917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54100" y="6210300"/>
            <a:ext cx="3867150" cy="2133600"/>
          </a:xfrm>
          <a:prstGeom prst="roundRect">
            <a:avLst>
              <a:gd name="adj" fmla="val 10714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Bốn là: phòng, chống tham nhũng, lãng phí — nhiệm vụ CẤP BÁCH, LÂU DÀI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54100" y="6210300"/>
            <a:ext cx="3867150" cy="2133600"/>
          </a:xfrm>
          <a:prstGeom prst="roundRect">
            <a:avLst>
              <a:gd name="adj" fmla="val 10714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297400" y="60674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Phần 3 — Mỗi giải pháp nối về đâu?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C7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E6CF93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6A1F1C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72275" y="3200400"/>
            <a:ext cx="314325" cy="0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772275" y="4086225"/>
            <a:ext cx="314325" cy="0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772275" y="4962525"/>
            <a:ext cx="314325" cy="0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72275" y="5838825"/>
            <a:ext cx="314325" cy="0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72275" y="6715125"/>
            <a:ext cx="314325" cy="0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72275" y="7591425"/>
            <a:ext cx="314325" cy="0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258800" y="5395912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449300" y="5395912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582650" y="4019550"/>
            <a:ext cx="0" cy="1376362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582650" y="388620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582650" y="388620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258800" y="5395912"/>
            <a:ext cx="19050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449300" y="5395912"/>
            <a:ext cx="1333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582650" y="5395912"/>
            <a:ext cx="0" cy="985838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582650" y="6381750"/>
            <a:ext cx="0" cy="1333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582650" y="6515100"/>
            <a:ext cx="276225" cy="0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66750" y="2857500"/>
            <a:ext cx="6067425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A8: Kinh tế kém phát triển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0325" y="27146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53275" y="2857500"/>
            <a:ext cx="6067425" cy="685800"/>
          </a:xfrm>
          <a:prstGeom prst="roundRect">
            <a:avLst>
              <a:gd name="adj" fmla="val 16666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Cơ sở kinh tế vững chắc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6750" y="3743325"/>
            <a:ext cx="6067425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A1: Dân trí chưa đúng vị trí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0325" y="360045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53275" y="3743325"/>
            <a:ext cx="6067425" cy="685800"/>
          </a:xfrm>
          <a:prstGeom prst="roundRect">
            <a:avLst>
              <a:gd name="adj" fmla="val 16666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Nâng cao dân trí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6750" y="4619625"/>
            <a:ext cx="6067425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A7: Dân biết, bàn, làm, kiểm tra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10325" y="447675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53275" y="4619625"/>
            <a:ext cx="6067425" cy="685800"/>
          </a:xfrm>
          <a:prstGeom prst="roundRect">
            <a:avLst>
              <a:gd name="adj" fmla="val 16666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Giám sát, phản biện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6750" y="5495925"/>
            <a:ext cx="6067425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B6: Bản chất giai cấp công nhân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0325" y="535305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53275" y="5495925"/>
            <a:ext cx="6067425" cy="685800"/>
          </a:xfrm>
          <a:prstGeom prst="roundRect">
            <a:avLst>
              <a:gd name="adj" fmla="val 16666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Dưới sự lãnh đạo của Đảng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750" y="6372225"/>
            <a:ext cx="6067425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A6: Quốc hội cao nhất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96025" y="6229350"/>
            <a:ext cx="5334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53275" y="6372225"/>
            <a:ext cx="6067425" cy="685800"/>
          </a:xfrm>
          <a:prstGeom prst="roundRect">
            <a:avLst>
              <a:gd name="adj" fmla="val 16666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Cải cách Quốc hội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6750" y="7248525"/>
            <a:ext cx="6067425" cy="6858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1F3A5F"/>
                </a:solidFill>
                <a:latin typeface="Arial"/>
              </a:rPr>
              <a:t>B1: Trừng trị tham nhũng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10325" y="710565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53275" y="7248525"/>
            <a:ext cx="6067425" cy="685800"/>
          </a:xfrm>
          <a:prstGeom prst="roundRect">
            <a:avLst>
              <a:gd name="adj" fmla="val 16666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2137" b="0" i="0">
                <a:solidFill>
                  <a:srgbClr val="2B2622"/>
                </a:solidFill>
                <a:latin typeface="Arial"/>
              </a:rPr>
              <a:t>Phòng, chống tham nhũng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925550" y="3124200"/>
            <a:ext cx="3695700" cy="1724025"/>
          </a:xfrm>
          <a:prstGeom prst="roundRect">
            <a:avLst>
              <a:gd name="adj" fmla="val 13259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a) Phát huy dân chủ XHCN — 5 giải pháp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925550" y="3124200"/>
            <a:ext cx="3695700" cy="1724025"/>
          </a:xfrm>
          <a:prstGeom prst="roundRect">
            <a:avLst>
              <a:gd name="adj" fmla="val 13259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925550" y="5543550"/>
            <a:ext cx="3695700" cy="2133600"/>
          </a:xfrm>
          <a:prstGeom prst="roundRect">
            <a:avLst>
              <a:gd name="adj" fmla="val 10714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2468" b="1" i="0">
                <a:solidFill>
                  <a:srgbClr val="FFFFFF"/>
                </a:solidFill>
                <a:latin typeface="Arial"/>
              </a:rPr>
              <a:t>b) Hoàn thiện Nhà nước pháp quyền XHCN — 4 giải pháp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925550" y="5543550"/>
            <a:ext cx="3695700" cy="2133600"/>
          </a:xfrm>
          <a:prstGeom prst="roundRect">
            <a:avLst>
              <a:gd name="adj" fmla="val 10714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66800"/>
          </a:xfrm>
          <a:prstGeom prst="rect">
            <a:avLst/>
          </a:prstGeom>
          <a:solidFill>
            <a:srgbClr val="8C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6800"/>
            <a:ext cx="18288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76200"/>
            <a:ext cx="158115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0" bIns="0"/>
          <a:lstStyle/>
          <a:p>
            <a:pPr algn="l"/>
            <a:r>
              <a:rPr sz="3135" b="1" i="0">
                <a:solidFill>
                  <a:srgbClr val="F6E3AA"/>
                </a:solidFill>
                <a:latin typeface="Georgia"/>
              </a:rPr>
              <a:t>Dân chủ XHCN và Nhà nước pháp quyền XHCN ở Việt Nam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878300" y="266700"/>
            <a:ext cx="742950" cy="476250"/>
          </a:xfrm>
          <a:prstGeom prst="roundRect">
            <a:avLst>
              <a:gd name="adj" fmla="val 20000"/>
            </a:avLst>
          </a:prstGeom>
          <a:solidFill>
            <a:srgbClr val="E6CF93"/>
          </a:solidFill>
          <a:ln w="28575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995" b="1" i="0">
                <a:solidFill>
                  <a:srgbClr val="6A1F1C"/>
                </a:solidFill>
                <a:latin typeface="Arial"/>
              </a:rPr>
              <a:t>K1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 · Phát huy &amp; xây dựng hiện nay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0" y="7734300"/>
            <a:ext cx="0" cy="571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0" y="7791450"/>
            <a:ext cx="0" cy="5715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7848600"/>
            <a:ext cx="5010150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154150" y="7848600"/>
            <a:ext cx="80962" cy="0"/>
          </a:xfrm>
          <a:prstGeom prst="line">
            <a:avLst/>
          </a:prstGeom>
          <a:ln w="38100">
            <a:solidFill>
              <a:srgbClr val="8C2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235112" y="7848600"/>
            <a:ext cx="0" cy="161925"/>
          </a:xfrm>
          <a:prstGeom prst="line">
            <a:avLst/>
          </a:prstGeom>
          <a:ln w="38100">
            <a:solidFill>
              <a:srgbClr val="8C2F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182225" y="8720138"/>
            <a:ext cx="600075" cy="0"/>
          </a:xfrm>
          <a:prstGeom prst="line">
            <a:avLst/>
          </a:prstGeom>
          <a:ln w="23812">
            <a:solidFill>
              <a:srgbClr val="1F3A5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66750" y="1438275"/>
            <a:ext cx="5800725" cy="2105025"/>
          </a:xfrm>
          <a:prstGeom prst="roundRect">
            <a:avLst>
              <a:gd name="adj" fmla="val 6000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95250" bIns="95250"/>
          <a:lstStyle/>
          <a:p>
            <a:pPr algn="l"/>
            <a:r>
              <a:rPr sz="1567" b="1" i="0">
                <a:solidFill>
                  <a:srgbClr val="8C2F2B"/>
                </a:solidFill>
                <a:latin typeface="Arial"/>
              </a:rPr>
              <a:t>1 · Dân chủ XHCN ở Việt Nam</a:t>
            </a:r>
          </a:p>
          <a:p>
            <a:pPr algn="l"/>
            <a:r>
              <a:rPr sz="1211" b="0" i="0">
                <a:solidFill>
                  <a:srgbClr val="2B2622"/>
                </a:solidFill>
                <a:latin typeface="Arial"/>
              </a:rPr>
              <a:t>M1 Một dữ kiện mở đầu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A1 Trước Đổi mới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A2 Đại hội VI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A3 Ba mươi lăm năm đổi mới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A4 Bảy chữ “dân”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A5 Bốn nội dung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A6 Hai hình thức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A7 Thực tiễn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A8 Trở ngại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A9 Khái quát phần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2325" y="1438275"/>
            <a:ext cx="4638675" cy="2105025"/>
          </a:xfrm>
          <a:prstGeom prst="roundRect">
            <a:avLst>
              <a:gd name="adj" fmla="val 6000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95250" bIns="95250"/>
          <a:lstStyle/>
          <a:p>
            <a:pPr algn="l"/>
            <a:r>
              <a:rPr sz="1567" b="1" i="0">
                <a:solidFill>
                  <a:srgbClr val="8C2F2B"/>
                </a:solidFill>
                <a:latin typeface="Arial"/>
              </a:rPr>
              <a:t>2 · Nhà nước pháp quyền XHCN</a:t>
            </a:r>
          </a:p>
          <a:p>
            <a:pPr algn="l"/>
            <a:r>
              <a:rPr sz="1211" b="0" i="0">
                <a:solidFill>
                  <a:srgbClr val="2B2622"/>
                </a:solidFill>
                <a:latin typeface="Arial"/>
              </a:rPr>
              <a:t>B1 Cương lĩnh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B2 Qua các kỳ Đại hội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B3 Đặc điểm 1–3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B4 Đặc điểm 4–6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B5 Đối chiếu quan niệm chung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B6 Khái quát phần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15850" y="1438275"/>
            <a:ext cx="5105400" cy="2105025"/>
          </a:xfrm>
          <a:prstGeom prst="roundRect">
            <a:avLst>
              <a:gd name="adj" fmla="val 6000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95250" bIns="95250"/>
          <a:lstStyle/>
          <a:p>
            <a:pPr algn="l"/>
            <a:r>
              <a:rPr sz="1567" b="1" i="0">
                <a:solidFill>
                  <a:srgbClr val="8C2F2B"/>
                </a:solidFill>
                <a:latin typeface="Arial"/>
              </a:rPr>
              <a:t>3 · Phát huy &amp; xây dựng hiện nay</a:t>
            </a:r>
          </a:p>
          <a:p>
            <a:pPr algn="l"/>
            <a:r>
              <a:rPr sz="1211" b="0" i="0">
                <a:solidFill>
                  <a:srgbClr val="2B2622"/>
                </a:solidFill>
                <a:latin typeface="Arial"/>
              </a:rPr>
              <a:t>C1 Một là: kinh tế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C2 Hai là, Ba là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C3 Bốn là, Năm là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C4 Ghép vai trò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C5 b) Một là, Hai là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C6 b) Ba là, Bốn là   ·   </a:t>
            </a:r>
            <a:r>
              <a:rPr sz="1211" b="0" i="0">
                <a:solidFill>
                  <a:srgbClr val="2B2622"/>
                </a:solidFill>
                <a:latin typeface="Arial"/>
              </a:rPr>
              <a:t>C7 Khái quát phần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50" y="3924300"/>
            <a:ext cx="3057525" cy="857250"/>
          </a:xfrm>
          <a:prstGeom prst="roundRect">
            <a:avLst>
              <a:gd name="adj" fmla="val 12000"/>
            </a:avLst>
          </a:prstGeom>
          <a:solidFill>
            <a:srgbClr val="FFFBF1"/>
          </a:solidFill>
          <a:ln w="14287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350" rIns="133350" tIns="76200" bIns="76200"/>
          <a:lstStyle/>
          <a:p>
            <a:pPr algn="l"/>
            <a:r>
              <a:rPr sz="1567" b="1" i="0">
                <a:solidFill>
                  <a:srgbClr val="1F3A5F"/>
                </a:solidFill>
                <a:latin typeface="Arial"/>
              </a:rPr>
              <a:t>X1  </a:t>
            </a:r>
            <a:r>
              <a:rPr sz="1282" b="1" i="0">
                <a:solidFill>
                  <a:srgbClr val="2B2622"/>
                </a:solidFill>
                <a:latin typeface="Arial"/>
              </a:rPr>
              <a:t>Quyền lực thuộc về nhân dân</a:t>
            </a:r>
          </a:p>
          <a:p>
            <a:pPr algn="l"/>
            <a:r>
              <a:rPr sz="1139" b="0" i="0">
                <a:solidFill>
                  <a:srgbClr val="6B6B6B"/>
                </a:solidFill>
                <a:latin typeface="Arial"/>
              </a:rPr>
              <a:t>A4 → A6 · B3 · K1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43375" y="3924300"/>
            <a:ext cx="3057525" cy="857250"/>
          </a:xfrm>
          <a:prstGeom prst="roundRect">
            <a:avLst>
              <a:gd name="adj" fmla="val 12000"/>
            </a:avLst>
          </a:prstGeom>
          <a:solidFill>
            <a:srgbClr val="FFFBF1"/>
          </a:solidFill>
          <a:ln w="14287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350" rIns="133350" tIns="76200" bIns="76200"/>
          <a:lstStyle/>
          <a:p>
            <a:pPr algn="l"/>
            <a:r>
              <a:rPr sz="1567" b="1" i="0">
                <a:solidFill>
                  <a:srgbClr val="1F3A5F"/>
                </a:solidFill>
                <a:latin typeface="Arial"/>
              </a:rPr>
              <a:t>X2  </a:t>
            </a:r>
            <a:r>
              <a:rPr sz="1282" b="1" i="0">
                <a:solidFill>
                  <a:srgbClr val="2B2622"/>
                </a:solidFill>
                <a:latin typeface="Arial"/>
              </a:rPr>
              <a:t>Dân chủ gắn với pháp luật, kỷ cương</a:t>
            </a:r>
          </a:p>
          <a:p>
            <a:pPr algn="l"/>
            <a:r>
              <a:rPr sz="1139" b="0" i="0">
                <a:solidFill>
                  <a:srgbClr val="6B6B6B"/>
                </a:solidFill>
                <a:latin typeface="Arial"/>
              </a:rPr>
              <a:t>A3 → A5 · A7 · B3 · B5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0" y="3924300"/>
            <a:ext cx="3057525" cy="857250"/>
          </a:xfrm>
          <a:prstGeom prst="roundRect">
            <a:avLst>
              <a:gd name="adj" fmla="val 12000"/>
            </a:avLst>
          </a:prstGeom>
          <a:solidFill>
            <a:srgbClr val="FFFBF1"/>
          </a:solidFill>
          <a:ln w="14287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350" rIns="133350" tIns="76200" bIns="76200"/>
          <a:lstStyle/>
          <a:p>
            <a:pPr algn="l"/>
            <a:r>
              <a:rPr sz="1567" b="1" i="0">
                <a:solidFill>
                  <a:srgbClr val="1F3A5F"/>
                </a:solidFill>
                <a:latin typeface="Arial"/>
              </a:rPr>
              <a:t>X3  </a:t>
            </a:r>
            <a:r>
              <a:rPr sz="1282" b="1" i="0">
                <a:solidFill>
                  <a:srgbClr val="2B2622"/>
                </a:solidFill>
                <a:latin typeface="Arial"/>
              </a:rPr>
              <a:t>Phân công – phối hợp – kiểm soát quyền lực</a:t>
            </a:r>
          </a:p>
          <a:p>
            <a:pPr algn="l"/>
            <a:r>
              <a:rPr sz="1139" b="0" i="0">
                <a:solidFill>
                  <a:srgbClr val="6B6B6B"/>
                </a:solidFill>
                <a:latin typeface="Arial"/>
              </a:rPr>
              <a:t>A6 → B1 · B2 · B3 · B4 · C5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087100" y="3924300"/>
            <a:ext cx="3057525" cy="857250"/>
          </a:xfrm>
          <a:prstGeom prst="roundRect">
            <a:avLst>
              <a:gd name="adj" fmla="val 12000"/>
            </a:avLst>
          </a:prstGeom>
          <a:solidFill>
            <a:srgbClr val="FFFBF1"/>
          </a:solidFill>
          <a:ln w="14287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350" rIns="133350" tIns="76200" bIns="76200"/>
          <a:lstStyle/>
          <a:p>
            <a:pPr algn="l"/>
            <a:r>
              <a:rPr sz="1567" b="1" i="0">
                <a:solidFill>
                  <a:srgbClr val="1F3A5F"/>
                </a:solidFill>
                <a:latin typeface="Arial"/>
              </a:rPr>
              <a:t>X4  </a:t>
            </a:r>
            <a:r>
              <a:rPr sz="1282" b="1" i="0">
                <a:solidFill>
                  <a:srgbClr val="2B2622"/>
                </a:solidFill>
                <a:latin typeface="Arial"/>
              </a:rPr>
              <a:t>Dân biết, dân bàn, dân làm, dân kiểm tra</a:t>
            </a:r>
          </a:p>
          <a:p>
            <a:pPr algn="l"/>
            <a:r>
              <a:rPr sz="1139" b="0" i="0">
                <a:solidFill>
                  <a:srgbClr val="6B6B6B"/>
                </a:solidFill>
                <a:latin typeface="Arial"/>
              </a:rPr>
              <a:t>A7 → B4 · C3 · K1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563725" y="3924300"/>
            <a:ext cx="3057525" cy="857250"/>
          </a:xfrm>
          <a:prstGeom prst="roundRect">
            <a:avLst>
              <a:gd name="adj" fmla="val 12000"/>
            </a:avLst>
          </a:prstGeom>
          <a:solidFill>
            <a:srgbClr val="FFFBF1"/>
          </a:solidFill>
          <a:ln w="14287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350" rIns="133350" tIns="76200" bIns="76200"/>
          <a:lstStyle/>
          <a:p>
            <a:pPr algn="l"/>
            <a:r>
              <a:rPr sz="1567" b="1" i="0">
                <a:solidFill>
                  <a:srgbClr val="1F3A5F"/>
                </a:solidFill>
                <a:latin typeface="Arial"/>
              </a:rPr>
              <a:t>X5  </a:t>
            </a:r>
            <a:r>
              <a:rPr sz="1282" b="1" i="0">
                <a:solidFill>
                  <a:srgbClr val="2B2622"/>
                </a:solidFill>
                <a:latin typeface="Arial"/>
              </a:rPr>
              <a:t>Kinh tế</a:t>
            </a:r>
          </a:p>
          <a:p>
            <a:pPr algn="l"/>
            <a:r>
              <a:rPr sz="1139" b="0" i="0">
                <a:solidFill>
                  <a:srgbClr val="6B6B6B"/>
                </a:solidFill>
                <a:latin typeface="Arial"/>
              </a:rPr>
              <a:t>A8 → C1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50" y="4962525"/>
            <a:ext cx="3057525" cy="857250"/>
          </a:xfrm>
          <a:prstGeom prst="roundRect">
            <a:avLst>
              <a:gd name="adj" fmla="val 12000"/>
            </a:avLst>
          </a:prstGeom>
          <a:solidFill>
            <a:srgbClr val="FFFBF1"/>
          </a:solidFill>
          <a:ln w="14287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350" rIns="133350" tIns="76200" bIns="76200"/>
          <a:lstStyle/>
          <a:p>
            <a:pPr algn="l"/>
            <a:r>
              <a:rPr sz="1567" b="1" i="0">
                <a:solidFill>
                  <a:srgbClr val="1F3A5F"/>
                </a:solidFill>
                <a:latin typeface="Arial"/>
              </a:rPr>
              <a:t>X6  </a:t>
            </a:r>
            <a:r>
              <a:rPr sz="1282" b="1" i="0">
                <a:solidFill>
                  <a:srgbClr val="2B2622"/>
                </a:solidFill>
                <a:latin typeface="Arial"/>
              </a:rPr>
              <a:t>Dân trí</a:t>
            </a:r>
          </a:p>
          <a:p>
            <a:pPr algn="l"/>
            <a:r>
              <a:rPr sz="1139" b="0" i="0">
                <a:solidFill>
                  <a:srgbClr val="6B6B6B"/>
                </a:solidFill>
                <a:latin typeface="Arial"/>
              </a:rPr>
              <a:t>A1 → C3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43375" y="4962525"/>
            <a:ext cx="3057525" cy="857250"/>
          </a:xfrm>
          <a:prstGeom prst="roundRect">
            <a:avLst>
              <a:gd name="adj" fmla="val 12000"/>
            </a:avLst>
          </a:prstGeom>
          <a:solidFill>
            <a:srgbClr val="FFFBF1"/>
          </a:solidFill>
          <a:ln w="14287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350" rIns="133350" tIns="76200" bIns="76200"/>
          <a:lstStyle/>
          <a:p>
            <a:pPr algn="l"/>
            <a:r>
              <a:rPr sz="1567" b="1" i="0">
                <a:solidFill>
                  <a:srgbClr val="1F3A5F"/>
                </a:solidFill>
                <a:latin typeface="Arial"/>
              </a:rPr>
              <a:t>X7  </a:t>
            </a:r>
            <a:r>
              <a:rPr sz="1282" b="1" i="0">
                <a:solidFill>
                  <a:srgbClr val="2B2622"/>
                </a:solidFill>
                <a:latin typeface="Arial"/>
              </a:rPr>
              <a:t>Tham nhũng</a:t>
            </a:r>
          </a:p>
          <a:p>
            <a:pPr algn="l"/>
            <a:r>
              <a:rPr sz="1139" b="0" i="0">
                <a:solidFill>
                  <a:srgbClr val="6B6B6B"/>
                </a:solidFill>
                <a:latin typeface="Arial"/>
              </a:rPr>
              <a:t>B1 → C6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20000" y="4962525"/>
            <a:ext cx="3057525" cy="857250"/>
          </a:xfrm>
          <a:prstGeom prst="roundRect">
            <a:avLst>
              <a:gd name="adj" fmla="val 12000"/>
            </a:avLst>
          </a:prstGeom>
          <a:solidFill>
            <a:srgbClr val="FFFBF1"/>
          </a:solidFill>
          <a:ln w="14287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350" rIns="133350" tIns="76200" bIns="76200"/>
          <a:lstStyle/>
          <a:p>
            <a:pPr algn="l"/>
            <a:r>
              <a:rPr sz="1567" b="1" i="0">
                <a:solidFill>
                  <a:srgbClr val="1F3A5F"/>
                </a:solidFill>
                <a:latin typeface="Arial"/>
              </a:rPr>
              <a:t>X8  </a:t>
            </a:r>
            <a:r>
              <a:rPr sz="1282" b="1" i="0">
                <a:solidFill>
                  <a:srgbClr val="2B2622"/>
                </a:solidFill>
                <a:latin typeface="Arial"/>
              </a:rPr>
              <a:t>Lấy dân làm gốc</a:t>
            </a:r>
          </a:p>
          <a:p>
            <a:pPr algn="l"/>
            <a:r>
              <a:rPr sz="1139" b="0" i="0">
                <a:solidFill>
                  <a:srgbClr val="6B6B6B"/>
                </a:solidFill>
                <a:latin typeface="Arial"/>
              </a:rPr>
              <a:t>A2 → A9 · K1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087100" y="4962525"/>
            <a:ext cx="3057525" cy="857250"/>
          </a:xfrm>
          <a:prstGeom prst="roundRect">
            <a:avLst>
              <a:gd name="adj" fmla="val 12000"/>
            </a:avLst>
          </a:prstGeom>
          <a:solidFill>
            <a:srgbClr val="FFFBF1"/>
          </a:solidFill>
          <a:ln w="14287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350" rIns="133350" tIns="76200" bIns="76200"/>
          <a:lstStyle/>
          <a:p>
            <a:pPr algn="l"/>
            <a:r>
              <a:rPr sz="1567" b="1" i="0">
                <a:solidFill>
                  <a:srgbClr val="1F3A5F"/>
                </a:solidFill>
                <a:latin typeface="Arial"/>
              </a:rPr>
              <a:t>X9  </a:t>
            </a:r>
            <a:r>
              <a:rPr sz="1282" b="1" i="0">
                <a:solidFill>
                  <a:srgbClr val="2B2622"/>
                </a:solidFill>
                <a:latin typeface="Arial"/>
              </a:rPr>
              <a:t>Bản chất giai cấp công nhân</a:t>
            </a:r>
          </a:p>
          <a:p>
            <a:pPr algn="l"/>
            <a:r>
              <a:rPr sz="1139" b="0" i="0">
                <a:solidFill>
                  <a:srgbClr val="6B6B6B"/>
                </a:solidFill>
                <a:latin typeface="Arial"/>
              </a:rPr>
              <a:t>B6 → C5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563725" y="4962525"/>
            <a:ext cx="3057525" cy="857250"/>
          </a:xfrm>
          <a:prstGeom prst="roundRect">
            <a:avLst>
              <a:gd name="adj" fmla="val 12000"/>
            </a:avLst>
          </a:prstGeom>
          <a:solidFill>
            <a:srgbClr val="FFFBF1"/>
          </a:solidFill>
          <a:ln w="14287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3350" rIns="133350" tIns="76200" bIns="76200"/>
          <a:lstStyle/>
          <a:p>
            <a:pPr algn="l"/>
            <a:r>
              <a:rPr sz="1567" b="1" i="0">
                <a:solidFill>
                  <a:srgbClr val="1F3A5F"/>
                </a:solidFill>
                <a:latin typeface="Arial"/>
              </a:rPr>
              <a:t>X10  </a:t>
            </a:r>
            <a:r>
              <a:rPr sz="1282" b="1" i="0">
                <a:solidFill>
                  <a:srgbClr val="2B2622"/>
                </a:solidFill>
                <a:latin typeface="Arial"/>
              </a:rPr>
              <a:t>Quốc hội – cơ quan quyền lực cao nhất</a:t>
            </a:r>
          </a:p>
          <a:p>
            <a:pPr algn="l"/>
            <a:r>
              <a:rPr sz="1139" b="0" i="0">
                <a:solidFill>
                  <a:srgbClr val="6B6B6B"/>
                </a:solidFill>
                <a:latin typeface="Arial"/>
              </a:rPr>
              <a:t>A6 → C5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6750" y="6200775"/>
            <a:ext cx="3924300" cy="1495425"/>
          </a:xfrm>
          <a:prstGeom prst="roundRect">
            <a:avLst>
              <a:gd name="adj" fmla="val 7643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1353" b="1" i="0">
                <a:solidFill>
                  <a:srgbClr val="8C2F2B"/>
                </a:solidFill>
                <a:latin typeface="Arial"/>
              </a:rPr>
              <a:t>Bản chất:</a:t>
            </a:r>
            <a:r>
              <a:rPr sz="1353" b="0" i="0">
                <a:solidFill>
                  <a:srgbClr val="2B2622"/>
                </a:solidFill>
                <a:latin typeface="Arial"/>
              </a:rPr>
              <a:t> tất cả quyền lực thuộc về nhân dân — dân là gốc, là chủ, dân làm chủ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67200" y="605790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10150" y="6200775"/>
            <a:ext cx="3924300" cy="1495425"/>
          </a:xfrm>
          <a:prstGeom prst="roundRect">
            <a:avLst>
              <a:gd name="adj" fmla="val 7643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1353" b="1" i="0">
                <a:solidFill>
                  <a:srgbClr val="8C2F2B"/>
                </a:solidFill>
                <a:latin typeface="Arial"/>
              </a:rPr>
              <a:t>Nhà nước pháp quyền XHCN:</a:t>
            </a:r>
            <a:r>
              <a:rPr sz="1353" b="0" i="0">
                <a:solidFill>
                  <a:srgbClr val="2B2622"/>
                </a:solidFill>
                <a:latin typeface="Arial"/>
              </a:rPr>
              <a:t> sáu đặc điểm; vừa chung, vừa khác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10600" y="605790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53550" y="6200775"/>
            <a:ext cx="3924300" cy="1495425"/>
          </a:xfrm>
          <a:prstGeom prst="roundRect">
            <a:avLst>
              <a:gd name="adj" fmla="val 7643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1353" b="1" i="0">
                <a:solidFill>
                  <a:srgbClr val="8C2F2B"/>
                </a:solidFill>
                <a:latin typeface="Arial"/>
              </a:rPr>
              <a:t>Định hướng:</a:t>
            </a:r>
            <a:r>
              <a:rPr sz="1353" b="0" i="0">
                <a:solidFill>
                  <a:srgbClr val="2B2622"/>
                </a:solidFill>
                <a:latin typeface="Arial"/>
              </a:rPr>
              <a:t> 5 giải pháp phát huy dân chủ + 4 giải pháp hoàn thiện Nhà nước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696950" y="6200775"/>
            <a:ext cx="3924300" cy="1495425"/>
          </a:xfrm>
          <a:prstGeom prst="roundRect">
            <a:avLst>
              <a:gd name="adj" fmla="val 7643"/>
            </a:avLst>
          </a:prstGeom>
          <a:solidFill>
            <a:srgbClr val="FFFBF1"/>
          </a:solidFill>
          <a:ln w="14287">
            <a:solidFill>
              <a:srgbClr val="B8A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1353" b="1" i="0">
                <a:solidFill>
                  <a:srgbClr val="8C2F2B"/>
                </a:solidFill>
                <a:latin typeface="Arial"/>
              </a:rPr>
              <a:t>Trách nhiệm công dân:</a:t>
            </a:r>
            <a:r>
              <a:rPr sz="1353" b="0" i="0">
                <a:solidFill>
                  <a:srgbClr val="2B2622"/>
                </a:solidFill>
                <a:latin typeface="Arial"/>
              </a:rPr>
              <a:t> hiểu biết, tuân thủ pháp luật · tham gia quản lý xã hội tùy trách nhiệm, nghĩa vụ · dân biết, bàn, làm, kiểm tra · nâng cao văn hóa pháp luật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297400" y="605790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830675" y="6057900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6750" y="8448675"/>
            <a:ext cx="9477375" cy="542925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209550" tIns="133350" bIns="133350"/>
          <a:lstStyle/>
          <a:p>
            <a:pPr algn="l"/>
            <a:r>
              <a:rPr sz="1353" b="0" i="0">
                <a:solidFill>
                  <a:srgbClr val="1F3A5F"/>
                </a:solidFill>
                <a:latin typeface="Arial"/>
              </a:rPr>
              <a:t>M1: ? “dân chủ XHCN” được xác định thế nào?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848975" y="8077200"/>
            <a:ext cx="6772275" cy="1285875"/>
          </a:xfrm>
          <a:prstGeom prst="roundRect">
            <a:avLst>
              <a:gd name="adj" fmla="val 17777"/>
            </a:avLst>
          </a:prstGeom>
          <a:solidFill>
            <a:srgbClr val="8C2F2B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66700" rIns="266700" tIns="190500" bIns="190500"/>
          <a:lstStyle/>
          <a:p>
            <a:pPr algn="ctr"/>
            <a:r>
              <a:rPr sz="1563" b="1" i="0">
                <a:solidFill>
                  <a:srgbClr val="FFFFFF"/>
                </a:solidFill>
                <a:latin typeface="Arial"/>
              </a:rPr>
              <a:t>LẤY DÂN LÀM GỐC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848975" y="8077200"/>
            <a:ext cx="6772275" cy="1285875"/>
          </a:xfrm>
          <a:prstGeom prst="roundRect">
            <a:avLst>
              <a:gd name="adj" fmla="val 17777"/>
            </a:avLst>
          </a:prstGeom>
          <a:solidFill>
            <a:srgbClr val="D9B9B0"/>
          </a:solidFill>
          <a:ln w="381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559" b="1" i="0">
                <a:solidFill>
                  <a:srgbClr val="8C2F2B"/>
                </a:solidFill>
                <a:latin typeface="Arial"/>
              </a:rPr>
              <a:t>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297400" y="7934325"/>
            <a:ext cx="419100" cy="28575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9050">
            <a:solidFill>
              <a:srgbClr val="F4E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39" b="1" i="0">
                <a:solidFill>
                  <a:srgbClr val="FFFFFF"/>
                </a:solidFill>
                <a:latin typeface="Arial"/>
              </a:rPr>
              <a:t>X8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3350" y="133350"/>
            <a:ext cx="18021300" cy="10020300"/>
          </a:xfrm>
          <a:prstGeom prst="rect">
            <a:avLst/>
          </a:prstGeom>
          <a:noFill/>
          <a:ln w="23812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14500" y="2857500"/>
            <a:ext cx="14859000" cy="3619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15" b="1" i="0">
                <a:solidFill>
                  <a:srgbClr val="8C2F2B"/>
                </a:solidFill>
                <a:latin typeface="Georgia"/>
              </a:rPr>
              <a:t>Cảm ơn thầy/cô và các bạn — Mời đặt câu hỏi</a:t>
            </a:r>
          </a:p>
        </p:txBody>
      </p:sp>
      <p:sp>
        <p:nvSpPr>
          <p:cNvPr id="4" name="Rectangle 3"/>
          <p:cNvSpPr/>
          <p:nvPr/>
        </p:nvSpPr>
        <p:spPr>
          <a:xfrm>
            <a:off x="7429500" y="6667500"/>
            <a:ext cx="3429000" cy="47625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 · Dân chủ XHCN ở Việt Nam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 · Nhà nước pháp quyền XHCN Việt Nam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63250" y="955357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8C2F2B"/>
          </a:solidFill>
          <a:ln w="14287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 · Phát huy &amp; xây dựng hiện nay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6500" y="6734175"/>
            <a:ext cx="13335000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rIns="209550" tIns="133350" bIns="133350"/>
          <a:lstStyle/>
          <a:p>
            <a:pPr algn="ctr"/>
            <a:r>
              <a:rPr sz="2137" b="0" i="0">
                <a:solidFill>
                  <a:srgbClr val="6B6B6B"/>
                </a:solidFill>
                <a:latin typeface="Arial"/>
              </a:rPr>
              <a:t>Tài liệu tham khảo: Bộ GD&amp;ĐT (2021), Chủ nghĩa xã hội khoa học, Nxb. Chính trị quốc gia Sự thật, tr.149–164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