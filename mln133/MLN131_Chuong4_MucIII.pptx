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chừa chỗ trống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đáp án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phân nhóm · 1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đáp án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B1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B3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B4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B5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B6 · 5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· 9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C4 · 3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C5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C6 · 10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C7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K1 · 17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K2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700" b="1" i="0">
                <a:solidFill>
                  <a:srgbClr val="8C2F2B"/>
                </a:solidFill>
                <a:latin typeface="Georgia"/>
              </a:rPr>
              <a:t>Dân chủ xã hội chủ nghĩa và Nhà nước pháp quyền xã hội chủ nghĩa ở Việt Nam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6275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MLN131 · Chương 4 · Mục III · Nhóm [..]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6500" y="758190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[Họ tên – MSSV] ×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Một chi tiết đáng chú 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77290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030450" y="51244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030450" y="51863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224962" y="5248275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9144000" y="5248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44000" y="5248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1945 — Chế độ dân chủ nhân dân được xác lập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320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1976 — Tên nước: Cộng hòa xã hội chủ nghĩa Việt Nam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96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hầu như chưa dùng cụm từ “dân chủ xã hội chủ nghĩa”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Cụm từ ấy được xác định thế nào, từ khi nào?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Trước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48038" y="53530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67425" y="62055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57925" y="62055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91275" y="5862638"/>
            <a:ext cx="0" cy="342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912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9127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030075" y="47863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896725" y="47863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896725" y="4786312"/>
            <a:ext cx="0" cy="809626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8967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030075" y="63912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896725" y="63912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896725" y="5862638"/>
            <a:ext cx="0" cy="528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8967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3876675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dùng: “làm chủ tập thể XHCN” + “nắm vững chuyên chính vô sản”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5486400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dân chủ XHCN, quan hệ với nhà nước pháp quyền XHCN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xác định rõ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9525" y="4210050"/>
            <a:ext cx="30194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 có chung chữ nào?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đã có, nhưng NHẬN THỨC về dân chủ XHCN chưa được xác định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258675" y="3876675"/>
            <a:ext cx="53625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dân chủ phù hợp kinh tế, xã hội, văn hóa, đạo đức VN; gắn pháp luật, kỷ cương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ra cụ thể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258675" y="5867400"/>
            <a:ext cx="53625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sinh · dân trí · dân quyền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đúng vị trí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Đại hội VI (1986)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4688" y="4543425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00725" y="52006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91225" y="52006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200650"/>
            <a:ext cx="0" cy="5429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24575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534775" y="378618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401425" y="378618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401425" y="3786188"/>
            <a:ext cx="0" cy="195738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40142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692312" y="5962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534775" y="6881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401425" y="6881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01425" y="6010275"/>
            <a:ext cx="0" cy="8715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1401425" y="5876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14688" y="5791200"/>
            <a:ext cx="0" cy="666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3838575"/>
            <a:ext cx="509587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Đường lối đổi mới toàn diện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4676775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huy dân chủ → tạo động lực mạnh mẽ cho phát triển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5895975"/>
            <a:ext cx="50958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vị trí của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xác định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4267200"/>
            <a:ext cx="4591050" cy="790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So với trước: dân chủ được gọi tên là gì?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= ĐỘNG LỰC · Lấy dân làm gốc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3" name="Rounded Rectangular Callout 32"/>
          <p:cNvSpPr/>
          <p:nvPr/>
        </p:nvSpPr>
        <p:spPr>
          <a:xfrm>
            <a:off x="11763375" y="3000375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“…quán triệt tư tưởng ‘lấy dân làm gốc’, xây dựng và phát huy quyền làm chủ của nhân dân lao động”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991975" y="2857500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763375" y="4876800"/>
            <a:ext cx="5857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Bài học: “cách mạng là sự nghiệp của quần chúng”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11763375" y="6096000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“ở đâu, nhân dân lao động có ý thức làm chủ và được làm chủ thật sự, thì ở đấy xuất hiện phong trào cách mạng”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991975" y="5953125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Qua mỗi kỳ đại hội thời kỳ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337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67550" y="4033838"/>
            <a:ext cx="16668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34238" y="4033838"/>
            <a:ext cx="3333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67575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7575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7575" y="3967162"/>
            <a:ext cx="4000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01325" y="3967162"/>
            <a:ext cx="2762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877550" y="3967162"/>
            <a:ext cx="3333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0888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910888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10888" y="4033838"/>
            <a:ext cx="280987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255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06788" y="5362575"/>
            <a:ext cx="0" cy="10477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206788" y="64103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224962" y="6543675"/>
            <a:ext cx="69818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144000" y="65436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65436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800850" y="5543550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800850" y="5419725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00850" y="5419725"/>
            <a:ext cx="22383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39225" y="5419725"/>
            <a:ext cx="109537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148762" y="5200650"/>
            <a:ext cx="0" cy="2190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973050" y="6048375"/>
            <a:ext cx="528638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501688" y="604837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3635038" y="4167188"/>
            <a:ext cx="0" cy="1881187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3635038" y="4033838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635038" y="4033838"/>
            <a:ext cx="1090612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6750" y="3124200"/>
            <a:ext cx="282892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Đặc trưng của CNXH Việt Nam: do nhân dân làm chủ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0525" y="2933700"/>
            <a:ext cx="28289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Mục tiêu tổng quát: Dân giàu, nước mạnh,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CHỦ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công bằng, văn minh</a:t>
            </a:r>
          </a:p>
        </p:txBody>
      </p:sp>
      <p:sp>
        <p:nvSpPr>
          <p:cNvPr id="38" name="Rounded Rectangular Callout 37"/>
          <p:cNvSpPr/>
          <p:nvPr/>
        </p:nvSpPr>
        <p:spPr>
          <a:xfrm>
            <a:off x="7734300" y="2800350"/>
            <a:ext cx="2828925" cy="2333625"/>
          </a:xfrm>
          <a:prstGeom prst="wedgeRoundRectCallout">
            <a:avLst>
              <a:gd name="adj1" fmla="val -32491"/>
              <a:gd name="adj2" fmla="val 56530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“Dân chủ XHCN là bản chất của chế độ ta, vừa là mục tiêu, vừa là động lực…”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2900" y="2657475"/>
            <a:ext cx="647700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Đảng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258550" y="3314700"/>
            <a:ext cx="282892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ở mỗi cấp, trên tất cả các lĩnh vực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792325" y="2743200"/>
            <a:ext cx="2828925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liền với kỷ luật, kỷ cương; thể chế hóa bằng pháp luật, được pháp luật bảo đảm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5705475"/>
            <a:ext cx="122682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bản chất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xác định ·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gắn với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ngày càng được nhận thức, phát triển, hoàn thiện đúng đắn, phù hợp hơn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ular Callout 4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6" name="Rounded Rectangular Callout 4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8" name="Rounded Rectangular Callout 4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0" name="Rounded Rectangular Callout 4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972175" y="79914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62675" y="79914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96025" y="5862638"/>
            <a:ext cx="0" cy="21288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2125325" y="762952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991975" y="76295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991975" y="5862638"/>
            <a:ext cx="0" cy="176688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ular Callout 5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66" name="Rounded Rectangular Callout 6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8" name="Rounded Rectangular Callout 6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0" name="Rounded Rectangular Callout 6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Bốn nội dung của dân chủ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7958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7958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795838"/>
            <a:ext cx="0" cy="1290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62198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296775" y="47910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163425" y="47910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163425" y="4791075"/>
            <a:ext cx="0" cy="12954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16342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268200" y="6010275"/>
            <a:ext cx="2190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163425" y="6010275"/>
            <a:ext cx="1047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163425" y="6010275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63425" y="6115050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5019675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6750" y="40767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MỤC TIÊU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dân giàu, nước mạnh, dân chủ, công bằng, văn minh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56769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BẢN CHẤT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nhân dân làm chủ, quyền lực thuộc về nhân dân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67475" y="3524250"/>
            <a:ext cx="53530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mươi lăm năm đổi mới: bản chất · mục tiêu · động lực · gắn với pháp luật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phải được thực hiện ở TẤT CẢ CÁC CẤP, MỌI LĨNH VỰC: kinh tế · chính trị · văn hóa · xã hội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525375" y="42672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ĐỘNG LỰC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phát huy sức mạnh nhân dân, toàn dân tộc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25375" y="54864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GẮN VỚI PHÁP LUẬT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đi đôi với kỷ luật, kỷ cương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700" y="1790700"/>
            <a:ext cx="31051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Chia 6 thẻ thành 2 nhóm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4479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" y="32861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41338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50" y="49720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50" y="58102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66484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29162" y="5200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558838" y="50101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29162" y="6657975"/>
            <a:ext cx="0" cy="1952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29162" y="68532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228975" y="6986588"/>
            <a:ext cx="150018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95625" y="698658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5625" y="6986588"/>
            <a:ext cx="0" cy="300037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9162" y="66579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29162" y="67151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29162" y="6772275"/>
            <a:ext cx="45767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05925" y="6772275"/>
            <a:ext cx="809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558838" y="6467475"/>
            <a:ext cx="0" cy="1714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58838" y="6638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467850" y="6772275"/>
            <a:ext cx="40909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386888" y="6772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2611100" y="8067675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16668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28860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1148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GIÁN TIẾP — dân chủ đại diện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6425" y="1857375"/>
            <a:ext cx="81248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96425" y="26955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96425" y="39243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TRỰC TIẾP — dân tự hành động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7353300"/>
            <a:ext cx="48577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hợp, kiểm soát: lập pháp – hành pháp – tư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249275" y="7534275"/>
            <a:ext cx="43719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Bảy chữ “dân”: tất cả quyền lực thuộc về nhân dân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Thực tiễn xây dựng đất nước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1767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1767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176712"/>
            <a:ext cx="0" cy="14144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5591175"/>
            <a:ext cx="2571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57900" y="5591175"/>
            <a:ext cx="666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24575" y="5591175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4575" y="5657850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00725" y="68103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91225" y="68103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24575" y="5857875"/>
            <a:ext cx="0" cy="952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12457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96775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163425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163425" y="3986212"/>
            <a:ext cx="0" cy="1604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296775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163425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163425" y="5400675"/>
            <a:ext cx="0" cy="190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296775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163425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163425" y="5857875"/>
            <a:ext cx="0" cy="9572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16342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267075"/>
            <a:ext cx="50958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Yêu cầu tất yếu: củng cố điều kiện đảm bảo quyền làm chủ; chăm lo đời sống vật chất, tinh thần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5257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làm chủ ngày càng mở rộng, hoạt động có hiệu quả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64770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Ý thức làm chủ, trách nhiệm công dân ngày càng được đề cao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62800" y="3800475"/>
            <a:ext cx="39719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“quyền” luôn đi cùng chữ gì?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“Mọi đường lối, chính sách của Đảng và pháp luật của Nhà nước đều vì lợi ích của nhân dân, có sự tham gia ý kiến của nhân dân”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525375" y="3267075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Mọi công dân có quyền tham gia quản lý xã hội bằng nhiều cách, tùy trách nhiệm và nghĩa vụ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525375" y="4876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công dân gắn liền kỷ cương, thể chế hóa bằng luật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525375" y="60960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 chế dân chủ từ cơ sở đến Trung ương: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BIẾT · DÂN BÀN · DÂN LÀM · DÂN KIỂM TRA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Những trở ngại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05250" y="59721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905250" y="60293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05250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382750" y="5743575"/>
            <a:ext cx="0" cy="2095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382750" y="59531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9224962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144000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6750" y="32004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Xuất phát từ nền kinh tế kém phát triển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0386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Hậu quả chiến tranh tàn phá nặng nề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48768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Tiêu cực xã hội chưa khắc phục triệt để → suy giảm động lực phát triển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0575" y="4324350"/>
            <a:ext cx="14763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Mặt khác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44250" y="34290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“Diễn biến hòa bình”, bạo loạn, lật đổ; chiêu bài “dân chủ”, “nhân quyền”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44250" y="46482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“Tự diễn biến”, “tự chuyển hóa” — hết sức phức tạp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Đang là TRỞ NGẠI đối với thực hiện dân chủ ở nước ta hiện nay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1 — Dân chủ xã hội chủ nghĩa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62600" y="415766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53100" y="415766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450" y="4157662"/>
            <a:ext cx="0" cy="3000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86450" y="4457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626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5310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864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62600" y="6829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53100" y="6829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886450" y="4724400"/>
            <a:ext cx="0" cy="21050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520612" y="4352925"/>
            <a:ext cx="204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401550" y="4352925"/>
            <a:ext cx="1190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01550" y="4352925"/>
            <a:ext cx="0" cy="1190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401550" y="4471988"/>
            <a:ext cx="0" cy="1190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5349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40155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4015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534900" y="66389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401550" y="66389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401550" y="4724400"/>
            <a:ext cx="0" cy="19145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44000" y="5895975"/>
            <a:ext cx="0" cy="7620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6750" y="3429000"/>
            <a:ext cx="48577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và trong Đổi mới: từ “chưa xác định” → bản chất · mục tiêu · động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Tất cả quyền lực thuộc về nhân dân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62960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nội dung · thực hiện ở mọi cấp, mọi lĩnh vực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tốt đẹp, tính ưu việt của nền dân chủ XHCN Việt Nam càng ngày càng thể hiện giá trị LẤY DÂN LÀM GỐC — nhân dân thực sự trở thành người làm chủ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9350" y="6038850"/>
            <a:ext cx="58293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đảm quyền làm chủ từ chính trị, kinh tế đến văn hóa, xã hội; phát huy tính tích cực, sáng tạo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63500" y="38195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 + trực tiếp · dân biết, bàn, làm, kiểm tra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76350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Những trở ngại đối với thực hiện dân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763500" y="6296025"/>
            <a:ext cx="485775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VI: lấy dân làm gốc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Cương lĩnh xây dựng đất nước trong thời kỳ quá độ lên CNXH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57950" y="3981450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48450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81800" y="3981450"/>
            <a:ext cx="0" cy="191928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81800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8180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57950" y="50196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48450" y="50196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81800" y="5019675"/>
            <a:ext cx="0" cy="8810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1800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8180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57950" y="6434138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8450" y="64341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781800" y="6167438"/>
            <a:ext cx="0" cy="2667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781800" y="60340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8180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30025" y="3981450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496675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96675" y="3981450"/>
            <a:ext cx="0" cy="191928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496675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22045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630025" y="5405438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96675" y="54054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496675" y="5405438"/>
            <a:ext cx="0" cy="495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496675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22045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1630025" y="6810375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496675" y="6810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96675" y="6167438"/>
            <a:ext cx="0" cy="6429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96675" y="60340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22045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4575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Tối thượng của Hiến pháp và pháp luật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4686300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lợi, nghĩa vụ công dân; quyền con người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9055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trung, thống nhất + phân công các nhánh quyền lực, phân cấp →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TRÁNH LẠM QUYỀN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24700" y="3914775"/>
            <a:ext cx="4029075" cy="1085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ý: tránh lạm quyền · chịu sự giám sát · kiểm soát — cùng hướng về đâu?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24700" y="5172075"/>
            <a:ext cx="4029075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Cùng hướng tới một điều — câu trả lời ở slide kế tiếp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24700" y="5172075"/>
            <a:ext cx="4029075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868150" y="32670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bó với nhân dân; lắng nghe;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CHỊU SỰ GIÁM SÁT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868150" y="44958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KIỂM SOÁT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ngăn ngừa, trừng trị quan liêu, tham nhũng, lộng quyền, vô trách nhiệm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868150" y="60960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 dân chủ; thống nhất quyền lực; chỉ đạo thống nhất của Trung 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Nhận thức qua các kỳ Đại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852862"/>
            <a:ext cx="54769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1219" y="3852862"/>
            <a:ext cx="30956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72175" y="3821906"/>
            <a:ext cx="0" cy="3095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972175" y="3790950"/>
            <a:ext cx="0" cy="3095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72175" y="3790950"/>
            <a:ext cx="5143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772900" y="3795712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4619625"/>
            <a:ext cx="0" cy="1485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05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0200" y="6238875"/>
            <a:ext cx="58102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39238" y="62388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39238" y="62388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19675" y="7124700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658725" y="7124700"/>
            <a:ext cx="609600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6750" y="2752725"/>
            <a:ext cx="51816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Chủ trương: Nhà nước pháp quyền Việt Nam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CỦA DÂN, DO DÂN, VÌ DÂN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→ quản lý xã hội bằng pháp luật; mọi người có nghĩa vụ chấp hành Hiến pháp, pháp luật</a:t>
            </a:r>
          </a:p>
        </p:txBody>
      </p:sp>
      <p:sp>
        <p:nvSpPr>
          <p:cNvPr id="23" name="Rounded Rectangular Callout 22"/>
          <p:cNvSpPr/>
          <p:nvPr/>
        </p:nvSpPr>
        <p:spPr>
          <a:xfrm>
            <a:off x="6553200" y="3009900"/>
            <a:ext cx="5181600" cy="1571625"/>
          </a:xfrm>
          <a:prstGeom prst="wedgeRoundRectCallout">
            <a:avLst>
              <a:gd name="adj1" fmla="val -40441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“Quyền lực nhà nước là thống nhất, có sự phân công, phối hợp, kiểm soát…”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28670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XII</a:t>
            </a:r>
          </a:p>
        </p:txBody>
      </p:sp>
      <p:sp>
        <p:nvSpPr>
          <p:cNvPr id="25" name="Rounded Rectangular Callout 24"/>
          <p:cNvSpPr/>
          <p:nvPr/>
        </p:nvSpPr>
        <p:spPr>
          <a:xfrm>
            <a:off x="12439650" y="3009900"/>
            <a:ext cx="5181600" cy="1571625"/>
          </a:xfrm>
          <a:prstGeom prst="wedgeRoundRectCallout">
            <a:avLst>
              <a:gd name="adj1" fmla="val -40441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“…phân công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rành mạch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, phối hợp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chặt chẽ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và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tăng cường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kiểm soát quyền lực nhà nước”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668250" y="286702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XIII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57975" y="5334000"/>
            <a:ext cx="49720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Điểm mới của Đại hội XIII so với Đại hội XII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210300"/>
            <a:ext cx="4314825" cy="1838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tránh lạm quyền · chịu sự giám sát của nhân dân · kiểm soát, trừng trị tham nhũng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KIỂM SOÁT QUYỀN LỰC — nhận thức về Nhà nước pháp quyền ngày càng sáng tỏ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306425" y="6400800"/>
            <a:ext cx="43148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quyền lực thống nhất, có phân công, phối hợp, kiểm soát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(1–3)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952875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219700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66627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5438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3419475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Chủ trương: Nhà nước pháp quyền của dân, do dân, vì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3419475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1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Nhà nước CỦA DÂN, DO DÂN, VÌ DÂN — nhân dân lao động làm chủ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686300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vai trò tối thượng của Hiến pháp và pháp luật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686300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2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Dựa trên Hiến pháp, pháp luật; pháp luật ở VỊ TRÍ TỐI THƯỢNG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5943600"/>
            <a:ext cx="573405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XII, XIII: quyền lực thống nhất, có phân công, phối hợp, kiểm soát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5943600"/>
            <a:ext cx="57340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3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Quyền lực thống nhất; phân công rõ ràng, phối hợp nhịp nhàng, kiểm soát: lập pháp – hành pháp – tư pháp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(đang điền: 3/6)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(4–6)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395662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4054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740568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06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2486025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 dân biết, dân bàn, dân làm, dân kiểm tra · Cương lĩnh: nhà nước chịu sự giám sát của nhân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2486025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4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Đảng Cộng sản Việt Nam lãnh đạo (Điều 4 Hiến pháp 2013); nhân dân giám sát: dân biết, dân bàn, dân làm, dân kiểm 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49580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quyền lợi, nghĩa vụ công dân; bảo đảm quyền con người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49580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5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Tôn trọng quyền con người — chủ thể, trung tâm của phát triển; “nhân dân có quyền bầu và bãi miễn những đại biểu không xứng đáng”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649605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tổ chức bộ máy theo nguyên tắc tập trung dân chủ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649605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6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Tập trung dân chủ — phân công, phân cấp, phối hợp, kiểm soát; quyền lực thống nhất, chỉ đạo thống nhất của Trung ương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(6/6)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Đối chiếu với quan niệm chung về nhà nước pháp quyền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934200" y="2057400"/>
            <a:ext cx="8001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829425" y="2057400"/>
            <a:ext cx="1047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29425" y="1952625"/>
            <a:ext cx="0" cy="1047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829425" y="1847850"/>
            <a:ext cx="0" cy="1047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410325" y="1847850"/>
            <a:ext cx="4191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410325" y="2895600"/>
            <a:ext cx="13239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191375" y="3743325"/>
            <a:ext cx="5429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058025" y="37433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058025" y="3743325"/>
            <a:ext cx="0" cy="26670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58025" y="4010025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410325" y="4143375"/>
            <a:ext cx="6477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305675" y="3743325"/>
            <a:ext cx="4286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172325" y="37433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72325" y="3743325"/>
            <a:ext cx="0" cy="40100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172325" y="775335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410325" y="7886700"/>
            <a:ext cx="7620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419975" y="4581525"/>
            <a:ext cx="3143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286625" y="45815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86625" y="4581525"/>
            <a:ext cx="0" cy="19335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86625" y="651510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410325" y="6648450"/>
            <a:ext cx="8763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66750" y="1504950"/>
            <a:ext cx="56769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1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Nhà nước của dân, do dân, vì dân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236220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2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Hiến pháp, pháp luật ở vị trí tối thượng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3609975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3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Quyền lực thống nhất; phân công, phối hợp, kiểm soát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4848225"/>
            <a:ext cx="5676900" cy="108585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4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Đảng Cộng sản Việt Nam lãnh đạo; nhân dân giám sát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6750" y="611505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5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Tôn trọng quyền con người; pháp luật nghiêm minh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35330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6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Tập trung dân chủ; chỉ đạo thống nhất của Trung ương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1724025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Tất cả vì mục tiêu phục vụ nhân dân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5717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Thượng tôn pháp luật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34099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quan nhà nước phân công, phối hợp, kiểm soát lẫn nhau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42481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Pháp luật nghiêm minh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0863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Hướng tới phúc lợi; cá nhân tự do, bình đẳng, phát huy năng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5924550"/>
            <a:ext cx="984885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quan được phân quyền rõ ràng; chấp nhận trên nguyên tắc bình đẳng giữa các thế lực, giai cấp, tầng lớp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7153275"/>
            <a:ext cx="984885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Hiện nay còn những cách hiểu khác nhau. Song, được hiểu là: mọi công dân được giáo dục pháp luật, hiểu biết, tuân thủ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48525" y="8801100"/>
            <a:ext cx="38004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Đặc điểm nào KHÔNG có cặp?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2 — Nhà nước pháp quyền XHCN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57550" y="5324475"/>
            <a:ext cx="0" cy="790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57550" y="6115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57550" y="62484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2484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2484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5324475"/>
            <a:ext cx="0" cy="108585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613410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9125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4962" y="62484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44000" y="62484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62484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030450" y="4533900"/>
            <a:ext cx="0" cy="5715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6750" y="38481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CHUNG: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các tinh thần cơ bản của nhà nước pháp quyền nói chung (những cặp khớp vừa nối)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38481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KHÁC ①: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mang BẢN CHẤT GIAI CẤP CÔNG NHÂN, phục vụ lợi ích nhân dân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39650" y="3038475"/>
            <a:ext cx="518160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Đặc điểm “Đảng Cộng sản Việt Nam lãnh đạo” không có cặp trong quan niệm chung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439650" y="465772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KHÁC ②: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công cụ chủ yếu để Đảng Cộng sản Việt Nam định hướng đi lên CNXH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4770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Vừa thể hiện tinh thần chung của nhà nước pháp quyền, vừa có sự khác biệt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4770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Một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6950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0300" y="3986212"/>
            <a:ext cx="0" cy="19002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8645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7695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0300" y="5400675"/>
            <a:ext cx="0" cy="485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86450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76950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210300" y="6153150"/>
            <a:ext cx="0" cy="6619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10300" y="60198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11050" y="4595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077700" y="4595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077700" y="4595812"/>
            <a:ext cx="0" cy="12906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0777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70569" y="6205538"/>
            <a:ext cx="230981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077700" y="6205538"/>
            <a:ext cx="92869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077700" y="6112669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077700" y="6019800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144000" y="4819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66750" y="32670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Đa dạng hình thức sở hữu, thành phần kinh tế, loại hình doanh nghiệp; bảo hộ quyền chủ sở hữu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" y="48768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Luật về tài sản mới: sở hữu trí tuệ, cổ phiếu, trái phiếu…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60960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Thể chế đồng bộ 3 khâu: ban hành → vận hành, thực thi → giám sát, xử lý vi phạm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3200" y="3714750"/>
            <a:ext cx="51816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nền kinh tế kém phát triển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Hoàn thiện thể chế kinh tế thị trường định hướng XHCN → CƠ SỞ KINH TẾ VỮNG CHẮC cho dân chủ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439650" y="38766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hành chính: từ bộ máy đến thủ tục → cải thiện môi trường kinh doanh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439650" y="54864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triển đồng bộ các yếu tố thị trường; hoàn thiện pháp luật kinh doanh phù hợp Việt Nam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Hai là, Ba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258800" y="392430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258800" y="66579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667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Vững mạnh chính trị, tư tưởng, tổ chức; tự đổi mới, tự chỉnh đốn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110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trí tuệ, bản lĩnh chính trị, phẩm chất đạo đức, năng lực lãnh đạo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54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hóa sinh hoạt; tập trung dân chủ; tự phê bình và phê bình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Đảng trong sạch, vững mạnh = ĐIỀU KIỆN TIÊN QUYẾT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thi quyền dân chủ trên mọi lĩnh vực, bằng Hiến pháp, pháp luật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110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con người là GIÁ TRỊ CAO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54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Chính sách, pháp luật dựa vào ý chí, nguyện vọng nhân dân; bảo đảm danh dự, nhân phẩm bằng pháp luật và trên thực tế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Nhà nước pháp quyền vững mạnh = ĐIỀU KIỆN ĐỂ THỰC THI dân chủ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Bốn là, Năm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77675" y="31337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896850" y="69294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087350" y="69294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220700" y="6929438"/>
            <a:ext cx="0" cy="6810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220700" y="7610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220700" y="7743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514850" y="793908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597188" y="6343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67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Đổi mới mạnh mẽ phương thức hoạt động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79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đường lối, chính sách, pháp luật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Khối đoàn kết toàn dân; chăm lo đời sống nhân dân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79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vệ chính quyền, xây dựng Đảng, bảo vệ quyền lợi chính đáng của nhân dân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NÂNG CAO VAI TRÒ tổ chức chính trị – xã hội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ảnh hưởng tới đời sống tâm lý nhân dân khi đánh giá chủ trương,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67275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Công khai hóa · minh bạch hóa · dân chủ hóa thông tin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780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Cụ thể hóa quy chế tôn trọng, lắng nghe ý kiến nhân dân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7400925"/>
            <a:ext cx="3781425" cy="1457325"/>
          </a:xfrm>
          <a:prstGeom prst="roundRect">
            <a:avLst>
              <a:gd name="adj" fmla="val 784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TRÍ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văn hóa pháp luật cho toàn xã hội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67275" y="7400925"/>
            <a:ext cx="37814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đặt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3600" y="4848225"/>
            <a:ext cx="406717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dân bàn, dân làm, dân kiểm 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Năm là: hệ thống giám sát, phản biện xã hội → ĐỂ PHÁT HUY QUYỀN LÀM CHỦ của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Mỗi giải pháp giữ vai trò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81925" y="3286125"/>
            <a:ext cx="6477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429625" y="3286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62975" y="3286125"/>
            <a:ext cx="0" cy="7429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62975" y="40290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62975" y="4162425"/>
            <a:ext cx="12096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1925" y="4143375"/>
            <a:ext cx="7620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43925" y="4143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77275" y="41433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77275" y="65436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77275" y="6677025"/>
            <a:ext cx="10953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81925" y="5000625"/>
            <a:ext cx="8763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58225" y="50006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1575" y="5000625"/>
            <a:ext cx="0" cy="7048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791575" y="57054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791575" y="5838825"/>
            <a:ext cx="981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81925" y="5857875"/>
            <a:ext cx="9906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72525" y="58578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905875" y="34575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905875" y="33242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905875" y="3324225"/>
            <a:ext cx="8667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81925" y="6715125"/>
            <a:ext cx="11049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86825" y="6715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020175" y="5133975"/>
            <a:ext cx="0" cy="15811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020175" y="50006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020175" y="5000625"/>
            <a:ext cx="7524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730288" y="7058025"/>
            <a:ext cx="0" cy="80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730288" y="7138988"/>
            <a:ext cx="0" cy="809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24962" y="7219950"/>
            <a:ext cx="45053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144000" y="721995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144000" y="721995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29525" y="2066925"/>
            <a:ext cx="30289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Nối giải pháp với vai trò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2943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Một là — Thể chế kinh tế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38004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Hai là — Đảng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46577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là — Nhà nước pháp quyền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55149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là — Tổ chức chính trị – xã hội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372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Năm là — Giám sát, phản biện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39325" y="29908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vai trò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39325" y="38290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39325" y="46672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để phát huy quyền làm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39325" y="55054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để thực thi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9325" y="63436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tiên quyết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Ở VIỆT NAM HIỆN NAY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Một là, Hai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29350" y="22955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229350" y="3738562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52950" y="593883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172950" y="310991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87350" y="693896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6750" y="1762125"/>
            <a:ext cx="55245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mang bản chất giai cấp công nhân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0350" y="1762125"/>
            <a:ext cx="552450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giai cấp công nhân; gắn bó chặt chẽ với dân tộc, nhân dân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3019425"/>
            <a:ext cx="552450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Kiểm soát quyền lực nhà nước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0350" y="3019425"/>
            <a:ext cx="55245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hợp: lập pháp – hành pháp – tư pháp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Một là: xây dựng Nhà nước pháp quyền DƯỚI SỰ LÃNH ĐẠO CỦA ĐẢNG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838700"/>
            <a:ext cx="3848100" cy="2200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Quốc hội là cơ quan quyền lực nhà nước cao nhất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39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Quốc hội: cơ quan quyền lực cao nhất; lập hiến, lập pháp; một số nhiệm vụ hành pháp, tư pháp; giám sát tối cao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11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Hành chính: dân chủ, trong sạch, vững mạnh, từng bước hiện đại hóa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Giảm mạnh, bãi bỏ thủ tục gây phiền hà; nâng cao năng lực thực hiện cơ chế,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39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Xã hội hóa dịch vụ công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CẢI CÁCH THỂ CHẾ và phương thức hoạt động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Ba là, Bốn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087350" y="352425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087350" y="6653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277850" y="6653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411200" y="6653212"/>
            <a:ext cx="0" cy="490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11200" y="71437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11200" y="72771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687675" y="60769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lĩnh chính trị, phẩm chất đạo đức, năng lực lãnh đạo, điều hành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39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Đãi ngộ, động viên, khuyến khích người hoàn thành tốt nhiệm vụ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11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Loại bỏ, miễn nhiệm người không hoàn thành nhiệm vụ, vi phạm kỷ luật, đạo đức công vụ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đội ngũ cán bộ, công chức TRONG SẠCH, CÓ NĂNG LỰC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Hoàn thiện thể chế + cải cách hành chính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39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Khuyến khích và bảo vệ người đấu tranh chống tham nhũng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011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Chế tài xử lý cá nhân, tổ chức vi phạm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6943725"/>
            <a:ext cx="3848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Toàn Đảng, toàn dân thực hành tiết kiệm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4972050"/>
            <a:ext cx="38671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ngăn ngừa và trừng trị tham nhũng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phòng, chống tham nhũng, lãng phí — nhiệm vụ CẤP BÁCH, LÂU DÀI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3 — Mỗi giải pháp nối về đâu?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72275" y="28194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72275" y="36957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72275" y="47720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72275" y="60293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72275" y="70961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72275" y="798195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582650" y="3829050"/>
            <a:ext cx="0" cy="15716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582650" y="3695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582650" y="36957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82650" y="5400675"/>
            <a:ext cx="0" cy="1171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582650" y="65722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582650" y="67056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24765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kinh tế kém phát triển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3275" y="24765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33528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chưa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3275" y="33528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dân trí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2386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bàn, làm, kiểm 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3275" y="42386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4959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pháp quyền: bản chất giai cấp công nhân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53275" y="54959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Dưới sự lãnh đạo của Đảng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6753225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Quốc hội cao nhất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3275" y="6753225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Quốc hội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63905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trừng trị tham nhũng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53275" y="763905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Phòng, chống tham nhũng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— 5 giải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b) Hoàn thiện Nhà nước pháp quyền XHCN — 4 giải pháp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chủ XHCN và Nhà nước pháp quyền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0" y="77152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0" y="77771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0" y="7839075"/>
            <a:ext cx="50101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54150" y="78390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235112" y="78390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82225" y="8710612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6750" y="1447800"/>
            <a:ext cx="580072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1 · Dân chủ XHCN ở Việt Nam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dữ kiện mở đầu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Trước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Đại hội VI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Ba mươi lăm năm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Bảy chữ “dân”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nội dung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hình thức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Thực tiễn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Trở ngại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2325" y="1447800"/>
            <a:ext cx="463867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2 · Nhà nước pháp quyền XHCN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Cương lĩnh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Qua các kỳ Đại hội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1–3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4–6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Đối chiếu quan niệm chung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515850" y="1447800"/>
            <a:ext cx="5105400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3 · Phát huy &amp; xây dựng hiện nay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là: kinh tế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là, Ba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là, Năm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Ghép vai trò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Một là, Hai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Ba là, Bốn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Quyền lực thuộc về nhân dân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Bảy chữ “dân” → Hai hình thức · Đặc điểm 1–3 · Kết luận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4337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chủ gắn với pháp luật, kỷ cương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Ba mươi lăm năm đổi mới → Bốn nội dung · Thực tiễn · Đặc điểm 1–3 · Đối chiếu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Phân công – phối hợp – kiểm soát quyền lực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Hai hình thức → Cương lĩnh · Các kỳ Đại hội · Đặc điểm 1–6 · Hoàn thiện Nhà nước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871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biết, dân bàn, dân làm, dân kiểm tra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Thực tiễn → Đặc điểm 4–6 · Giám sát, phản biện · Kết luận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372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Kinh tế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Trở ngại → Một là: thể chế kinh tế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trí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Trước Đổi mới → Nâng cao dân trí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337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Tham nhũng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Cương lĩnh → Phòng, chống tham nhũng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Lấy dân làm gốc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Đại hội VI → Khái quát phần 1 · Kết luận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871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Bản chất giai cấp công nhân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Khái quát phần 2 → Dưới sự lãnh đạo của Đảng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56372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Quốc hội – cơ quan quyền lực cao nhất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Dân chủ gián tiếp → Cải cách Quốc hội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Bản chất: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tất cả quyền lực thuộc về nhân dân — dân là gốc, là chủ, dân làm chủ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101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Nhà nước pháp quyền XHCN: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sáu đặc điểm; vừa chung, vừa khác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535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Định hướng: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5 giải pháp phát huy dân chủ + 4 giải pháp hoàn thiện Nhà nước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6969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Trách nhiệm công dân: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hiểu biết, tuân thủ pháp luật · tham gia quản lý xã hội tùy trách nhiệm, nghĩa vụ · dân biết, bàn, làm, kiểm tra · nâng cao văn hóa pháp luật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8439150"/>
            <a:ext cx="9477375" cy="533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0" i="0">
                <a:solidFill>
                  <a:srgbClr val="1F3A5F"/>
                </a:solidFill>
                <a:latin typeface="Arial"/>
              </a:rPr>
              <a:t>Câu hỏi mở đầu: cụm từ “dân chủ XHCN” được xác định thế nào, từ khi nào?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1481" b="1" i="0">
                <a:solidFill>
                  <a:srgbClr val="FFFFFF"/>
                </a:solidFill>
                <a:latin typeface="Arial"/>
              </a:rPr>
              <a:t>LẤY DÂN LÀM GỐC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15" b="1" i="0">
                <a:solidFill>
                  <a:srgbClr val="8C2F2B"/>
                </a:solidFill>
                <a:latin typeface="Georgia"/>
              </a:rPr>
              <a:t>Cảm ơn thầy/cô và các bạn — Mời đặt 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34175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Tài liệu tham khảo: Bộ GD&amp;ĐT (2021), Chủ nghĩa xã hội khoa học, Nxb. Chính trị quốc gia Sự thật, tr.149–164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